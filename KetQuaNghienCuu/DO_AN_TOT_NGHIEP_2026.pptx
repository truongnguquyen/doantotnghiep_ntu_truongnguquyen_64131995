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56" r:id="rId2"/>
    <p:sldId id="257" r:id="rId3"/>
    <p:sldId id="258" r:id="rId4"/>
    <p:sldId id="259" r:id="rId5"/>
    <p:sldId id="260" r:id="rId6"/>
    <p:sldId id="263" r:id="rId7"/>
    <p:sldId id="264" r:id="rId8"/>
    <p:sldId id="265" r:id="rId9"/>
    <p:sldId id="266" r:id="rId10"/>
    <p:sldId id="267" r:id="rId11"/>
    <p:sldId id="269" r:id="rId12"/>
    <p:sldId id="268"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8" r:id="rId31"/>
    <p:sldId id="287"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DB1281-DFE2-EDD7-C8E6-8996DC2DE6EE}" name="Trương Ngự Quyền" initials="TN" userId="efa08bce730a95a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E3A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41" autoAdjust="0"/>
  </p:normalViewPr>
  <p:slideViewPr>
    <p:cSldViewPr snapToGrid="0" showGuides="1">
      <p:cViewPr varScale="1">
        <p:scale>
          <a:sx n="78" d="100"/>
          <a:sy n="78" d="100"/>
        </p:scale>
        <p:origin x="835" y="62"/>
      </p:cViewPr>
      <p:guideLst>
        <p:guide orient="horz" pos="2128"/>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5"/>
            <c:spPr>
              <a:solidFill>
                <a:schemeClr val="accent1"/>
              </a:solidFill>
              <a:ln w="9525">
                <a:solidFill>
                  <a:schemeClr val="accent1"/>
                </a:solidFill>
              </a:ln>
              <a:effectLst/>
            </c:spPr>
          </c:marker>
          <c:dLbls>
            <c:delete val="1"/>
          </c:dLbls>
          <c:xVal>
            <c:numRef>
              <c:f>Sheet1!$A$2:$A$11</c:f>
              <c:numCache>
                <c:formatCode>General</c:formatCode>
                <c:ptCount val="10"/>
                <c:pt idx="0">
                  <c:v>1</c:v>
                </c:pt>
                <c:pt idx="1">
                  <c:v>1.1000000000000001</c:v>
                </c:pt>
                <c:pt idx="2">
                  <c:v>1.2</c:v>
                </c:pt>
                <c:pt idx="3">
                  <c:v>1.3</c:v>
                </c:pt>
                <c:pt idx="4">
                  <c:v>2</c:v>
                </c:pt>
                <c:pt idx="5">
                  <c:v>4</c:v>
                </c:pt>
                <c:pt idx="6">
                  <c:v>4.0999999999999996</c:v>
                </c:pt>
                <c:pt idx="7">
                  <c:v>4.2</c:v>
                </c:pt>
                <c:pt idx="8">
                  <c:v>4.3</c:v>
                </c:pt>
                <c:pt idx="9">
                  <c:v>6.5</c:v>
                </c:pt>
              </c:numCache>
            </c:numRef>
          </c:xVal>
          <c:yVal>
            <c:numRef>
              <c:f>Sheet1!$B$2:$B$11</c:f>
              <c:numCache>
                <c:formatCode>General</c:formatCode>
                <c:ptCount val="10"/>
                <c:pt idx="0">
                  <c:v>1</c:v>
                </c:pt>
                <c:pt idx="1">
                  <c:v>1.2</c:v>
                </c:pt>
                <c:pt idx="2">
                  <c:v>1.1000000000000001</c:v>
                </c:pt>
                <c:pt idx="3">
                  <c:v>1.3</c:v>
                </c:pt>
                <c:pt idx="4">
                  <c:v>1.8</c:v>
                </c:pt>
                <c:pt idx="5">
                  <c:v>4</c:v>
                </c:pt>
                <c:pt idx="6">
                  <c:v>4.2</c:v>
                </c:pt>
                <c:pt idx="7">
                  <c:v>4.0999999999999996</c:v>
                </c:pt>
                <c:pt idx="8">
                  <c:v>4.3</c:v>
                </c:pt>
                <c:pt idx="9">
                  <c:v>1.5</c:v>
                </c:pt>
              </c:numCache>
            </c:numRef>
          </c:yVal>
          <c:smooth val="0"/>
          <c:extLst>
            <c:ext xmlns:c16="http://schemas.microsoft.com/office/drawing/2014/chart" uri="{C3380CC4-5D6E-409C-BE32-E72D297353CC}">
              <c16:uniqueId val="{00000000-7127-447E-87B9-D321F6596D04}"/>
            </c:ext>
          </c:extLst>
        </c:ser>
        <c:dLbls>
          <c:dLblPos val="t"/>
          <c:showLegendKey val="0"/>
          <c:showVal val="1"/>
          <c:showCatName val="0"/>
          <c:showSerName val="0"/>
          <c:showPercent val="0"/>
          <c:showBubbleSize val="0"/>
        </c:dLbls>
        <c:axId val="74037839"/>
        <c:axId val="74038319"/>
      </c:scatterChart>
      <c:valAx>
        <c:axId val="7403783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4038319"/>
        <c:crosses val="autoZero"/>
        <c:crossBetween val="midCat"/>
      </c:valAx>
      <c:valAx>
        <c:axId val="740383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403783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69FA9C-248F-4873-BD0F-D76BD2311128}"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FD08E1-0853-4BE6-A769-801866567D3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FD08E1-0853-4BE6-A769-801866567D32}" type="slidenum">
              <a:rPr lang="en-US" smtClean="0"/>
              <a:t>19</a:t>
            </a:fld>
            <a:endParaRPr lang="en-US"/>
          </a:p>
        </p:txBody>
      </p:sp>
    </p:spTree>
    <p:extLst>
      <p:ext uri="{BB962C8B-B14F-4D97-AF65-F5344CB8AC3E}">
        <p14:creationId xmlns:p14="http://schemas.microsoft.com/office/powerpoint/2010/main" val="2071544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9A52FEA-E39A-4835-ACBF-8685B1E58FFB}"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6E23AA-83EC-4A35-97C9-49E9D15E2D77}"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5BFA21-7F33-487B-A495-1EA1762594B8}"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7C6F2A-0C70-44E1-B174-79A20483B6B8}"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2D7AE7-8F17-4998-971F-D2E12EE912B6}" type="datetime1">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454229-A4A7-421A-A473-EAD9D2FC967A}" type="datetime1">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675D1C-8306-44C3-BA91-95E4040583C6}" type="datetime1">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CCFCC6-60AE-4DB6-AF14-C8BE74921B6B}"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85AC08-4712-4DCB-9590-225541C2711C}"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9A859F-1D43-4AF5-8113-51C233DD03D1}"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9C4C20-37B0-4D67-B5B4-E8AB9F80881E}"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E7F71B-D576-4929-9283-357C808060C3}" type="datetime1">
              <a:rPr lang="en-US" smtClean="0"/>
              <a:t>6/18/2026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4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4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4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4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4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4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74502" y="1008000"/>
            <a:ext cx="344299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3" name="TextBox 2"/>
          <p:cNvSpPr txBox="1"/>
          <p:nvPr/>
        </p:nvSpPr>
        <p:spPr>
          <a:xfrm>
            <a:off x="1080000" y="1728000"/>
            <a:ext cx="1780162" cy="369332"/>
          </a:xfrm>
          <a:prstGeom prst="rect">
            <a:avLst/>
          </a:prstGeom>
          <a:noFill/>
        </p:spPr>
        <p:txBody>
          <a:bodyPr wrap="square" rtlCol="0">
            <a:spAutoFit/>
          </a:bodyPr>
          <a:lstStyle/>
          <a:p>
            <a:r>
              <a:rPr lang="vi-VN" dirty="0">
                <a:latin typeface="+mj-lt"/>
              </a:rPr>
              <a:t>GIỚI THIỆU</a:t>
            </a:r>
            <a:endParaRPr lang="en-US" dirty="0">
              <a:latin typeface="+mj-lt"/>
            </a:endParaRPr>
          </a:p>
        </p:txBody>
      </p:sp>
      <mc:AlternateContent xmlns:mc="http://schemas.openxmlformats.org/markup-compatibility/2006" xmlns:a14="http://schemas.microsoft.com/office/drawing/2010/main">
        <mc:Choice Requires="a14">
          <p:sp>
            <p:nvSpPr>
              <p:cNvPr id="4" name="TextBox 3"/>
              <p:cNvSpPr txBox="1"/>
              <p:nvPr/>
            </p:nvSpPr>
            <p:spPr>
              <a:xfrm>
                <a:off x="1079999" y="2354094"/>
                <a:ext cx="9036767" cy="254088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Tên đầy đủ: Clustering using Search and Find of Density Peaks with Parameter Optimization (Phân cụm bằng cách tìm kiếm các đỉnh mật độ dựa trên tối ưu tham số).</a:t>
                </a:r>
              </a:p>
              <a:p>
                <a:pPr marL="285750" indent="-285750" algn="just">
                  <a:lnSpc>
                    <a:spcPct val="150000"/>
                  </a:lnSpc>
                  <a:buFont typeface="Wingdings" panose="05000000000000000000" pitchFamily="2" charset="2"/>
                  <a:buChar char="v"/>
                </a:pPr>
                <a:r>
                  <a:rPr lang="vi-VN" dirty="0">
                    <a:latin typeface="+mj-lt"/>
                  </a:rPr>
                  <a:t>Đây là một thuật toán cải tiến trực tiếp từ thuật toán CFSFDP (hay còn gọi là DPC – Density Peaks Clustering).</a:t>
                </a:r>
              </a:p>
              <a:p>
                <a:pPr marL="285750" indent="-285750" algn="just">
                  <a:lnSpc>
                    <a:spcPct val="150000"/>
                  </a:lnSpc>
                  <a:buFont typeface="Wingdings" panose="05000000000000000000" pitchFamily="2" charset="2"/>
                  <a:buChar char="v"/>
                </a:pPr>
                <a:r>
                  <a:rPr lang="vi-VN" dirty="0">
                    <a:latin typeface="+mj-lt"/>
                  </a:rPr>
                  <a:t>Mục tiêu chính: Tự động hóa quá trình xác định tham số khoảng cách cắt </a:t>
                </a:r>
                <a:r>
                  <a:rPr lang="vi-VN" dirty="0"/>
                  <a:t>(</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i="1">
                            <a:latin typeface="Cambria Math" panose="02040503050406030204" pitchFamily="18" charset="0"/>
                          </a:rPr>
                          <m:t>𝑐</m:t>
                        </m:r>
                      </m:sub>
                    </m:sSub>
                    <m:r>
                      <a:rPr lang="vi-VN" b="0" i="0" smtClean="0">
                        <a:latin typeface="Cambria Math" panose="02040503050406030204" pitchFamily="18" charset="0"/>
                      </a:rPr>
                      <m:t>)</m:t>
                    </m:r>
                  </m:oMath>
                </a14:m>
                <a:r>
                  <a:rPr lang="vi-VN" dirty="0">
                    <a:latin typeface="+mj-lt"/>
                  </a:rPr>
                  <a:t>, giúp thuật toán trở nên khách quan và hiệu quả hơn trên các tập dữ liệu khác nhau.</a:t>
                </a:r>
                <a:endParaRPr lang="en-US" dirty="0">
                  <a:latin typeface="+mj-lt"/>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079999" y="2354094"/>
                <a:ext cx="9036767" cy="2540888"/>
              </a:xfrm>
              <a:prstGeom prst="rect">
                <a:avLst/>
              </a:prstGeom>
              <a:blipFill rotWithShape="1">
                <a:blip r:embed="rId2"/>
                <a:stretch>
                  <a:fillRect l="-6" t="-6" r="6" b="-984"/>
                </a:stretch>
              </a:blipFill>
            </p:spPr>
            <p:txBody>
              <a:bodyPr/>
              <a:lstStyle/>
              <a:p>
                <a:r>
                  <a:rPr lang="en-US" altLang="en-US">
                    <a:noFill/>
                  </a:rPr>
                  <a:t> </a:t>
                </a:r>
              </a:p>
            </p:txBody>
          </p:sp>
        </mc:Fallback>
      </mc:AlternateContent>
      <p:sp>
        <p:nvSpPr>
          <p:cNvPr id="6" name="Slide Number Placeholder 5"/>
          <p:cNvSpPr>
            <a:spLocks noGrp="1"/>
          </p:cNvSpPr>
          <p:nvPr>
            <p:ph type="sldNum" sz="quarter" idx="12"/>
          </p:nvPr>
        </p:nvSpPr>
        <p:spPr/>
        <p:txBody>
          <a:bodyPr/>
          <a:lstStyle/>
          <a:p>
            <a:fld id="{9B618960-8005-486C-9A75-10CB2AAC16F9}"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5"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p:sp>
        <p:nvSpPr>
          <p:cNvPr id="6" name="TextBox 5"/>
          <p:cNvSpPr txBox="1"/>
          <p:nvPr/>
        </p:nvSpPr>
        <p:spPr>
          <a:xfrm>
            <a:off x="1079999" y="2354094"/>
            <a:ext cx="9036767" cy="212006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Được công bố trên tạp chí Science năm 2014 </a:t>
            </a:r>
          </a:p>
          <a:p>
            <a:pPr marL="285750" indent="-285750" algn="just">
              <a:lnSpc>
                <a:spcPct val="150000"/>
              </a:lnSpc>
              <a:buFont typeface="Wingdings" panose="05000000000000000000" pitchFamily="2" charset="2"/>
              <a:buChar char="v"/>
            </a:pPr>
            <a:r>
              <a:rPr lang="vi-VN" dirty="0">
                <a:latin typeface="+mj-lt"/>
              </a:rPr>
              <a:t>Thuật toán này dựa trên hai quan sát cực kỳ đơn giản nhưng mạnh mẽ về các tâm cụm (clustering centers):</a:t>
            </a:r>
          </a:p>
          <a:p>
            <a:pPr marL="742950" lvl="1" indent="-285750" algn="just">
              <a:lnSpc>
                <a:spcPct val="150000"/>
              </a:lnSpc>
              <a:buFont typeface="Times New Roman" panose="02020603050405020304" pitchFamily="18" charset="0"/>
              <a:buChar char="⁃"/>
            </a:pPr>
            <a:r>
              <a:rPr lang="vi-VN" dirty="0">
                <a:latin typeface="+mj-lt"/>
              </a:rPr>
              <a:t>Mật độ: Tâm cụm có mật độ cục bộ cao hơn các điểm xung quanh.</a:t>
            </a:r>
          </a:p>
          <a:p>
            <a:pPr marL="742950" lvl="1" indent="-285750" algn="just">
              <a:lnSpc>
                <a:spcPct val="150000"/>
              </a:lnSpc>
              <a:buFont typeface="Times New Roman" panose="02020603050405020304" pitchFamily="18" charset="0"/>
              <a:buChar char="⁃"/>
            </a:pPr>
            <a:r>
              <a:rPr lang="vi-VN" dirty="0">
                <a:latin typeface="+mj-lt"/>
              </a:rPr>
              <a:t>Khoảng cách: Tâm cụm nằm cách xa các điểm khác có mật độ cao hơn nó.</a:t>
            </a:r>
          </a:p>
        </p:txBody>
      </p:sp>
      <p:sp>
        <p:nvSpPr>
          <p:cNvPr id="3" name="Slide Number Placeholder 2"/>
          <p:cNvSpPr>
            <a:spLocks noGrp="1"/>
          </p:cNvSpPr>
          <p:nvPr>
            <p:ph type="sldNum" sz="quarter" idx="12"/>
          </p:nvPr>
        </p:nvSpPr>
        <p:spPr/>
        <p:txBody>
          <a:bodyPr/>
          <a:lstStyle/>
          <a:p>
            <a:fld id="{9B618960-8005-486C-9A75-10CB2AAC16F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5"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6" name="TextBox 5"/>
              <p:cNvSpPr txBox="1"/>
              <p:nvPr/>
            </p:nvSpPr>
            <p:spPr>
              <a:xfrm>
                <a:off x="1080000" y="2354094"/>
                <a:ext cx="5573720" cy="298453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Các bước thực hiện thuật toán CFSFDP</a:t>
                </a:r>
              </a:p>
              <a:p>
                <a:pPr algn="just">
                  <a:lnSpc>
                    <a:spcPct val="150000"/>
                  </a:lnSpc>
                </a:pPr>
                <a:r>
                  <a:rPr lang="vi-VN" dirty="0">
                    <a:latin typeface="+mj-lt"/>
                  </a:rPr>
                  <a:t>Bước 1: Tính toán ma trận khoảng cách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i="1">
                            <a:latin typeface="Cambria Math" panose="02040503050406030204" pitchFamily="18" charset="0"/>
                          </a:rPr>
                          <m:t>𝑖𝑗</m:t>
                        </m:r>
                      </m:sub>
                    </m:sSub>
                  </m:oMath>
                </a14:m>
                <a:r>
                  <a:rPr lang="vi-VN" dirty="0">
                    <a:latin typeface="+mj-lt"/>
                  </a:rPr>
                  <a:t>)</a:t>
                </a:r>
              </a:p>
              <a:p>
                <a:pPr marL="285750" indent="-285750" algn="just">
                  <a:lnSpc>
                    <a:spcPct val="150000"/>
                  </a:lnSpc>
                  <a:buFontTx/>
                  <a:buChar char="⁃"/>
                </a:pPr>
                <a:r>
                  <a:rPr lang="vi-VN" dirty="0">
                    <a:latin typeface="+mj-lt"/>
                  </a:rPr>
                  <a:t>Xây dựng ma trận chứa khoảng cách giữa mọi cặp điểm dữ liệu </a:t>
                </a:r>
                <a14:m>
                  <m:oMath xmlns:m="http://schemas.openxmlformats.org/officeDocument/2006/math">
                    <m:d>
                      <m:dPr>
                        <m:ctrlPr>
                          <a:rPr lang="vi-VN" i="1" smtClean="0">
                            <a:latin typeface="Cambria Math" panose="02040503050406030204" pitchFamily="18" charset="0"/>
                          </a:rPr>
                        </m:ctrlPr>
                      </m:dPr>
                      <m:e>
                        <m:r>
                          <a:rPr lang="vi-VN" i="1">
                            <a:latin typeface="Cambria Math" panose="02040503050406030204" pitchFamily="18" charset="0"/>
                          </a:rPr>
                          <m:t>𝑖</m:t>
                        </m:r>
                        <m:r>
                          <a:rPr lang="vi-VN" b="0" i="1" smtClean="0">
                            <a:latin typeface="Cambria Math" panose="02040503050406030204" pitchFamily="18" charset="0"/>
                          </a:rPr>
                          <m:t>, </m:t>
                        </m:r>
                        <m:r>
                          <a:rPr lang="vi-VN" i="1">
                            <a:latin typeface="Cambria Math" panose="02040503050406030204" pitchFamily="18" charset="0"/>
                          </a:rPr>
                          <m:t>𝑗</m:t>
                        </m:r>
                      </m:e>
                    </m:d>
                  </m:oMath>
                </a14:m>
                <a:r>
                  <a:rPr lang="vi-VN" i="1" dirty="0">
                    <a:latin typeface="+mj-lt"/>
                  </a:rPr>
                  <a:t> </a:t>
                </a:r>
                <a:r>
                  <a:rPr lang="vi-VN" dirty="0">
                    <a:latin typeface="+mj-lt"/>
                  </a:rPr>
                  <a:t>trong tập dữ liệu. Thường sử dụng khoảng cách Euclidean.</a:t>
                </a:r>
              </a:p>
              <a:p>
                <a:pPr marL="285750" indent="-285750" algn="just">
                  <a:lnSpc>
                    <a:spcPct val="150000"/>
                  </a:lnSpc>
                  <a:buFontTx/>
                  <a:buChar char="⁃"/>
                </a:pPr>
                <a:r>
                  <a:rPr lang="vi-VN" dirty="0">
                    <a:latin typeface="+mj-lt"/>
                  </a:rPr>
                  <a:t>Đây là cơ sở dữ liệu để tính toán mật độ và khoảng cách tương đối ở các bước sau.</a:t>
                </a:r>
              </a:p>
            </p:txBody>
          </p:sp>
        </mc:Choice>
        <mc:Fallback xmlns="">
          <p:sp>
            <p:nvSpPr>
              <p:cNvPr id="6" name="TextBox 5"/>
              <p:cNvSpPr txBox="1">
                <a:spLocks noRot="1" noChangeAspect="1" noMove="1" noResize="1" noEditPoints="1" noAdjustHandles="1" noChangeArrowheads="1" noChangeShapeType="1" noTextEdit="1"/>
              </p:cNvSpPr>
              <p:nvPr/>
            </p:nvSpPr>
            <p:spPr>
              <a:xfrm>
                <a:off x="1080000" y="2354094"/>
                <a:ext cx="5573720" cy="2984535"/>
              </a:xfrm>
              <a:prstGeom prst="rect">
                <a:avLst/>
              </a:prstGeom>
              <a:blipFill rotWithShape="1">
                <a:blip r:embed="rId2"/>
                <a:stretch>
                  <a:fillRect l="-9" t="-5" r="3" b="-58"/>
                </a:stretch>
              </a:blipFill>
            </p:spPr>
            <p:txBody>
              <a:bodyPr/>
              <a:lstStyle/>
              <a:p>
                <a:r>
                  <a:rPr lang="en-US" altLang="en-US">
                    <a:noFill/>
                  </a:rPr>
                  <a:t> </a:t>
                </a:r>
              </a:p>
            </p:txBody>
          </p:sp>
        </mc:Fallback>
      </mc:AlternateContent>
      <p:grpSp>
        <p:nvGrpSpPr>
          <p:cNvPr id="18" name="Group 17"/>
          <p:cNvGrpSpPr/>
          <p:nvPr/>
        </p:nvGrpSpPr>
        <p:grpSpPr>
          <a:xfrm>
            <a:off x="8505068" y="2068220"/>
            <a:ext cx="2123723" cy="1308369"/>
            <a:chOff x="8505068" y="2529192"/>
            <a:chExt cx="2123723" cy="1308369"/>
          </a:xfrm>
        </p:grpSpPr>
        <p:sp>
          <p:nvSpPr>
            <p:cNvPr id="7" name="Flowchart: Connector 6"/>
            <p:cNvSpPr/>
            <p:nvPr/>
          </p:nvSpPr>
          <p:spPr>
            <a:xfrm>
              <a:off x="8505068" y="3429000"/>
              <a:ext cx="272375" cy="272374"/>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8" name="Flowchart: Connector 7"/>
            <p:cNvSpPr/>
            <p:nvPr/>
          </p:nvSpPr>
          <p:spPr>
            <a:xfrm>
              <a:off x="10288621" y="2529192"/>
              <a:ext cx="272375" cy="272374"/>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cxnSp>
          <p:nvCxnSpPr>
            <p:cNvPr id="10" name="Straight Connector 9"/>
            <p:cNvCxnSpPr/>
            <p:nvPr/>
          </p:nvCxnSpPr>
          <p:spPr>
            <a:xfrm flipV="1">
              <a:off x="8641255" y="2665379"/>
              <a:ext cx="1783553" cy="899808"/>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8845238" y="2937753"/>
              <a:ext cx="1783553" cy="899808"/>
            </a:xfrm>
            <a:prstGeom prst="line">
              <a:avLst/>
            </a:prstGeom>
            <a:ln w="127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 name="Text Box 1"/>
              <p:cNvSpPr txBox="1"/>
              <p:nvPr/>
            </p:nvSpPr>
            <p:spPr>
              <a:xfrm>
                <a:off x="7917180" y="4268470"/>
                <a:ext cx="3231515" cy="90487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vi-VN" altLang="en-US" i="1">
                          <a:latin typeface="Cambria Math" panose="02040503050406030204" pitchFamily="18" charset="0"/>
                          <a:cs typeface="Cambria Math" panose="02040503050406030204" pitchFamily="18" charset="0"/>
                        </a:rPr>
                        <m:t>𝑑</m:t>
                      </m:r>
                      <m:r>
                        <a:rPr lang="en-US" altLang="vi-VN" i="1">
                          <a:latin typeface="Cambria Math" panose="02040503050406030204" pitchFamily="18" charset="0"/>
                          <a:cs typeface="Cambria Math" panose="02040503050406030204" pitchFamily="18" charset="0"/>
                        </a:rPr>
                        <m:t>(</m:t>
                      </m:r>
                      <m:r>
                        <a:rPr lang="vi-VN" altLang="en-US" i="1">
                          <a:latin typeface="Cambria Math" panose="02040503050406030204" pitchFamily="18" charset="0"/>
                          <a:ea typeface="MS Mincho" charset="0"/>
                          <a:cs typeface="Cambria Math" panose="02040503050406030204" pitchFamily="18" charset="0"/>
                        </a:rPr>
                        <m:t>𝑃</m:t>
                      </m:r>
                      <m:r>
                        <a:rPr lang="en-US" altLang="vi-VN" i="1">
                          <a:latin typeface="Cambria Math" panose="02040503050406030204" pitchFamily="18" charset="0"/>
                          <a:ea typeface="MS Mincho" charset="0"/>
                          <a:cs typeface="Cambria Math" panose="02040503050406030204" pitchFamily="18" charset="0"/>
                        </a:rPr>
                        <m:t>,</m:t>
                      </m:r>
                      <m:r>
                        <a:rPr lang="vi-VN" altLang="en-US" i="1">
                          <a:latin typeface="Cambria Math" panose="02040503050406030204" pitchFamily="18" charset="0"/>
                          <a:ea typeface="MS Mincho" charset="0"/>
                          <a:cs typeface="Cambria Math" panose="02040503050406030204" pitchFamily="18" charset="0"/>
                        </a:rPr>
                        <m:t>𝑄</m:t>
                      </m:r>
                      <m:r>
                        <a:rPr lang="en-US" altLang="vi-VN" i="1">
                          <a:latin typeface="Cambria Math" panose="02040503050406030204" pitchFamily="18" charset="0"/>
                          <a:ea typeface="MS Mincho" charset="0"/>
                          <a:cs typeface="Cambria Math" panose="02040503050406030204" pitchFamily="18" charset="0"/>
                        </a:rPr>
                        <m:t>)=</m:t>
                      </m:r>
                      <m:rad>
                        <m:radPr>
                          <m:degHide m:val="on"/>
                          <m:ctrlPr>
                            <a:rPr lang="en-US" altLang="vi-VN" i="1">
                              <a:latin typeface="Cambria Math" panose="02040503050406030204" pitchFamily="18" charset="0"/>
                              <a:ea typeface="MS Mincho" charset="0"/>
                              <a:cs typeface="Cambria Math" panose="02040503050406030204" pitchFamily="18" charset="0"/>
                            </a:rPr>
                          </m:ctrlPr>
                        </m:radPr>
                        <m:deg/>
                        <m:e>
                          <m:nary>
                            <m:naryPr>
                              <m:chr m:val="∑"/>
                              <m:limLoc m:val="undOvr"/>
                              <m:ctrlPr>
                                <a:rPr lang="en-US" altLang="vi-VN" i="1">
                                  <a:latin typeface="Cambria Math" panose="02040503050406030204" pitchFamily="18" charset="0"/>
                                  <a:ea typeface="MS Mincho" charset="0"/>
                                  <a:cs typeface="Cambria Math" panose="02040503050406030204" pitchFamily="18" charset="0"/>
                                </a:rPr>
                              </m:ctrlPr>
                            </m:naryPr>
                            <m:sub>
                              <m:r>
                                <a:rPr lang="vi-VN" altLang="en-US" i="1">
                                  <a:latin typeface="Cambria Math" panose="02040503050406030204" pitchFamily="18" charset="0"/>
                                  <a:ea typeface="MS Mincho" charset="0"/>
                                  <a:cs typeface="Cambria Math" panose="02040503050406030204" pitchFamily="18" charset="0"/>
                                </a:rPr>
                                <m:t>𝑖</m:t>
                              </m:r>
                              <m:r>
                                <a:rPr lang="en-US" altLang="vi-VN" i="1">
                                  <a:latin typeface="Cambria Math" panose="02040503050406030204" pitchFamily="18" charset="0"/>
                                  <a:ea typeface="MS Mincho" charset="0"/>
                                  <a:cs typeface="Cambria Math" panose="02040503050406030204" pitchFamily="18" charset="0"/>
                                </a:rPr>
                                <m:t>=</m:t>
                              </m:r>
                              <m:r>
                                <a:rPr lang="vi-VN" altLang="en-US" i="1">
                                  <a:latin typeface="Cambria Math" panose="02040503050406030204" pitchFamily="18" charset="0"/>
                                  <a:ea typeface="MS Mincho" charset="0"/>
                                  <a:cs typeface="Cambria Math" panose="02040503050406030204" pitchFamily="18" charset="0"/>
                                </a:rPr>
                                <m:t>1</m:t>
                              </m:r>
                            </m:sub>
                            <m:sup>
                              <m:r>
                                <a:rPr lang="vi-VN" altLang="en-US" i="1">
                                  <a:latin typeface="Cambria Math" panose="02040503050406030204" pitchFamily="18" charset="0"/>
                                  <a:ea typeface="MS Mincho" charset="0"/>
                                  <a:cs typeface="Cambria Math" panose="02040503050406030204" pitchFamily="18" charset="0"/>
                                </a:rPr>
                                <m:t>𝑛</m:t>
                              </m:r>
                            </m:sup>
                            <m:e>
                              <m:sSup>
                                <m:sSupPr>
                                  <m:ctrlPr>
                                    <a:rPr lang="en-US" altLang="vi-VN" i="1">
                                      <a:latin typeface="Cambria Math" panose="02040503050406030204" pitchFamily="18" charset="0"/>
                                      <a:ea typeface="MS Mincho" charset="0"/>
                                      <a:cs typeface="Cambria Math" panose="02040503050406030204" pitchFamily="18" charset="0"/>
                                    </a:rPr>
                                  </m:ctrlPr>
                                </m:sSupPr>
                                <m:e>
                                  <m:r>
                                    <a:rPr lang="en-US" altLang="vi-VN" i="1">
                                      <a:latin typeface="Cambria Math" panose="02040503050406030204" pitchFamily="18" charset="0"/>
                                      <a:ea typeface="MS Mincho" charset="0"/>
                                      <a:cs typeface="Cambria Math" panose="02040503050406030204" pitchFamily="18" charset="0"/>
                                    </a:rPr>
                                    <m:t>(</m:t>
                                  </m:r>
                                  <m:sSub>
                                    <m:sSubPr>
                                      <m:ctrlPr>
                                        <a:rPr lang="en-US" altLang="vi-VN" i="1">
                                          <a:latin typeface="Cambria Math" panose="02040503050406030204" pitchFamily="18" charset="0"/>
                                          <a:ea typeface="MS Mincho" charset="0"/>
                                          <a:cs typeface="Cambria Math" panose="02040503050406030204" pitchFamily="18" charset="0"/>
                                        </a:rPr>
                                      </m:ctrlPr>
                                    </m:sSubPr>
                                    <m:e>
                                      <m:r>
                                        <a:rPr lang="vi-VN" altLang="en-US" i="1">
                                          <a:latin typeface="Cambria Math" panose="02040503050406030204" pitchFamily="18" charset="0"/>
                                          <a:ea typeface="MS Mincho" charset="0"/>
                                          <a:cs typeface="Cambria Math" panose="02040503050406030204" pitchFamily="18" charset="0"/>
                                        </a:rPr>
                                        <m:t>𝑞</m:t>
                                      </m:r>
                                    </m:e>
                                    <m:sub>
                                      <m:r>
                                        <a:rPr lang="vi-VN" altLang="en-US" i="1">
                                          <a:latin typeface="Cambria Math" panose="02040503050406030204" pitchFamily="18" charset="0"/>
                                          <a:ea typeface="MS Mincho" charset="0"/>
                                          <a:cs typeface="Cambria Math" panose="02040503050406030204" pitchFamily="18" charset="0"/>
                                        </a:rPr>
                                        <m:t>𝑖</m:t>
                                      </m:r>
                                    </m:sub>
                                  </m:sSub>
                                  <m:r>
                                    <a:rPr lang="en-US" altLang="vi-VN" i="1">
                                      <a:latin typeface="Cambria Math" panose="02040503050406030204" pitchFamily="18" charset="0"/>
                                      <a:ea typeface="MS Mincho" charset="0"/>
                                      <a:cs typeface="Cambria Math" panose="02040503050406030204" pitchFamily="18" charset="0"/>
                                    </a:rPr>
                                    <m:t>−</m:t>
                                  </m:r>
                                  <m:sSub>
                                    <m:sSubPr>
                                      <m:ctrlPr>
                                        <a:rPr lang="en-US" altLang="vi-VN" i="1">
                                          <a:latin typeface="Cambria Math" panose="02040503050406030204" pitchFamily="18" charset="0"/>
                                          <a:ea typeface="MS Mincho" charset="0"/>
                                          <a:cs typeface="Cambria Math" panose="02040503050406030204" pitchFamily="18" charset="0"/>
                                        </a:rPr>
                                      </m:ctrlPr>
                                    </m:sSubPr>
                                    <m:e>
                                      <m:r>
                                        <a:rPr lang="vi-VN" altLang="en-US" i="1">
                                          <a:latin typeface="Cambria Math" panose="02040503050406030204" pitchFamily="18" charset="0"/>
                                          <a:ea typeface="MS Mincho" charset="0"/>
                                          <a:cs typeface="Cambria Math" panose="02040503050406030204" pitchFamily="18" charset="0"/>
                                        </a:rPr>
                                        <m:t>𝑝</m:t>
                                      </m:r>
                                    </m:e>
                                    <m:sub>
                                      <m:r>
                                        <a:rPr lang="vi-VN" altLang="en-US" i="1">
                                          <a:latin typeface="Cambria Math" panose="02040503050406030204" pitchFamily="18" charset="0"/>
                                          <a:ea typeface="MS Mincho" charset="0"/>
                                          <a:cs typeface="Cambria Math" panose="02040503050406030204" pitchFamily="18" charset="0"/>
                                        </a:rPr>
                                        <m:t>𝑖</m:t>
                                      </m:r>
                                    </m:sub>
                                  </m:sSub>
                                  <m:r>
                                    <a:rPr lang="en-US" altLang="vi-VN" i="1">
                                      <a:latin typeface="Cambria Math" panose="02040503050406030204" pitchFamily="18" charset="0"/>
                                      <a:ea typeface="MS Mincho" charset="0"/>
                                      <a:cs typeface="Cambria Math" panose="02040503050406030204" pitchFamily="18" charset="0"/>
                                    </a:rPr>
                                    <m:t>)</m:t>
                                  </m:r>
                                </m:e>
                                <m:sup>
                                  <m:r>
                                    <a:rPr lang="vi-VN" altLang="en-US" i="1">
                                      <a:latin typeface="Cambria Math" panose="02040503050406030204" pitchFamily="18" charset="0"/>
                                      <a:ea typeface="MS Mincho" charset="0"/>
                                      <a:cs typeface="Cambria Math" panose="02040503050406030204" pitchFamily="18" charset="0"/>
                                    </a:rPr>
                                    <m:t>2</m:t>
                                  </m:r>
                                </m:sup>
                              </m:sSup>
                            </m:e>
                          </m:nary>
                        </m:e>
                      </m:rad>
                    </m:oMath>
                  </m:oMathPara>
                </a14:m>
                <a:endParaRPr lang="vi-VN" altLang="en-US" i="1" dirty="0">
                  <a:latin typeface="Cambria Math" panose="02040503050406030204" pitchFamily="18" charset="0"/>
                  <a:ea typeface="MS Mincho" charset="0"/>
                  <a:cs typeface="Cambria Math" panose="02040503050406030204" pitchFamily="18" charset="0"/>
                </a:endParaRPr>
              </a:p>
            </p:txBody>
          </p:sp>
        </mc:Choice>
        <mc:Fallback xmlns="">
          <p:sp>
            <p:nvSpPr>
              <p:cNvPr id="2" name="Text Box 1"/>
              <p:cNvSpPr txBox="1">
                <a:spLocks noRot="1" noChangeAspect="1" noMove="1" noResize="1" noEditPoints="1" noAdjustHandles="1" noChangeArrowheads="1" noChangeShapeType="1" noTextEdit="1"/>
              </p:cNvSpPr>
              <p:nvPr/>
            </p:nvSpPr>
            <p:spPr>
              <a:xfrm>
                <a:off x="7917180" y="4268470"/>
                <a:ext cx="3231515" cy="904875"/>
              </a:xfrm>
              <a:prstGeom prst="rect">
                <a:avLst/>
              </a:prstGeom>
              <a:blipFill rotWithShape="1">
                <a:blip r:embed="rId3"/>
                <a:stretch>
                  <a:fillRect/>
                </a:stretch>
              </a:blipFill>
            </p:spPr>
            <p:txBody>
              <a:bodyPr/>
              <a:lstStyle/>
              <a:p>
                <a:r>
                  <a:rPr lang="en-US" altLang="en-US">
                    <a:noFill/>
                  </a:rPr>
                  <a:t> </a:t>
                </a:r>
              </a:p>
            </p:txBody>
          </p:sp>
        </mc:Fallback>
      </mc:AlternateContent>
      <p:sp>
        <p:nvSpPr>
          <p:cNvPr id="9" name="Slide Number Placeholder 8"/>
          <p:cNvSpPr>
            <a:spLocks noGrp="1"/>
          </p:cNvSpPr>
          <p:nvPr>
            <p:ph type="sldNum" sz="quarter" idx="12"/>
          </p:nvPr>
        </p:nvSpPr>
        <p:spPr/>
        <p:txBody>
          <a:bodyPr/>
          <a:lstStyle/>
          <a:p>
            <a:fld id="{9B618960-8005-486C-9A75-10CB2AAC16F9}"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5"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6" name="TextBox 5"/>
              <p:cNvSpPr txBox="1"/>
              <p:nvPr/>
            </p:nvSpPr>
            <p:spPr>
              <a:xfrm>
                <a:off x="1080000" y="2354094"/>
                <a:ext cx="5573720" cy="299974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Các bước thực hiện thuật toán CFSFDP</a:t>
                </a:r>
              </a:p>
              <a:p>
                <a:pPr algn="just">
                  <a:lnSpc>
                    <a:spcPct val="150000"/>
                  </a:lnSpc>
                </a:pPr>
                <a:r>
                  <a:rPr lang="vi-VN" dirty="0">
                    <a:latin typeface="+mj-lt"/>
                  </a:rPr>
                  <a:t>Bước 2: Xác định khoảng cách cắt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dirty="0">
                    <a:latin typeface="+mj-lt"/>
                  </a:rPr>
                  <a:t>)</a:t>
                </a:r>
              </a:p>
              <a:p>
                <a:pPr marL="285750" indent="-285750" algn="just">
                  <a:lnSpc>
                    <a:spcPct val="150000"/>
                  </a:lnSpc>
                  <a:buFontTx/>
                  <a:buChar char="⁃"/>
                </a:pPr>
                <a:r>
                  <a:rPr lang="vi-VN" dirty="0">
                    <a:latin typeface="+mj-lt"/>
                  </a:rPr>
                  <a:t>Đây là bước then chốt và cũng là nhược điểm của CFSFDP.</a:t>
                </a:r>
              </a:p>
              <a:p>
                <a:pPr marL="285750" indent="-285750" algn="just">
                  <a:lnSpc>
                    <a:spcPct val="150000"/>
                  </a:lnSpc>
                  <a:buFontTx/>
                  <a:buChar char="⁃"/>
                </a:pPr>
                <a:r>
                  <a:rPr lang="vi-VN" dirty="0">
                    <a:latin typeface="+mj-lt"/>
                  </a:rPr>
                  <a:t>Người dùng cần chọn một giá trị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dirty="0">
                    <a:latin typeface="+mj-lt"/>
                  </a:rPr>
                  <a:t> sao cho số lượng hàng xóm trung bình của mỗi điểm chiếm khoảng 1% đến 2% tổng số điểm.</a:t>
                </a:r>
              </a:p>
            </p:txBody>
          </p:sp>
        </mc:Choice>
        <mc:Fallback xmlns="">
          <p:sp>
            <p:nvSpPr>
              <p:cNvPr id="6" name="TextBox 5"/>
              <p:cNvSpPr txBox="1">
                <a:spLocks noRot="1" noChangeAspect="1" noMove="1" noResize="1" noEditPoints="1" noAdjustHandles="1" noChangeArrowheads="1" noChangeShapeType="1" noTextEdit="1"/>
              </p:cNvSpPr>
              <p:nvPr/>
            </p:nvSpPr>
            <p:spPr>
              <a:xfrm>
                <a:off x="1080000" y="2354094"/>
                <a:ext cx="5573720" cy="2999740"/>
              </a:xfrm>
              <a:prstGeom prst="rect">
                <a:avLst/>
              </a:prstGeom>
              <a:blipFill rotWithShape="1">
                <a:blip r:embed="rId2"/>
                <a:stretch>
                  <a:fillRect l="-9" t="-5" r="3" b="5"/>
                </a:stretch>
              </a:blipFill>
            </p:spPr>
            <p:txBody>
              <a:bodyPr/>
              <a:lstStyle/>
              <a:p>
                <a:r>
                  <a:rPr lang="en-US" altLang="en-US">
                    <a:noFill/>
                  </a:rPr>
                  <a:t> </a:t>
                </a:r>
              </a:p>
            </p:txBody>
          </p:sp>
        </mc:Fallback>
      </mc:AlternateContent>
      <p:sp>
        <p:nvSpPr>
          <p:cNvPr id="20" name="Oval 19"/>
          <p:cNvSpPr/>
          <p:nvPr/>
        </p:nvSpPr>
        <p:spPr>
          <a:xfrm>
            <a:off x="8158480" y="2497455"/>
            <a:ext cx="1721485" cy="1758950"/>
          </a:xfrm>
          <a:prstGeom prst="ellipse">
            <a:avLst/>
          </a:prstGeom>
          <a:solidFill>
            <a:schemeClr val="bg1"/>
          </a:solidFill>
          <a:ln w="317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Flowchart: Connector 7"/>
          <p:cNvSpPr/>
          <p:nvPr/>
        </p:nvSpPr>
        <p:spPr>
          <a:xfrm>
            <a:off x="8357870" y="2967990"/>
            <a:ext cx="272415" cy="272415"/>
          </a:xfrm>
          <a:prstGeom prst="flowChartConnector">
            <a:avLst/>
          </a:prstGeom>
          <a:solidFill>
            <a:srgbClr val="00B0F0"/>
          </a:solidFill>
          <a:ln w="222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9" name="Flowchart: Connector 8"/>
          <p:cNvSpPr/>
          <p:nvPr/>
        </p:nvSpPr>
        <p:spPr>
          <a:xfrm>
            <a:off x="8883015" y="2695575"/>
            <a:ext cx="272415" cy="272415"/>
          </a:xfrm>
          <a:prstGeom prst="flowChartConnector">
            <a:avLst/>
          </a:prstGeom>
          <a:solidFill>
            <a:srgbClr val="00B0F0"/>
          </a:solidFill>
          <a:ln w="222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0" name="Flowchart: Connector 9"/>
          <p:cNvSpPr/>
          <p:nvPr/>
        </p:nvSpPr>
        <p:spPr>
          <a:xfrm>
            <a:off x="9394190" y="2967990"/>
            <a:ext cx="272415" cy="272415"/>
          </a:xfrm>
          <a:prstGeom prst="flowChartConnector">
            <a:avLst/>
          </a:prstGeom>
          <a:solidFill>
            <a:srgbClr val="00B0F0"/>
          </a:solidFill>
          <a:ln w="222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1" name="Flowchart: Connector 10"/>
          <p:cNvSpPr/>
          <p:nvPr/>
        </p:nvSpPr>
        <p:spPr>
          <a:xfrm>
            <a:off x="9394190" y="3512820"/>
            <a:ext cx="272415" cy="272415"/>
          </a:xfrm>
          <a:prstGeom prst="flowChartConnector">
            <a:avLst/>
          </a:prstGeom>
          <a:solidFill>
            <a:srgbClr val="00B0F0"/>
          </a:solidFill>
          <a:ln w="222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2" name="Flowchart: Connector 11"/>
          <p:cNvSpPr/>
          <p:nvPr/>
        </p:nvSpPr>
        <p:spPr>
          <a:xfrm>
            <a:off x="8357870" y="3512820"/>
            <a:ext cx="272415" cy="272415"/>
          </a:xfrm>
          <a:prstGeom prst="flowChartConnector">
            <a:avLst/>
          </a:prstGeom>
          <a:solidFill>
            <a:srgbClr val="00B0F0"/>
          </a:solidFill>
          <a:ln w="222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3" name="Flowchart: Connector 12"/>
          <p:cNvSpPr/>
          <p:nvPr/>
        </p:nvSpPr>
        <p:spPr>
          <a:xfrm>
            <a:off x="8883015" y="3785235"/>
            <a:ext cx="272415" cy="272415"/>
          </a:xfrm>
          <a:prstGeom prst="flowChartConnector">
            <a:avLst/>
          </a:prstGeom>
          <a:solidFill>
            <a:srgbClr val="00B0F0"/>
          </a:solidFill>
          <a:ln w="222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5" name="Flowchart: Connector 14"/>
          <p:cNvSpPr/>
          <p:nvPr/>
        </p:nvSpPr>
        <p:spPr>
          <a:xfrm>
            <a:off x="9912350" y="2967990"/>
            <a:ext cx="272415" cy="272415"/>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6" name="Flowchart: Connector 15"/>
          <p:cNvSpPr/>
          <p:nvPr/>
        </p:nvSpPr>
        <p:spPr>
          <a:xfrm>
            <a:off x="9912350" y="2423160"/>
            <a:ext cx="272415" cy="272415"/>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7" name="Flowchart: Connector 16"/>
          <p:cNvSpPr/>
          <p:nvPr/>
        </p:nvSpPr>
        <p:spPr>
          <a:xfrm>
            <a:off x="10430510" y="2194560"/>
            <a:ext cx="272415" cy="272415"/>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8" name="Flowchart: Connector 17"/>
          <p:cNvSpPr/>
          <p:nvPr/>
        </p:nvSpPr>
        <p:spPr>
          <a:xfrm>
            <a:off x="10430510" y="2695575"/>
            <a:ext cx="272415" cy="272415"/>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sp>
        <p:nvSpPr>
          <p:cNvPr id="19" name="Flowchart: Connector 18"/>
          <p:cNvSpPr/>
          <p:nvPr/>
        </p:nvSpPr>
        <p:spPr>
          <a:xfrm>
            <a:off x="10430510" y="3240405"/>
            <a:ext cx="272415" cy="272415"/>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p:cxnSp>
        <p:nvCxnSpPr>
          <p:cNvPr id="21" name="Straight Connector 20"/>
          <p:cNvCxnSpPr/>
          <p:nvPr/>
        </p:nvCxnSpPr>
        <p:spPr>
          <a:xfrm flipH="1">
            <a:off x="8505190" y="3383915"/>
            <a:ext cx="505460" cy="673735"/>
          </a:xfrm>
          <a:prstGeom prst="line">
            <a:avLst/>
          </a:prstGeom>
          <a:ln w="31750">
            <a:solidFill>
              <a:srgbClr val="FF0000"/>
            </a:solidFill>
          </a:ln>
        </p:spPr>
        <p:style>
          <a:lnRef idx="2">
            <a:schemeClr val="accent1"/>
          </a:lnRef>
          <a:fillRef idx="0">
            <a:srgbClr val="FFFFFF"/>
          </a:fillRef>
          <a:effectRef idx="0">
            <a:srgbClr val="FFFFFF"/>
          </a:effectRef>
          <a:fontRef idx="minor">
            <a:schemeClr val="tx1"/>
          </a:fontRef>
        </p:style>
      </p:cxnSp>
      <p:sp>
        <p:nvSpPr>
          <p:cNvPr id="7" name="Flowchart: Connector 6"/>
          <p:cNvSpPr/>
          <p:nvPr/>
        </p:nvSpPr>
        <p:spPr>
          <a:xfrm>
            <a:off x="8883015" y="3241040"/>
            <a:ext cx="272415" cy="272415"/>
          </a:xfrm>
          <a:prstGeom prst="flowChartConnector">
            <a:avLst/>
          </a:prstGeom>
          <a:solidFill>
            <a:srgbClr val="00B0F0"/>
          </a:solidFill>
          <a:ln w="222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endParaRPr>
          </a:p>
        </p:txBody>
      </p:sp>
      <mc:AlternateContent xmlns:mc="http://schemas.openxmlformats.org/markup-compatibility/2006" xmlns:a14="http://schemas.microsoft.com/office/drawing/2010/main">
        <mc:Choice Requires="a14">
          <p:sp>
            <p:nvSpPr>
              <p:cNvPr id="22" name="Text Box 21"/>
              <p:cNvSpPr txBox="1"/>
              <p:nvPr/>
            </p:nvSpPr>
            <p:spPr>
              <a:xfrm>
                <a:off x="8704580" y="4438650"/>
                <a:ext cx="1651635" cy="3683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altLang="en-US" i="1">
                          <a:latin typeface="Cambria Math" panose="02040503050406030204" pitchFamily="18" charset="0"/>
                          <a:cs typeface="Cambria Math" panose="02040503050406030204" pitchFamily="18" charset="0"/>
                        </a:rPr>
                        <m:t>𝑅</m:t>
                      </m:r>
                      <m:r>
                        <a:rPr lang="en-US" altLang="vi-VN" i="1">
                          <a:latin typeface="Cambria Math" panose="02040503050406030204" pitchFamily="18" charset="0"/>
                          <a:cs typeface="Cambria Math" panose="02040503050406030204" pitchFamily="18" charset="0"/>
                        </a:rPr>
                        <m:t> = </m:t>
                      </m:r>
                      <m:sSub>
                        <m:sSubPr>
                          <m:ctrlPr>
                            <a:rPr lang="en-US" altLang="vi-VN" i="1">
                              <a:latin typeface="Cambria Math" panose="02040503050406030204" pitchFamily="18" charset="0"/>
                              <a:cs typeface="Cambria Math" panose="02040503050406030204" pitchFamily="18" charset="0"/>
                            </a:rPr>
                          </m:ctrlPr>
                        </m:sSubPr>
                        <m:e>
                          <m:r>
                            <a:rPr lang="vi-VN" altLang="en-US" i="1">
                              <a:latin typeface="Cambria Math" panose="02040503050406030204" pitchFamily="18" charset="0"/>
                              <a:cs typeface="Cambria Math" panose="02040503050406030204" pitchFamily="18" charset="0"/>
                            </a:rPr>
                            <m:t>𝑑</m:t>
                          </m:r>
                        </m:e>
                        <m:sub>
                          <m:r>
                            <a:rPr lang="vi-VN" altLang="en-US" i="1">
                              <a:latin typeface="Cambria Math" panose="02040503050406030204" pitchFamily="18" charset="0"/>
                              <a:cs typeface="Cambria Math" panose="02040503050406030204" pitchFamily="18" charset="0"/>
                            </a:rPr>
                            <m:t>𝑐</m:t>
                          </m:r>
                        </m:sub>
                      </m:sSub>
                      <m:r>
                        <a:rPr lang="en-US" altLang="vi-VN" i="1">
                          <a:latin typeface="Cambria Math" panose="02040503050406030204" pitchFamily="18" charset="0"/>
                          <a:cs typeface="Cambria Math" panose="02040503050406030204" pitchFamily="18" charset="0"/>
                        </a:rPr>
                        <m:t> </m:t>
                      </m:r>
                    </m:oMath>
                  </m:oMathPara>
                </a14:m>
                <a:endParaRPr lang="vi-VN" altLang="en-US" i="1">
                  <a:latin typeface="Cambria Math" panose="02040503050406030204" pitchFamily="18" charset="0"/>
                  <a:cs typeface="Cambria Math" panose="02040503050406030204" pitchFamily="18" charset="0"/>
                </a:endParaRPr>
              </a:p>
            </p:txBody>
          </p:sp>
        </mc:Choice>
        <mc:Fallback xmlns="">
          <p:sp>
            <p:nvSpPr>
              <p:cNvPr id="22" name="Text Box 21"/>
              <p:cNvSpPr txBox="1">
                <a:spLocks noRot="1" noChangeAspect="1" noMove="1" noResize="1" noEditPoints="1" noAdjustHandles="1" noChangeArrowheads="1" noChangeShapeType="1" noTextEdit="1"/>
              </p:cNvSpPr>
              <p:nvPr/>
            </p:nvSpPr>
            <p:spPr>
              <a:xfrm>
                <a:off x="8704580" y="4438650"/>
                <a:ext cx="1651635" cy="368300"/>
              </a:xfrm>
              <a:prstGeom prst="rect">
                <a:avLst/>
              </a:prstGeom>
              <a:blipFill rotWithShape="1">
                <a:blip r:embed="rId3"/>
                <a:stretch>
                  <a:fillRect/>
                </a:stretch>
              </a:blipFill>
            </p:spPr>
            <p:txBody>
              <a:bodyPr/>
              <a:lstStyle/>
              <a:p>
                <a:r>
                  <a:rPr lang="en-US" altLang="en-US">
                    <a:noFill/>
                  </a:rPr>
                  <a:t> </a:t>
                </a:r>
              </a:p>
            </p:txBody>
          </p:sp>
        </mc:Fallback>
      </mc:AlternateContent>
      <p:sp>
        <p:nvSpPr>
          <p:cNvPr id="3" name="Slide Number Placeholder 2"/>
          <p:cNvSpPr>
            <a:spLocks noGrp="1"/>
          </p:cNvSpPr>
          <p:nvPr>
            <p:ph type="sldNum" sz="quarter" idx="12"/>
          </p:nvPr>
        </p:nvSpPr>
        <p:spPr/>
        <p:txBody>
          <a:bodyPr/>
          <a:lstStyle/>
          <a:p>
            <a:fld id="{9B618960-8005-486C-9A75-10CB2AAC16F9}" type="slidenum">
              <a:rPr lang="en-US" smtClean="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trips(upRight)">
                                      <p:cBhvr>
                                        <p:cTn id="7" dur="500"/>
                                        <p:tgtEl>
                                          <p:spTgt spid="20"/>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trips(downLeft)">
                                      <p:cBhvr>
                                        <p:cTn id="11" dur="500"/>
                                        <p:tgtEl>
                                          <p:spTgt spid="21"/>
                                        </p:tgtEl>
                                      </p:cBhvr>
                                    </p:animEffect>
                                  </p:childTnLst>
                                </p:cTn>
                              </p:par>
                            </p:childTnLst>
                          </p:cTn>
                        </p:par>
                        <p:par>
                          <p:cTn id="12" fill="hold">
                            <p:stCondLst>
                              <p:cond delay="1000"/>
                            </p:stCondLst>
                            <p:childTnLst>
                              <p:par>
                                <p:cTn id="13" presetID="1" presetClass="emph" presetSubtype="2" fill="hold" nodeType="afterEffect">
                                  <p:stCondLst>
                                    <p:cond delay="0"/>
                                  </p:stCondLst>
                                  <p:childTnLst>
                                    <p:animClr clrSpc="rgb" dir="cw">
                                      <p:cBhvr>
                                        <p:cTn id="14" dur="500" fill="hold"/>
                                        <p:tgtEl>
                                          <p:spTgt spid="9"/>
                                        </p:tgtEl>
                                        <p:attrNameLst>
                                          <p:attrName>fillcolor</p:attrName>
                                        </p:attrNameLst>
                                      </p:cBhvr>
                                      <p:to>
                                        <a:srgbClr val="FE3A20"/>
                                      </p:to>
                                    </p:animClr>
                                    <p:set>
                                      <p:cBhvr>
                                        <p:cTn id="15" dur="500" fill="hold"/>
                                        <p:tgtEl>
                                          <p:spTgt spid="9"/>
                                        </p:tgtEl>
                                        <p:attrNameLst>
                                          <p:attrName>fill.type</p:attrName>
                                        </p:attrNameLst>
                                      </p:cBhvr>
                                      <p:to>
                                        <p:strVal val="solid"/>
                                      </p:to>
                                    </p:set>
                                    <p:set>
                                      <p:cBhvr>
                                        <p:cTn id="16" dur="500" fill="hold"/>
                                        <p:tgtEl>
                                          <p:spTgt spid="9"/>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8"/>
                                        </p:tgtEl>
                                        <p:attrNameLst>
                                          <p:attrName>fillcolor</p:attrName>
                                        </p:attrNameLst>
                                      </p:cBhvr>
                                      <p:to>
                                        <a:srgbClr val="FE3A20"/>
                                      </p:to>
                                    </p:animClr>
                                    <p:set>
                                      <p:cBhvr>
                                        <p:cTn id="19" dur="500" fill="hold"/>
                                        <p:tgtEl>
                                          <p:spTgt spid="8"/>
                                        </p:tgtEl>
                                        <p:attrNameLst>
                                          <p:attrName>fill.type</p:attrName>
                                        </p:attrNameLst>
                                      </p:cBhvr>
                                      <p:to>
                                        <p:strVal val="solid"/>
                                      </p:to>
                                    </p:set>
                                    <p:set>
                                      <p:cBhvr>
                                        <p:cTn id="20" dur="500" fill="hold"/>
                                        <p:tgtEl>
                                          <p:spTgt spid="8"/>
                                        </p:tgtEl>
                                        <p:attrNameLst>
                                          <p:attrName>fill.on</p:attrName>
                                        </p:attrNameLst>
                                      </p:cBhvr>
                                      <p:to>
                                        <p:strVal val="true"/>
                                      </p:to>
                                    </p:set>
                                  </p:childTnLst>
                                </p:cTn>
                              </p:par>
                              <p:par>
                                <p:cTn id="21" presetID="1" presetClass="emph" presetSubtype="2" fill="hold" nodeType="withEffect">
                                  <p:stCondLst>
                                    <p:cond delay="0"/>
                                  </p:stCondLst>
                                  <p:childTnLst>
                                    <p:animClr clrSpc="rgb" dir="cw">
                                      <p:cBhvr>
                                        <p:cTn id="22" dur="500" fill="hold"/>
                                        <p:tgtEl>
                                          <p:spTgt spid="12"/>
                                        </p:tgtEl>
                                        <p:attrNameLst>
                                          <p:attrName>fillcolor</p:attrName>
                                        </p:attrNameLst>
                                      </p:cBhvr>
                                      <p:to>
                                        <a:srgbClr val="FE3A20"/>
                                      </p:to>
                                    </p:animClr>
                                    <p:set>
                                      <p:cBhvr>
                                        <p:cTn id="23" dur="500" fill="hold"/>
                                        <p:tgtEl>
                                          <p:spTgt spid="12"/>
                                        </p:tgtEl>
                                        <p:attrNameLst>
                                          <p:attrName>fill.type</p:attrName>
                                        </p:attrNameLst>
                                      </p:cBhvr>
                                      <p:to>
                                        <p:strVal val="solid"/>
                                      </p:to>
                                    </p:set>
                                    <p:set>
                                      <p:cBhvr>
                                        <p:cTn id="24" dur="500" fill="hold"/>
                                        <p:tgtEl>
                                          <p:spTgt spid="12"/>
                                        </p:tgtEl>
                                        <p:attrNameLst>
                                          <p:attrName>fill.on</p:attrName>
                                        </p:attrNameLst>
                                      </p:cBhvr>
                                      <p:to>
                                        <p:strVal val="true"/>
                                      </p:to>
                                    </p:set>
                                  </p:childTnLst>
                                </p:cTn>
                              </p:par>
                              <p:par>
                                <p:cTn id="25" presetID="1" presetClass="emph" presetSubtype="2" fill="hold" nodeType="withEffect">
                                  <p:stCondLst>
                                    <p:cond delay="0"/>
                                  </p:stCondLst>
                                  <p:childTnLst>
                                    <p:animClr clrSpc="rgb" dir="cw">
                                      <p:cBhvr>
                                        <p:cTn id="26" dur="500" fill="hold"/>
                                        <p:tgtEl>
                                          <p:spTgt spid="7"/>
                                        </p:tgtEl>
                                        <p:attrNameLst>
                                          <p:attrName>fillcolor</p:attrName>
                                        </p:attrNameLst>
                                      </p:cBhvr>
                                      <p:to>
                                        <a:srgbClr val="FE3A20"/>
                                      </p:to>
                                    </p:animClr>
                                    <p:set>
                                      <p:cBhvr>
                                        <p:cTn id="27" dur="500" fill="hold"/>
                                        <p:tgtEl>
                                          <p:spTgt spid="7"/>
                                        </p:tgtEl>
                                        <p:attrNameLst>
                                          <p:attrName>fill.type</p:attrName>
                                        </p:attrNameLst>
                                      </p:cBhvr>
                                      <p:to>
                                        <p:strVal val="solid"/>
                                      </p:to>
                                    </p:set>
                                    <p:set>
                                      <p:cBhvr>
                                        <p:cTn id="28" dur="500" fill="hold"/>
                                        <p:tgtEl>
                                          <p:spTgt spid="7"/>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500" fill="hold"/>
                                        <p:tgtEl>
                                          <p:spTgt spid="13"/>
                                        </p:tgtEl>
                                        <p:attrNameLst>
                                          <p:attrName>fillcolor</p:attrName>
                                        </p:attrNameLst>
                                      </p:cBhvr>
                                      <p:to>
                                        <a:srgbClr val="FE3A20"/>
                                      </p:to>
                                    </p:animClr>
                                    <p:set>
                                      <p:cBhvr>
                                        <p:cTn id="31" dur="500" fill="hold"/>
                                        <p:tgtEl>
                                          <p:spTgt spid="13"/>
                                        </p:tgtEl>
                                        <p:attrNameLst>
                                          <p:attrName>fill.type</p:attrName>
                                        </p:attrNameLst>
                                      </p:cBhvr>
                                      <p:to>
                                        <p:strVal val="solid"/>
                                      </p:to>
                                    </p:set>
                                    <p:set>
                                      <p:cBhvr>
                                        <p:cTn id="32" dur="500" fill="hold"/>
                                        <p:tgtEl>
                                          <p:spTgt spid="13"/>
                                        </p:tgtEl>
                                        <p:attrNameLst>
                                          <p:attrName>fill.on</p:attrName>
                                        </p:attrNameLst>
                                      </p:cBhvr>
                                      <p:to>
                                        <p:strVal val="true"/>
                                      </p:to>
                                    </p:set>
                                  </p:childTnLst>
                                </p:cTn>
                              </p:par>
                              <p:par>
                                <p:cTn id="33" presetID="1" presetClass="emph" presetSubtype="2" fill="hold" nodeType="withEffect">
                                  <p:stCondLst>
                                    <p:cond delay="0"/>
                                  </p:stCondLst>
                                  <p:childTnLst>
                                    <p:animClr clrSpc="rgb" dir="cw">
                                      <p:cBhvr>
                                        <p:cTn id="34" dur="500" fill="hold"/>
                                        <p:tgtEl>
                                          <p:spTgt spid="11"/>
                                        </p:tgtEl>
                                        <p:attrNameLst>
                                          <p:attrName>fillcolor</p:attrName>
                                        </p:attrNameLst>
                                      </p:cBhvr>
                                      <p:to>
                                        <a:srgbClr val="FE3A20"/>
                                      </p:to>
                                    </p:animClr>
                                    <p:set>
                                      <p:cBhvr>
                                        <p:cTn id="35" dur="500" fill="hold"/>
                                        <p:tgtEl>
                                          <p:spTgt spid="11"/>
                                        </p:tgtEl>
                                        <p:attrNameLst>
                                          <p:attrName>fill.type</p:attrName>
                                        </p:attrNameLst>
                                      </p:cBhvr>
                                      <p:to>
                                        <p:strVal val="solid"/>
                                      </p:to>
                                    </p:set>
                                    <p:set>
                                      <p:cBhvr>
                                        <p:cTn id="36" dur="500" fill="hold"/>
                                        <p:tgtEl>
                                          <p:spTgt spid="11"/>
                                        </p:tgtEl>
                                        <p:attrNameLst>
                                          <p:attrName>fill.on</p:attrName>
                                        </p:attrNameLst>
                                      </p:cBhvr>
                                      <p:to>
                                        <p:strVal val="true"/>
                                      </p:to>
                                    </p:set>
                                  </p:childTnLst>
                                </p:cTn>
                              </p:par>
                              <p:par>
                                <p:cTn id="37" presetID="1" presetClass="emph" presetSubtype="2" fill="hold" nodeType="withEffect">
                                  <p:stCondLst>
                                    <p:cond delay="0"/>
                                  </p:stCondLst>
                                  <p:childTnLst>
                                    <p:animClr clrSpc="rgb" dir="cw">
                                      <p:cBhvr>
                                        <p:cTn id="38" dur="500" fill="hold"/>
                                        <p:tgtEl>
                                          <p:spTgt spid="10"/>
                                        </p:tgtEl>
                                        <p:attrNameLst>
                                          <p:attrName>fillcolor</p:attrName>
                                        </p:attrNameLst>
                                      </p:cBhvr>
                                      <p:to>
                                        <a:srgbClr val="FE3A20"/>
                                      </p:to>
                                    </p:animClr>
                                    <p:set>
                                      <p:cBhvr>
                                        <p:cTn id="39" dur="500" fill="hold"/>
                                        <p:tgtEl>
                                          <p:spTgt spid="10"/>
                                        </p:tgtEl>
                                        <p:attrNameLst>
                                          <p:attrName>fill.type</p:attrName>
                                        </p:attrNameLst>
                                      </p:cBhvr>
                                      <p:to>
                                        <p:strVal val="solid"/>
                                      </p:to>
                                    </p:set>
                                    <p:set>
                                      <p:cBhvr>
                                        <p:cTn id="40" dur="500" fill="hold"/>
                                        <p:tgtEl>
                                          <p:spTgt spid="10"/>
                                        </p:tgtEl>
                                        <p:attrNameLst>
                                          <p:attrName>fill.on</p:attrName>
                                        </p:attrNameLst>
                                      </p:cBhvr>
                                      <p:to>
                                        <p:strVal val="true"/>
                                      </p:to>
                                    </p:set>
                                  </p:childTnLst>
                                </p:cTn>
                              </p:par>
                              <p:par>
                                <p:cTn id="41" presetID="7" presetClass="emph" presetSubtype="2" fill="hold" nodeType="withEffect">
                                  <p:stCondLst>
                                    <p:cond delay="0"/>
                                  </p:stCondLst>
                                  <p:childTnLst>
                                    <p:animClr clrSpc="rgb" dir="cw">
                                      <p:cBhvr>
                                        <p:cTn id="42" dur="500" fill="hold"/>
                                        <p:tgtEl>
                                          <p:spTgt spid="8"/>
                                        </p:tgtEl>
                                        <p:attrNameLst>
                                          <p:attrName>stroke.color</p:attrName>
                                        </p:attrNameLst>
                                      </p:cBhvr>
                                      <p:to>
                                        <a:schemeClr val="accent2"/>
                                      </p:to>
                                    </p:animClr>
                                    <p:set>
                                      <p:cBhvr>
                                        <p:cTn id="43" dur="500" fill="hold"/>
                                        <p:tgtEl>
                                          <p:spTgt spid="8"/>
                                        </p:tgtEl>
                                        <p:attrNameLst>
                                          <p:attrName>stroke.on</p:attrName>
                                        </p:attrNameLst>
                                      </p:cBhvr>
                                      <p:to>
                                        <p:strVal val="true"/>
                                      </p:to>
                                    </p:set>
                                  </p:childTnLst>
                                </p:cTn>
                              </p:par>
                              <p:par>
                                <p:cTn id="44" presetID="7" presetClass="emph" presetSubtype="2" fill="hold" nodeType="withEffect">
                                  <p:stCondLst>
                                    <p:cond delay="0"/>
                                  </p:stCondLst>
                                  <p:childTnLst>
                                    <p:animClr clrSpc="rgb" dir="cw">
                                      <p:cBhvr>
                                        <p:cTn id="45" dur="500" fill="hold"/>
                                        <p:tgtEl>
                                          <p:spTgt spid="9"/>
                                        </p:tgtEl>
                                        <p:attrNameLst>
                                          <p:attrName>stroke.color</p:attrName>
                                        </p:attrNameLst>
                                      </p:cBhvr>
                                      <p:to>
                                        <a:schemeClr val="accent2"/>
                                      </p:to>
                                    </p:animClr>
                                    <p:set>
                                      <p:cBhvr>
                                        <p:cTn id="46" dur="500" fill="hold"/>
                                        <p:tgtEl>
                                          <p:spTgt spid="9"/>
                                        </p:tgtEl>
                                        <p:attrNameLst>
                                          <p:attrName>stroke.on</p:attrName>
                                        </p:attrNameLst>
                                      </p:cBhvr>
                                      <p:to>
                                        <p:strVal val="true"/>
                                      </p:to>
                                    </p:set>
                                  </p:childTnLst>
                                </p:cTn>
                              </p:par>
                              <p:par>
                                <p:cTn id="47" presetID="7" presetClass="emph" presetSubtype="2" fill="hold" nodeType="withEffect">
                                  <p:stCondLst>
                                    <p:cond delay="0"/>
                                  </p:stCondLst>
                                  <p:childTnLst>
                                    <p:animClr clrSpc="rgb" dir="cw">
                                      <p:cBhvr>
                                        <p:cTn id="48" dur="500" fill="hold"/>
                                        <p:tgtEl>
                                          <p:spTgt spid="10"/>
                                        </p:tgtEl>
                                        <p:attrNameLst>
                                          <p:attrName>stroke.color</p:attrName>
                                        </p:attrNameLst>
                                      </p:cBhvr>
                                      <p:to>
                                        <a:schemeClr val="accent2"/>
                                      </p:to>
                                    </p:animClr>
                                    <p:set>
                                      <p:cBhvr>
                                        <p:cTn id="49" dur="500" fill="hold"/>
                                        <p:tgtEl>
                                          <p:spTgt spid="10"/>
                                        </p:tgtEl>
                                        <p:attrNameLst>
                                          <p:attrName>stroke.on</p:attrName>
                                        </p:attrNameLst>
                                      </p:cBhvr>
                                      <p:to>
                                        <p:strVal val="true"/>
                                      </p:to>
                                    </p:set>
                                  </p:childTnLst>
                                </p:cTn>
                              </p:par>
                              <p:par>
                                <p:cTn id="50" presetID="7" presetClass="emph" presetSubtype="2" fill="hold" nodeType="withEffect">
                                  <p:stCondLst>
                                    <p:cond delay="0"/>
                                  </p:stCondLst>
                                  <p:childTnLst>
                                    <p:animClr clrSpc="rgb" dir="cw">
                                      <p:cBhvr>
                                        <p:cTn id="51" dur="500" fill="hold"/>
                                        <p:tgtEl>
                                          <p:spTgt spid="11"/>
                                        </p:tgtEl>
                                        <p:attrNameLst>
                                          <p:attrName>stroke.color</p:attrName>
                                        </p:attrNameLst>
                                      </p:cBhvr>
                                      <p:to>
                                        <a:schemeClr val="accent2"/>
                                      </p:to>
                                    </p:animClr>
                                    <p:set>
                                      <p:cBhvr>
                                        <p:cTn id="52" dur="500" fill="hold"/>
                                        <p:tgtEl>
                                          <p:spTgt spid="11"/>
                                        </p:tgtEl>
                                        <p:attrNameLst>
                                          <p:attrName>stroke.on</p:attrName>
                                        </p:attrNameLst>
                                      </p:cBhvr>
                                      <p:to>
                                        <p:strVal val="true"/>
                                      </p:to>
                                    </p:set>
                                  </p:childTnLst>
                                </p:cTn>
                              </p:par>
                              <p:par>
                                <p:cTn id="53" presetID="7" presetClass="emph" presetSubtype="2" fill="hold" nodeType="withEffect">
                                  <p:stCondLst>
                                    <p:cond delay="0"/>
                                  </p:stCondLst>
                                  <p:childTnLst>
                                    <p:animClr clrSpc="rgb" dir="cw">
                                      <p:cBhvr>
                                        <p:cTn id="54" dur="500" fill="hold"/>
                                        <p:tgtEl>
                                          <p:spTgt spid="12"/>
                                        </p:tgtEl>
                                        <p:attrNameLst>
                                          <p:attrName>stroke.color</p:attrName>
                                        </p:attrNameLst>
                                      </p:cBhvr>
                                      <p:to>
                                        <a:schemeClr val="accent2"/>
                                      </p:to>
                                    </p:animClr>
                                    <p:set>
                                      <p:cBhvr>
                                        <p:cTn id="55" dur="500" fill="hold"/>
                                        <p:tgtEl>
                                          <p:spTgt spid="12"/>
                                        </p:tgtEl>
                                        <p:attrNameLst>
                                          <p:attrName>stroke.on</p:attrName>
                                        </p:attrNameLst>
                                      </p:cBhvr>
                                      <p:to>
                                        <p:strVal val="true"/>
                                      </p:to>
                                    </p:set>
                                  </p:childTnLst>
                                </p:cTn>
                              </p:par>
                              <p:par>
                                <p:cTn id="56" presetID="7" presetClass="emph" presetSubtype="2" fill="hold" nodeType="withEffect">
                                  <p:stCondLst>
                                    <p:cond delay="0"/>
                                  </p:stCondLst>
                                  <p:childTnLst>
                                    <p:animClr clrSpc="rgb" dir="cw">
                                      <p:cBhvr>
                                        <p:cTn id="57" dur="500" fill="hold"/>
                                        <p:tgtEl>
                                          <p:spTgt spid="13"/>
                                        </p:tgtEl>
                                        <p:attrNameLst>
                                          <p:attrName>stroke.color</p:attrName>
                                        </p:attrNameLst>
                                      </p:cBhvr>
                                      <p:to>
                                        <a:schemeClr val="accent2"/>
                                      </p:to>
                                    </p:animClr>
                                    <p:set>
                                      <p:cBhvr>
                                        <p:cTn id="58" dur="500" fill="hold"/>
                                        <p:tgtEl>
                                          <p:spTgt spid="13"/>
                                        </p:tgtEl>
                                        <p:attrNameLst>
                                          <p:attrName>stroke.on</p:attrName>
                                        </p:attrNameLst>
                                      </p:cBhvr>
                                      <p:to>
                                        <p:strVal val="true"/>
                                      </p:to>
                                    </p:set>
                                  </p:childTnLst>
                                </p:cTn>
                              </p:par>
                              <p:par>
                                <p:cTn id="59" presetID="7" presetClass="emph" presetSubtype="2" fill="hold" nodeType="withEffect">
                                  <p:stCondLst>
                                    <p:cond delay="0"/>
                                  </p:stCondLst>
                                  <p:childTnLst>
                                    <p:animClr clrSpc="rgb" dir="cw">
                                      <p:cBhvr>
                                        <p:cTn id="60" dur="500" fill="hold"/>
                                        <p:tgtEl>
                                          <p:spTgt spid="7"/>
                                        </p:tgtEl>
                                        <p:attrNameLst>
                                          <p:attrName>stroke.color</p:attrName>
                                        </p:attrNameLst>
                                      </p:cBhvr>
                                      <p:to>
                                        <a:schemeClr val="accent2"/>
                                      </p:to>
                                    </p:animClr>
                                    <p:set>
                                      <p:cBhvr>
                                        <p:cTn id="61" dur="500" fill="hold"/>
                                        <p:tgtEl>
                                          <p:spTgt spid="7"/>
                                        </p:tgtEl>
                                        <p:attrNameLst>
                                          <p:attrName>stroke.on</p:attrName>
                                        </p:attrNameLst>
                                      </p:cBhvr>
                                      <p:to>
                                        <p:strVal val="true"/>
                                      </p:to>
                                    </p:set>
                                  </p:childTnLst>
                                </p:cTn>
                              </p:par>
                            </p:childTnLst>
                          </p:cTn>
                        </p:par>
                        <p:par>
                          <p:cTn id="62" fill="hold">
                            <p:stCondLst>
                              <p:cond delay="1500"/>
                            </p:stCondLst>
                            <p:childTnLst>
                              <p:par>
                                <p:cTn id="63" presetID="18" presetClass="entr" presetSubtype="6" fill="hold" grpId="0"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strips(downRight)">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animBg="1"/>
      <p:bldP spid="15" grpId="1" animBg="1"/>
      <p:bldP spid="16" grpId="1" animBg="1"/>
      <p:bldP spid="18" grpId="1" animBg="1"/>
      <p:bldP spid="19" grpId="1" animBg="1"/>
      <p:bldP spid="22" grpId="0"/>
      <p:bldP spid="2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p:cNvSpPr txBox="1"/>
              <p:nvPr/>
            </p:nvSpPr>
            <p:spPr>
              <a:xfrm>
                <a:off x="1079999" y="2354094"/>
                <a:ext cx="5645265" cy="336496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Các bước thực hiện thuật toán CFSFDP</a:t>
                </a:r>
              </a:p>
              <a:p>
                <a:pPr algn="just">
                  <a:lnSpc>
                    <a:spcPct val="150000"/>
                  </a:lnSpc>
                </a:pPr>
                <a:r>
                  <a:rPr lang="vi-VN" dirty="0">
                    <a:latin typeface="+mj-lt"/>
                  </a:rPr>
                  <a:t>Bước 3: Tính mật độ cục bộ </a:t>
                </a:r>
                <a14:m>
                  <m:oMath xmlns:m="http://schemas.openxmlformats.org/officeDocument/2006/math">
                    <m:r>
                      <a:rPr lang="en-US" altLang="vi-VN" i="1" dirty="0">
                        <a:latin typeface="Cambria Math" panose="02040503050406030204" pitchFamily="18" charset="0"/>
                        <a:cs typeface="Cambria Math" panose="02040503050406030204" pitchFamily="18" charset="0"/>
                      </a:rPr>
                      <m:t>(</m:t>
                    </m:r>
                    <m:sSub>
                      <m:sSubPr>
                        <m:ctrlPr>
                          <a:rPr lang="en-US" altLang="vi-VN" i="1" dirty="0">
                            <a:latin typeface="Cambria Math" panose="02040503050406030204" pitchFamily="18" charset="0"/>
                            <a:cs typeface="Cambria Math" panose="02040503050406030204" pitchFamily="18" charset="0"/>
                          </a:rPr>
                        </m:ctrlPr>
                      </m:sSubPr>
                      <m:e>
                        <m:r>
                          <a:rPr lang="en-US" altLang="vi-VN" i="1" dirty="0">
                            <a:latin typeface="Cambria Math" panose="02040503050406030204" pitchFamily="18" charset="0"/>
                            <a:cs typeface="Cambria Math" panose="02040503050406030204" pitchFamily="18" charset="0"/>
                          </a:rPr>
                          <m:t>𝜌</m:t>
                        </m:r>
                      </m:e>
                      <m:sub>
                        <m:r>
                          <a:rPr lang="vi-VN" altLang="en-US" i="1" dirty="0">
                            <a:latin typeface="Cambria Math" panose="02040503050406030204" pitchFamily="18" charset="0"/>
                            <a:cs typeface="Cambria Math" panose="02040503050406030204" pitchFamily="18" charset="0"/>
                          </a:rPr>
                          <m:t>𝑖</m:t>
                        </m:r>
                      </m:sub>
                    </m:sSub>
                    <m:r>
                      <a:rPr lang="en-US" altLang="vi-VN" i="1" dirty="0">
                        <a:latin typeface="Cambria Math" panose="02040503050406030204" pitchFamily="18" charset="0"/>
                        <a:cs typeface="Cambria Math" panose="02040503050406030204" pitchFamily="18" charset="0"/>
                      </a:rPr>
                      <m:t>)</m:t>
                    </m:r>
                  </m:oMath>
                </a14:m>
                <a:endParaRPr lang="vi-VN" dirty="0">
                  <a:latin typeface="+mj-lt"/>
                </a:endParaRPr>
              </a:p>
              <a:p>
                <a:pPr marL="285750" indent="-285750" algn="just">
                  <a:lnSpc>
                    <a:spcPct val="150000"/>
                  </a:lnSpc>
                  <a:buFontTx/>
                  <a:buChar char="⁃"/>
                </a:pPr>
                <a:r>
                  <a:rPr lang="vi-VN" dirty="0">
                    <a:latin typeface="+mj-lt"/>
                  </a:rPr>
                  <a:t>Mật độ cục bộ của điểm </a:t>
                </a:r>
                <a14:m>
                  <m:oMath xmlns:m="http://schemas.openxmlformats.org/officeDocument/2006/math">
                    <m:r>
                      <a:rPr lang="vi-VN" i="1" dirty="0">
                        <a:latin typeface="Cambria Math" panose="02040503050406030204" pitchFamily="18" charset="0"/>
                        <a:cs typeface="Cambria Math" panose="02040503050406030204" pitchFamily="18" charset="0"/>
                      </a:rPr>
                      <m:t>𝑖</m:t>
                    </m:r>
                    <m:r>
                      <a:rPr lang="en-US" altLang="vi-VN" b="1" i="1" dirty="0">
                        <a:latin typeface="Cambria Math" panose="02040503050406030204" pitchFamily="18" charset="0"/>
                        <a:ea typeface="MS Mincho" charset="0"/>
                        <a:cs typeface="Cambria Math" panose="02040503050406030204" pitchFamily="18" charset="0"/>
                      </a:rPr>
                      <m:t> </m:t>
                    </m:r>
                  </m:oMath>
                </a14:m>
                <a:r>
                  <a:rPr lang="vi-VN" dirty="0">
                    <a:latin typeface="Cambria Math" panose="02040503050406030204" pitchFamily="18" charset="0"/>
                    <a:cs typeface="Cambria Math" panose="02040503050406030204" pitchFamily="18" charset="0"/>
                  </a:rPr>
                  <a:t>được tính dựa trên số lượng điểm nằm trong phạm vi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altLang="en-US" dirty="0">
                    <a:latin typeface="Cambria Math" panose="02040503050406030204" pitchFamily="18" charset="0"/>
                    <a:cs typeface="Cambria Math" panose="02040503050406030204" pitchFamily="18" charset="0"/>
                  </a:rPr>
                  <a:t>.</a:t>
                </a:r>
              </a:p>
              <a:p>
                <a:pPr marL="285750" indent="-285750" algn="just">
                  <a:lnSpc>
                    <a:spcPct val="150000"/>
                  </a:lnSpc>
                  <a:buFontTx/>
                  <a:buChar char="⁃"/>
                </a:pPr>
                <a:r>
                  <a:rPr lang="vi-VN" altLang="en-US" dirty="0">
                    <a:latin typeface="Cambria Math" panose="02040503050406030204" pitchFamily="18" charset="0"/>
                    <a:cs typeface="Cambria Math" panose="02040503050406030204" pitchFamily="18" charset="0"/>
                  </a:rPr>
                  <a:t>Có 2 cách tính phổ biến:</a:t>
                </a:r>
              </a:p>
              <a:p>
                <a:pPr marL="742950" lvl="1" indent="-285750" algn="just">
                  <a:lnSpc>
                    <a:spcPct val="150000"/>
                  </a:lnSpc>
                  <a:buFont typeface="Arial" panose="020B0604020202020204" pitchFamily="34" charset="0"/>
                  <a:buChar char="•"/>
                </a:pPr>
                <a:r>
                  <a:rPr lang="vi-VN" altLang="en-US" dirty="0">
                    <a:latin typeface="Cambria Math" panose="02040503050406030204" pitchFamily="18" charset="0"/>
                    <a:cs typeface="Cambria Math" panose="02040503050406030204" pitchFamily="18" charset="0"/>
                  </a:rPr>
                  <a:t>Cut-off Kernel (công thức gốc trong paper)</a:t>
                </a:r>
              </a:p>
              <a:p>
                <a:pPr marL="742950" lvl="1" indent="-285750" algn="just">
                  <a:lnSpc>
                    <a:spcPct val="150000"/>
                  </a:lnSpc>
                  <a:buFont typeface="Arial" panose="020B0604020202020204" pitchFamily="34" charset="0"/>
                  <a:buChar char="•"/>
                </a:pPr>
                <a:r>
                  <a:rPr lang="vi-VN" altLang="en-US" dirty="0">
                    <a:latin typeface="Cambria Math" panose="02040503050406030204" pitchFamily="18" charset="0"/>
                    <a:cs typeface="Cambria Math" panose="02040503050406030204" pitchFamily="18" charset="0"/>
                  </a:rPr>
                  <a:t>Gaussian Kernel (mượt hơn, hay dùng hiện nay)</a:t>
                </a:r>
              </a:p>
              <a:p>
                <a:pPr marL="285750" indent="-285750" algn="just">
                  <a:lnSpc>
                    <a:spcPct val="150000"/>
                  </a:lnSpc>
                  <a:buFontTx/>
                  <a:buChar char="⁃"/>
                </a:pPr>
                <a:endParaRPr lang="vi-VN" altLang="en-US" dirty="0">
                  <a:latin typeface="Cambria Math" panose="02040503050406030204" pitchFamily="18" charset="0"/>
                  <a:cs typeface="Cambria Math" panose="02040503050406030204" pitchFamily="18" charset="0"/>
                </a:endParaRPr>
              </a:p>
            </p:txBody>
          </p:sp>
        </mc:Choice>
        <mc:Fallback xmlns="">
          <p:sp>
            <p:nvSpPr>
              <p:cNvPr id="7" name="TextBox 5"/>
              <p:cNvSpPr txBox="1">
                <a:spLocks noRot="1" noChangeAspect="1" noMove="1" noResize="1" noEditPoints="1" noAdjustHandles="1" noChangeArrowheads="1" noChangeShapeType="1" noTextEdit="1"/>
              </p:cNvSpPr>
              <p:nvPr/>
            </p:nvSpPr>
            <p:spPr>
              <a:xfrm>
                <a:off x="1079999" y="2354094"/>
                <a:ext cx="5645265" cy="3364960"/>
              </a:xfrm>
              <a:prstGeom prst="rect">
                <a:avLst/>
              </a:prstGeom>
              <a:blipFill rotWithShape="1">
                <a:blip r:embed="rId2"/>
                <a:stretch>
                  <a:fillRect l="-9" t="-4" r="11" b="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7337900" y="1728000"/>
                <a:ext cx="3861042" cy="4446858"/>
              </a:xfrm>
              <a:prstGeom prst="rect">
                <a:avLst/>
              </a:prstGeom>
              <a:noFill/>
            </p:spPr>
            <p:txBody>
              <a:bodyPr wrap="square" rtlCol="0">
                <a:spAutoFit/>
              </a:bodyPr>
              <a:lstStyle/>
              <a:p>
                <a:pPr>
                  <a:lnSpc>
                    <a:spcPct val="150000"/>
                  </a:lnSpc>
                </a:pPr>
                <a:r>
                  <a:rPr lang="vi-VN" dirty="0">
                    <a:latin typeface="+mj-lt"/>
                  </a:rPr>
                  <a:t>Cut-off kernel:</a:t>
                </a:r>
              </a:p>
              <a:p>
                <a:pPr>
                  <a:lnSpc>
                    <a:spcPct val="120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r>
                        <a:rPr lang="vi-VN" b="0" i="1" smtClean="0">
                          <a:latin typeface="Cambria Math" panose="02040503050406030204" pitchFamily="18" charset="0"/>
                        </a:rPr>
                        <m:t>=</m:t>
                      </m:r>
                      <m:nary>
                        <m:naryPr>
                          <m:chr m:val="∑"/>
                          <m:supHide m:val="on"/>
                          <m:ctrlPr>
                            <a:rPr lang="vi-VN" b="0" i="1" smtClean="0">
                              <a:latin typeface="Cambria Math" panose="02040503050406030204" pitchFamily="18" charset="0"/>
                            </a:rPr>
                          </m:ctrlPr>
                        </m:naryPr>
                        <m:sub>
                          <m:r>
                            <m:rPr>
                              <m:brk m:alnAt="7"/>
                            </m:rPr>
                            <a:rPr lang="vi-VN" i="1">
                              <a:latin typeface="Cambria Math" panose="02040503050406030204" pitchFamily="18" charset="0"/>
                            </a:rPr>
                            <m:t>𝑗</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𝑖</m:t>
                          </m:r>
                        </m:sub>
                        <m:sup/>
                        <m:e>
                          <m:r>
                            <a:rPr lang="vi-VN" b="0" i="1" smtClean="0">
                              <a:latin typeface="Cambria Math" panose="02040503050406030204" pitchFamily="18" charset="0"/>
                            </a:rPr>
                            <m:t>𝜒</m:t>
                          </m:r>
                          <m:r>
                            <a:rPr lang="vi-VN" b="0" i="1" smtClean="0">
                              <a:latin typeface="Cambria Math" panose="02040503050406030204" pitchFamily="18" charset="0"/>
                            </a:rPr>
                            <m:t>(</m:t>
                          </m:r>
                          <m:sSub>
                            <m:sSubPr>
                              <m:ctrlPr>
                                <a:rPr lang="vi-VN" b="0"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r>
                            <a:rPr lang="vi-VN" i="1" smtClean="0">
                              <a:latin typeface="Cambria Math" panose="02040503050406030204" pitchFamily="18" charset="0"/>
                              <a:ea typeface="Cambria Math" panose="02040503050406030204" pitchFamily="18" charset="0"/>
                            </a:rPr>
                            <m:t>−</m:t>
                          </m:r>
                          <m:sSub>
                            <m:sSubPr>
                              <m:ctrlPr>
                                <a:rPr lang="vi-VN" b="0"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r>
                            <a:rPr lang="vi-VN" b="0" i="1" smtClean="0">
                              <a:latin typeface="Cambria Math" panose="02040503050406030204" pitchFamily="18" charset="0"/>
                            </a:rPr>
                            <m:t>)</m:t>
                          </m:r>
                        </m:e>
                      </m:nary>
                    </m:oMath>
                  </m:oMathPara>
                </a14:m>
                <a:endParaRPr lang="vi-VN" dirty="0">
                  <a:latin typeface="+mj-lt"/>
                </a:endParaRPr>
              </a:p>
              <a:p>
                <a:pPr>
                  <a:lnSpc>
                    <a:spcPct val="200000"/>
                  </a:lnSpc>
                </a:pPr>
                <a:r>
                  <a:rPr lang="vi-VN" dirty="0">
                    <a:latin typeface="+mj-lt"/>
                  </a:rPr>
                  <a:t>Trong đó:</a:t>
                </a:r>
              </a:p>
              <a:p>
                <a:pPr>
                  <a:lnSpc>
                    <a:spcPct val="120000"/>
                  </a:lnSpc>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rPr>
                        <m:t>𝜒</m:t>
                      </m:r>
                      <m:r>
                        <a:rPr lang="vi-VN" b="0" i="1" smtClean="0">
                          <a:latin typeface="Cambria Math" panose="02040503050406030204" pitchFamily="18" charset="0"/>
                        </a:rPr>
                        <m:t>(</m:t>
                      </m:r>
                      <m:r>
                        <a:rPr lang="vi-VN" i="1">
                          <a:latin typeface="Cambria Math" panose="02040503050406030204" pitchFamily="18" charset="0"/>
                        </a:rPr>
                        <m:t>𝑥</m:t>
                      </m:r>
                      <m:r>
                        <a:rPr lang="vi-VN" b="0" i="1" smtClean="0">
                          <a:latin typeface="Cambria Math" panose="02040503050406030204" pitchFamily="18" charset="0"/>
                        </a:rPr>
                        <m:t>)=</m:t>
                      </m:r>
                      <m:d>
                        <m:dPr>
                          <m:begChr m:val="{"/>
                          <m:endChr m:val=""/>
                          <m:ctrlPr>
                            <a:rPr lang="vi-VN" b="0" i="1" smtClean="0">
                              <a:latin typeface="Cambria Math" panose="02040503050406030204" pitchFamily="18" charset="0"/>
                            </a:rPr>
                          </m:ctrlPr>
                        </m:dPr>
                        <m:e>
                          <m:eqArr>
                            <m:eqArrPr>
                              <m:ctrlPr>
                                <a:rPr lang="vi-VN" b="0" i="1" smtClean="0">
                                  <a:latin typeface="Cambria Math" panose="02040503050406030204" pitchFamily="18" charset="0"/>
                                </a:rPr>
                              </m:ctrlPr>
                            </m:eqArrPr>
                            <m:e>
                              <m:r>
                                <a:rPr lang="vi-VN" i="1">
                                  <a:latin typeface="Cambria Math" panose="02040503050406030204" pitchFamily="18" charset="0"/>
                                </a:rPr>
                                <m:t>1</m:t>
                              </m:r>
                              <m:r>
                                <a:rPr lang="vi-VN" b="0" i="1" smtClean="0">
                                  <a:latin typeface="Cambria Math" panose="02040503050406030204" pitchFamily="18" charset="0"/>
                                </a:rPr>
                                <m:t> </m:t>
                              </m:r>
                              <m:r>
                                <m:rPr>
                                  <m:sty m:val="p"/>
                                </m:rPr>
                                <a:rPr lang="vi-VN" i="1">
                                  <a:latin typeface="Cambria Math" panose="02040503050406030204" pitchFamily="18" charset="0"/>
                                </a:rPr>
                                <m:t>n</m:t>
                              </m:r>
                              <m:r>
                                <a:rPr lang="vi-VN" i="1">
                                  <a:latin typeface="Cambria Math" panose="02040503050406030204" pitchFamily="18" charset="0"/>
                                </a:rPr>
                                <m:t>ế</m:t>
                              </m:r>
                              <m:r>
                                <m:rPr>
                                  <m:sty m:val="p"/>
                                </m:rPr>
                                <a:rPr lang="vi-VN" i="1">
                                  <a:latin typeface="Cambria Math" panose="02040503050406030204" pitchFamily="18" charset="0"/>
                                </a:rPr>
                                <m:t>u</m:t>
                              </m:r>
                              <m:r>
                                <a:rPr lang="vi-VN" b="0" i="1" smtClean="0">
                                  <a:latin typeface="Cambria Math" panose="02040503050406030204" pitchFamily="18" charset="0"/>
                                </a:rPr>
                                <m:t> </m:t>
                              </m:r>
                              <m:r>
                                <m:rPr>
                                  <m:sty m:val="p"/>
                                </m:rPr>
                                <a:rPr lang="vi-VN" i="1">
                                  <a:latin typeface="Cambria Math" panose="02040503050406030204" pitchFamily="18" charset="0"/>
                                </a:rPr>
                                <m:t>x</m:t>
                              </m:r>
                              <m:r>
                                <a:rPr lang="vi-VN" i="1">
                                  <a:latin typeface="Cambria Math" panose="02040503050406030204" pitchFamily="18" charset="0"/>
                                  <a:ea typeface="Cambria Math" panose="02040503050406030204" pitchFamily="18" charset="0"/>
                                </a:rPr>
                                <m:t>&lt;</m:t>
                              </m:r>
                              <m:r>
                                <a:rPr lang="vi-VN" i="1" smtClean="0">
                                  <a:latin typeface="Cambria Math" panose="02040503050406030204" pitchFamily="18" charset="0"/>
                                  <a:ea typeface="Cambria Math" panose="02040503050406030204" pitchFamily="18" charset="0"/>
                                </a:rPr>
                                <m:t>0</m:t>
                              </m:r>
                            </m:e>
                            <m:e>
                              <m:r>
                                <a:rPr lang="vi-VN" i="1">
                                  <a:latin typeface="Cambria Math" panose="02040503050406030204" pitchFamily="18" charset="0"/>
                                </a:rPr>
                                <m:t>0</m:t>
                              </m:r>
                              <m:r>
                                <a:rPr lang="vi-VN" b="0" i="1" smtClean="0">
                                  <a:latin typeface="Cambria Math" panose="02040503050406030204" pitchFamily="18" charset="0"/>
                                </a:rPr>
                                <m:t> </m:t>
                              </m:r>
                              <m:r>
                                <m:rPr>
                                  <m:sty m:val="p"/>
                                </m:rPr>
                                <a:rPr lang="vi-VN" i="1">
                                  <a:latin typeface="Cambria Math" panose="02040503050406030204" pitchFamily="18" charset="0"/>
                                </a:rPr>
                                <m:t>n</m:t>
                              </m:r>
                              <m:r>
                                <a:rPr lang="vi-VN" i="1">
                                  <a:latin typeface="Cambria Math" panose="02040503050406030204" pitchFamily="18" charset="0"/>
                                </a:rPr>
                                <m:t>ế</m:t>
                              </m:r>
                              <m:r>
                                <m:rPr>
                                  <m:sty m:val="p"/>
                                </m:rPr>
                                <a:rPr lang="vi-VN" i="1">
                                  <a:latin typeface="Cambria Math" panose="02040503050406030204" pitchFamily="18" charset="0"/>
                                </a:rPr>
                                <m:t>u</m:t>
                              </m:r>
                              <m:r>
                                <a:rPr lang="vi-VN" b="0" i="1" smtClean="0">
                                  <a:latin typeface="Cambria Math" panose="02040503050406030204" pitchFamily="18" charset="0"/>
                                </a:rPr>
                                <m:t> </m:t>
                              </m:r>
                              <m:r>
                                <m:rPr>
                                  <m:sty m:val="p"/>
                                </m:rPr>
                                <a:rPr lang="vi-VN" i="1">
                                  <a:latin typeface="Cambria Math" panose="02040503050406030204" pitchFamily="18" charset="0"/>
                                </a:rPr>
                                <m:t>x</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0</m:t>
                              </m:r>
                            </m:e>
                          </m:eqArr>
                        </m:e>
                      </m:d>
                    </m:oMath>
                  </m:oMathPara>
                </a14:m>
                <a:endParaRPr lang="vi-VN" dirty="0">
                  <a:latin typeface="+mj-lt"/>
                </a:endParaRPr>
              </a:p>
              <a:p>
                <a:pPr>
                  <a:lnSpc>
                    <a:spcPct val="200000"/>
                  </a:lnSpc>
                </a:pPr>
                <a:r>
                  <a:rPr lang="vi-VN" dirty="0">
                    <a:latin typeface="+mj-lt"/>
                  </a:rPr>
                  <a:t>Ý nghĩa:</a:t>
                </a:r>
              </a:p>
              <a:p>
                <a:pPr marL="285750" indent="-285750">
                  <a:lnSpc>
                    <a:spcPct val="150000"/>
                  </a:lnSpc>
                  <a:buFont typeface="Courier New" panose="02070309020205020404" pitchFamily="49" charset="0"/>
                  <a:buChar char="o"/>
                </a:pPr>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d</m:t>
                        </m:r>
                      </m:e>
                      <m:sub>
                        <m:r>
                          <m:rPr>
                            <m:sty m:val="p"/>
                          </m:rPr>
                          <a:rPr lang="vi-VN" i="1">
                            <a:latin typeface="Cambria Math" panose="02040503050406030204" pitchFamily="18" charset="0"/>
                          </a:rPr>
                          <m:t>ij</m:t>
                        </m:r>
                      </m:sub>
                    </m:sSub>
                  </m:oMath>
                </a14:m>
                <a:r>
                  <a:rPr lang="vi-VN" dirty="0">
                    <a:latin typeface="+mj-lt"/>
                  </a:rPr>
                  <a:t>: khoảng cách giữa điểm </a:t>
                </a:r>
                <a14:m>
                  <m:oMath xmlns:m="http://schemas.openxmlformats.org/officeDocument/2006/math">
                    <m:r>
                      <m:rPr>
                        <m:sty m:val="p"/>
                      </m:rPr>
                      <a:rPr lang="vi-VN" dirty="0">
                        <a:latin typeface="Cambria Math" panose="02040503050406030204" pitchFamily="18" charset="0"/>
                      </a:rPr>
                      <m:t>i</m:t>
                    </m:r>
                  </m:oMath>
                </a14:m>
                <a:r>
                  <a:rPr lang="vi-VN" dirty="0">
                    <a:latin typeface="+mj-lt"/>
                  </a:rPr>
                  <a:t> và </a:t>
                </a:r>
                <a14:m>
                  <m:oMath xmlns:m="http://schemas.openxmlformats.org/officeDocument/2006/math">
                    <m:r>
                      <m:rPr>
                        <m:sty m:val="p"/>
                      </m:rPr>
                      <a:rPr lang="vi-VN" dirty="0">
                        <a:latin typeface="Cambria Math" panose="02040503050406030204" pitchFamily="18" charset="0"/>
                      </a:rPr>
                      <m:t>j</m:t>
                    </m:r>
                  </m:oMath>
                </a14:m>
                <a:r>
                  <a:rPr lang="vi-VN" dirty="0">
                    <a:latin typeface="+mj-lt"/>
                  </a:rPr>
                  <a:t>.</a:t>
                </a:r>
              </a:p>
              <a:p>
                <a:pPr marL="285750" indent="-285750">
                  <a:lnSpc>
                    <a:spcPct val="150000"/>
                  </a:lnSpc>
                  <a:buFont typeface="Courier New" panose="02070309020205020404" pitchFamily="49" charset="0"/>
                  <a:buChar char="o"/>
                </a:pPr>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d</m:t>
                        </m:r>
                      </m:e>
                      <m:sub>
                        <m:r>
                          <m:rPr>
                            <m:sty m:val="p"/>
                          </m:rPr>
                          <a:rPr lang="vi-VN" i="1">
                            <a:latin typeface="Cambria Math" panose="02040503050406030204" pitchFamily="18" charset="0"/>
                          </a:rPr>
                          <m:t>c</m:t>
                        </m:r>
                      </m:sub>
                    </m:sSub>
                  </m:oMath>
                </a14:m>
                <a:r>
                  <a:rPr lang="vi-VN" dirty="0">
                    <a:latin typeface="+mj-lt"/>
                  </a:rPr>
                  <a:t>: ngưỡng cut-off distance</a:t>
                </a:r>
              </a:p>
              <a:p>
                <a:pPr marL="285750" indent="-285750">
                  <a:lnSpc>
                    <a:spcPct val="150000"/>
                  </a:lnSpc>
                  <a:buFont typeface="Courier New" panose="02070309020205020404" pitchFamily="49" charset="0"/>
                  <a:buChar char="o"/>
                </a:pPr>
                <a:r>
                  <a:rPr lang="vi-VN" dirty="0">
                    <a:latin typeface="+mj-lt"/>
                  </a:rPr>
                  <a:t>Nếu </a:t>
                </a:r>
                <a14:m>
                  <m:oMath xmlns:m="http://schemas.openxmlformats.org/officeDocument/2006/math">
                    <m:r>
                      <m:rPr>
                        <m:sty m:val="p"/>
                      </m:rPr>
                      <a:rPr lang="vi-VN" dirty="0">
                        <a:latin typeface="Cambria Math" panose="02040503050406030204" pitchFamily="18" charset="0"/>
                      </a:rPr>
                      <m:t>j</m:t>
                    </m:r>
                  </m:oMath>
                </a14:m>
                <a:r>
                  <a:rPr lang="vi-VN" dirty="0">
                    <a:latin typeface="+mj-lt"/>
                  </a:rPr>
                  <a:t> đủ gần </a:t>
                </a:r>
                <a14:m>
                  <m:oMath xmlns:m="http://schemas.openxmlformats.org/officeDocument/2006/math">
                    <m:r>
                      <m:rPr>
                        <m:sty m:val="p"/>
                      </m:rPr>
                      <a:rPr lang="vi-VN" dirty="0">
                        <a:latin typeface="Cambria Math" panose="02040503050406030204" pitchFamily="18" charset="0"/>
                      </a:rPr>
                      <m:t>i</m:t>
                    </m:r>
                  </m:oMath>
                </a14:m>
                <a:r>
                  <a:rPr lang="vi-VN" dirty="0">
                    <a:latin typeface="+mj-lt"/>
                  </a:rPr>
                  <a:t> thì cộng 1 vào mật độ</a:t>
                </a:r>
                <a:endParaRPr lang="en-US" dirty="0">
                  <a:latin typeface="+mj-lt"/>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7337900" y="1728000"/>
                <a:ext cx="3861042" cy="4446858"/>
              </a:xfrm>
              <a:prstGeom prst="rect">
                <a:avLst/>
              </a:prstGeom>
              <a:blipFill rotWithShape="1">
                <a:blip r:embed="rId3"/>
                <a:stretch>
                  <a:fillRect l="-12" t="-4" r="2" b="3"/>
                </a:stretch>
              </a:blipFill>
            </p:spPr>
            <p:txBody>
              <a:bodyPr/>
              <a:lstStyle/>
              <a:p>
                <a:r>
                  <a:rPr lang="en-US" altLang="en-US">
                    <a:noFill/>
                  </a:rPr>
                  <a:t> </a:t>
                </a:r>
              </a:p>
            </p:txBody>
          </p:sp>
        </mc:Fallback>
      </mc:AlternateContent>
      <p:sp>
        <p:nvSpPr>
          <p:cNvPr id="8" name="Slide Number Placeholder 7"/>
          <p:cNvSpPr>
            <a:spLocks noGrp="1"/>
          </p:cNvSpPr>
          <p:nvPr>
            <p:ph type="sldNum" sz="quarter" idx="12"/>
          </p:nvPr>
        </p:nvSpPr>
        <p:spPr/>
        <p:txBody>
          <a:bodyPr/>
          <a:lstStyle/>
          <a:p>
            <a:fld id="{9B618960-8005-486C-9A75-10CB2AAC16F9}"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p:cNvSpPr txBox="1"/>
              <p:nvPr/>
            </p:nvSpPr>
            <p:spPr>
              <a:xfrm>
                <a:off x="1079999" y="2354094"/>
                <a:ext cx="5645265" cy="336496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Các bước thực hiện thuật toán CFSFDP</a:t>
                </a:r>
              </a:p>
              <a:p>
                <a:pPr algn="just">
                  <a:lnSpc>
                    <a:spcPct val="150000"/>
                  </a:lnSpc>
                </a:pPr>
                <a:r>
                  <a:rPr lang="vi-VN" dirty="0">
                    <a:latin typeface="+mj-lt"/>
                  </a:rPr>
                  <a:t>Bước 3: Tính mật độ cục bộ </a:t>
                </a:r>
                <a14:m>
                  <m:oMath xmlns:m="http://schemas.openxmlformats.org/officeDocument/2006/math">
                    <m:r>
                      <a:rPr lang="en-US" altLang="vi-VN" i="1" dirty="0">
                        <a:latin typeface="Cambria Math" panose="02040503050406030204" pitchFamily="18" charset="0"/>
                        <a:cs typeface="Cambria Math" panose="02040503050406030204" pitchFamily="18" charset="0"/>
                      </a:rPr>
                      <m:t>(</m:t>
                    </m:r>
                    <m:sSub>
                      <m:sSubPr>
                        <m:ctrlPr>
                          <a:rPr lang="en-US" altLang="vi-VN" i="1" dirty="0">
                            <a:latin typeface="Cambria Math" panose="02040503050406030204" pitchFamily="18" charset="0"/>
                            <a:cs typeface="Cambria Math" panose="02040503050406030204" pitchFamily="18" charset="0"/>
                          </a:rPr>
                        </m:ctrlPr>
                      </m:sSubPr>
                      <m:e>
                        <m:r>
                          <a:rPr lang="en-US" altLang="vi-VN" i="1" dirty="0">
                            <a:latin typeface="Cambria Math" panose="02040503050406030204" pitchFamily="18" charset="0"/>
                            <a:cs typeface="Cambria Math" panose="02040503050406030204" pitchFamily="18" charset="0"/>
                          </a:rPr>
                          <m:t>𝜌</m:t>
                        </m:r>
                      </m:e>
                      <m:sub>
                        <m:r>
                          <a:rPr lang="vi-VN" altLang="en-US" i="1" dirty="0">
                            <a:latin typeface="Cambria Math" panose="02040503050406030204" pitchFamily="18" charset="0"/>
                            <a:cs typeface="Cambria Math" panose="02040503050406030204" pitchFamily="18" charset="0"/>
                          </a:rPr>
                          <m:t>𝑖</m:t>
                        </m:r>
                      </m:sub>
                    </m:sSub>
                    <m:r>
                      <a:rPr lang="en-US" altLang="vi-VN" i="1" dirty="0">
                        <a:latin typeface="Cambria Math" panose="02040503050406030204" pitchFamily="18" charset="0"/>
                        <a:cs typeface="Cambria Math" panose="02040503050406030204" pitchFamily="18" charset="0"/>
                      </a:rPr>
                      <m:t>)</m:t>
                    </m:r>
                  </m:oMath>
                </a14:m>
                <a:endParaRPr lang="vi-VN" dirty="0">
                  <a:latin typeface="+mj-lt"/>
                </a:endParaRPr>
              </a:p>
              <a:p>
                <a:pPr marL="285750" indent="-285750" algn="just">
                  <a:lnSpc>
                    <a:spcPct val="150000"/>
                  </a:lnSpc>
                  <a:buFontTx/>
                  <a:buChar char="⁃"/>
                </a:pPr>
                <a:r>
                  <a:rPr lang="vi-VN" dirty="0">
                    <a:latin typeface="+mj-lt"/>
                  </a:rPr>
                  <a:t>Mật độ cục bộ của điểm </a:t>
                </a:r>
                <a14:m>
                  <m:oMath xmlns:m="http://schemas.openxmlformats.org/officeDocument/2006/math">
                    <m:r>
                      <a:rPr lang="vi-VN" i="1" dirty="0">
                        <a:latin typeface="Cambria Math" panose="02040503050406030204" pitchFamily="18" charset="0"/>
                        <a:cs typeface="Cambria Math" panose="02040503050406030204" pitchFamily="18" charset="0"/>
                      </a:rPr>
                      <m:t>𝑖</m:t>
                    </m:r>
                    <m:r>
                      <a:rPr lang="en-US" altLang="vi-VN" b="1" i="1" dirty="0">
                        <a:latin typeface="Cambria Math" panose="02040503050406030204" pitchFamily="18" charset="0"/>
                        <a:ea typeface="MS Mincho" charset="0"/>
                        <a:cs typeface="Cambria Math" panose="02040503050406030204" pitchFamily="18" charset="0"/>
                      </a:rPr>
                      <m:t> </m:t>
                    </m:r>
                  </m:oMath>
                </a14:m>
                <a:r>
                  <a:rPr lang="vi-VN" dirty="0">
                    <a:latin typeface="Cambria Math" panose="02040503050406030204" pitchFamily="18" charset="0"/>
                    <a:cs typeface="Cambria Math" panose="02040503050406030204" pitchFamily="18" charset="0"/>
                  </a:rPr>
                  <a:t>được tính dựa trên số lượng điểm nằm trong phạm vi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altLang="en-US" dirty="0">
                    <a:latin typeface="Cambria Math" panose="02040503050406030204" pitchFamily="18" charset="0"/>
                    <a:cs typeface="Cambria Math" panose="02040503050406030204" pitchFamily="18" charset="0"/>
                  </a:rPr>
                  <a:t>.</a:t>
                </a:r>
              </a:p>
              <a:p>
                <a:pPr marL="285750" indent="-285750" algn="just">
                  <a:lnSpc>
                    <a:spcPct val="150000"/>
                  </a:lnSpc>
                  <a:buFontTx/>
                  <a:buChar char="⁃"/>
                </a:pPr>
                <a:r>
                  <a:rPr lang="vi-VN" altLang="en-US" dirty="0">
                    <a:latin typeface="Cambria Math" panose="02040503050406030204" pitchFamily="18" charset="0"/>
                    <a:cs typeface="Cambria Math" panose="02040503050406030204" pitchFamily="18" charset="0"/>
                  </a:rPr>
                  <a:t>Có 2 cách tính phổ biến:</a:t>
                </a:r>
              </a:p>
              <a:p>
                <a:pPr marL="742950" lvl="1" indent="-285750" algn="just">
                  <a:lnSpc>
                    <a:spcPct val="150000"/>
                  </a:lnSpc>
                  <a:buFont typeface="Arial" panose="020B0604020202020204" pitchFamily="34" charset="0"/>
                  <a:buChar char="•"/>
                </a:pPr>
                <a:r>
                  <a:rPr lang="vi-VN" altLang="en-US" dirty="0">
                    <a:latin typeface="Cambria Math" panose="02040503050406030204" pitchFamily="18" charset="0"/>
                    <a:cs typeface="Cambria Math" panose="02040503050406030204" pitchFamily="18" charset="0"/>
                  </a:rPr>
                  <a:t>Cut-off Kernel (công thức gốc trong paper)</a:t>
                </a:r>
              </a:p>
              <a:p>
                <a:pPr marL="742950" lvl="1" indent="-285750" algn="just">
                  <a:lnSpc>
                    <a:spcPct val="150000"/>
                  </a:lnSpc>
                  <a:buFont typeface="Arial" panose="020B0604020202020204" pitchFamily="34" charset="0"/>
                  <a:buChar char="•"/>
                </a:pPr>
                <a:r>
                  <a:rPr lang="vi-VN" altLang="en-US" dirty="0">
                    <a:latin typeface="Cambria Math" panose="02040503050406030204" pitchFamily="18" charset="0"/>
                    <a:cs typeface="Cambria Math" panose="02040503050406030204" pitchFamily="18" charset="0"/>
                  </a:rPr>
                  <a:t>Gaussian Kernel (mượt hơn, hay dùng hiện nay)</a:t>
                </a:r>
              </a:p>
              <a:p>
                <a:pPr marL="285750" indent="-285750" algn="just">
                  <a:lnSpc>
                    <a:spcPct val="150000"/>
                  </a:lnSpc>
                  <a:buFontTx/>
                  <a:buChar char="⁃"/>
                </a:pPr>
                <a:endParaRPr lang="vi-VN" altLang="en-US" dirty="0">
                  <a:latin typeface="Cambria Math" panose="02040503050406030204" pitchFamily="18" charset="0"/>
                  <a:cs typeface="Cambria Math" panose="02040503050406030204" pitchFamily="18" charset="0"/>
                </a:endParaRPr>
              </a:p>
            </p:txBody>
          </p:sp>
        </mc:Choice>
        <mc:Fallback xmlns="">
          <p:sp>
            <p:nvSpPr>
              <p:cNvPr id="7" name="TextBox 5"/>
              <p:cNvSpPr txBox="1">
                <a:spLocks noRot="1" noChangeAspect="1" noMove="1" noResize="1" noEditPoints="1" noAdjustHandles="1" noChangeArrowheads="1" noChangeShapeType="1" noTextEdit="1"/>
              </p:cNvSpPr>
              <p:nvPr/>
            </p:nvSpPr>
            <p:spPr>
              <a:xfrm>
                <a:off x="1079999" y="2354094"/>
                <a:ext cx="5645265" cy="3364960"/>
              </a:xfrm>
              <a:prstGeom prst="rect">
                <a:avLst/>
              </a:prstGeom>
              <a:blipFill rotWithShape="1">
                <a:blip r:embed="rId2"/>
                <a:stretch>
                  <a:fillRect l="-9" t="-4" r="11" b="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7337900" y="1728000"/>
                <a:ext cx="3861042" cy="2771143"/>
              </a:xfrm>
              <a:prstGeom prst="rect">
                <a:avLst/>
              </a:prstGeom>
              <a:noFill/>
            </p:spPr>
            <p:txBody>
              <a:bodyPr wrap="square" rtlCol="0">
                <a:spAutoFit/>
              </a:bodyPr>
              <a:lstStyle/>
              <a:p>
                <a:pPr>
                  <a:lnSpc>
                    <a:spcPct val="150000"/>
                  </a:lnSpc>
                </a:pPr>
                <a:r>
                  <a:rPr lang="vi-VN" dirty="0">
                    <a:latin typeface="+mj-lt"/>
                  </a:rPr>
                  <a:t>Gaussian Kernel:</a:t>
                </a:r>
              </a:p>
              <a:p>
                <a:pPr>
                  <a:lnSpc>
                    <a:spcPct val="120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r>
                        <a:rPr lang="vi-VN" b="0" i="1" smtClean="0">
                          <a:latin typeface="Cambria Math" panose="02040503050406030204" pitchFamily="18" charset="0"/>
                        </a:rPr>
                        <m:t>=</m:t>
                      </m:r>
                      <m:nary>
                        <m:naryPr>
                          <m:chr m:val="∑"/>
                          <m:supHide m:val="on"/>
                          <m:ctrlPr>
                            <a:rPr lang="vi-VN" b="0" i="1" smtClean="0">
                              <a:latin typeface="Cambria Math" panose="02040503050406030204" pitchFamily="18" charset="0"/>
                            </a:rPr>
                          </m:ctrlPr>
                        </m:naryPr>
                        <m:sub>
                          <m:r>
                            <m:rPr>
                              <m:brk m:alnAt="7"/>
                            </m:rPr>
                            <a:rPr lang="vi-VN" i="1">
                              <a:latin typeface="Cambria Math" panose="02040503050406030204" pitchFamily="18" charset="0"/>
                            </a:rPr>
                            <m:t>𝑗</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𝑖</m:t>
                          </m:r>
                        </m:sub>
                        <m:sup/>
                        <m:e>
                          <m:sSup>
                            <m:sSupPr>
                              <m:ctrlPr>
                                <a:rPr lang="vi-VN" i="1" smtClean="0">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𝑒</m:t>
                              </m:r>
                            </m:e>
                            <m:sup>
                              <m:sSup>
                                <m:sSupPr>
                                  <m:ctrlPr>
                                    <a:rPr lang="vi-VN" i="1" smtClean="0">
                                      <a:latin typeface="Cambria Math" panose="02040503050406030204" pitchFamily="18" charset="0"/>
                                      <a:ea typeface="Cambria Math" panose="02040503050406030204" pitchFamily="18" charset="0"/>
                                    </a:rPr>
                                  </m:ctrlPr>
                                </m:sSupPr>
                                <m:e>
                                  <m:r>
                                    <a:rPr lang="vi-VN" b="0" i="1" smtClean="0">
                                      <a:latin typeface="Cambria Math" panose="02040503050406030204" pitchFamily="18" charset="0"/>
                                      <a:ea typeface="Cambria Math" panose="02040503050406030204" pitchFamily="18" charset="0"/>
                                    </a:rPr>
                                    <m:t>−(</m:t>
                                  </m:r>
                                  <m:f>
                                    <m:fPr>
                                      <m:ctrlPr>
                                        <a:rPr lang="vi-VN" b="0" i="1" smtClean="0">
                                          <a:latin typeface="Cambria Math" panose="02040503050406030204" pitchFamily="18" charset="0"/>
                                          <a:ea typeface="Cambria Math" panose="02040503050406030204" pitchFamily="18" charset="0"/>
                                        </a:rPr>
                                      </m:ctrlPr>
                                    </m:fPr>
                                    <m:num>
                                      <m:sSub>
                                        <m:sSubPr>
                                          <m:ctrlPr>
                                            <a:rPr lang="vi-VN" b="0" i="1" smtClean="0">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𝑖𝑗</m:t>
                                          </m:r>
                                        </m:sub>
                                      </m:sSub>
                                    </m:num>
                                    <m:den>
                                      <m:sSub>
                                        <m:sSubPr>
                                          <m:ctrlPr>
                                            <a:rPr lang="vi-VN" b="0" i="1" smtClean="0">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𝑐</m:t>
                                          </m:r>
                                        </m:sub>
                                      </m:sSub>
                                    </m:den>
                                  </m:f>
                                  <m:r>
                                    <a:rPr lang="vi-VN" b="0" i="1" smtClean="0">
                                      <a:latin typeface="Cambria Math" panose="02040503050406030204" pitchFamily="18" charset="0"/>
                                      <a:ea typeface="Cambria Math" panose="02040503050406030204" pitchFamily="18" charset="0"/>
                                    </a:rPr>
                                    <m:t>)</m:t>
                                  </m:r>
                                </m:e>
                                <m:sup>
                                  <m:r>
                                    <a:rPr lang="vi-VN" i="1">
                                      <a:latin typeface="Cambria Math" panose="02040503050406030204" pitchFamily="18" charset="0"/>
                                      <a:ea typeface="Cambria Math" panose="02040503050406030204" pitchFamily="18" charset="0"/>
                                    </a:rPr>
                                    <m:t>2</m:t>
                                  </m:r>
                                </m:sup>
                              </m:sSup>
                            </m:sup>
                          </m:sSup>
                        </m:e>
                      </m:nary>
                    </m:oMath>
                  </m:oMathPara>
                </a14:m>
                <a:endParaRPr lang="vi-VN" dirty="0">
                  <a:latin typeface="+mj-lt"/>
                </a:endParaRPr>
              </a:p>
              <a:p>
                <a:pPr>
                  <a:lnSpc>
                    <a:spcPct val="200000"/>
                  </a:lnSpc>
                </a:pPr>
                <a:r>
                  <a:rPr lang="vi-VN" dirty="0">
                    <a:latin typeface="+mj-lt"/>
                  </a:rPr>
                  <a:t>Ý nghĩa:</a:t>
                </a:r>
              </a:p>
              <a:p>
                <a:pPr marL="285750" indent="-285750">
                  <a:lnSpc>
                    <a:spcPct val="150000"/>
                  </a:lnSpc>
                  <a:buFont typeface="Courier New" panose="02070309020205020404" pitchFamily="49" charset="0"/>
                  <a:buChar char="o"/>
                </a:pPr>
                <a:r>
                  <a:rPr lang="vi-VN" dirty="0">
                    <a:latin typeface="+mj-lt"/>
                  </a:rPr>
                  <a:t>Điểm càng gần, đóng góp càng lớn</a:t>
                </a:r>
              </a:p>
              <a:p>
                <a:pPr marL="285750" indent="-285750">
                  <a:lnSpc>
                    <a:spcPct val="150000"/>
                  </a:lnSpc>
                  <a:buFont typeface="Courier New" panose="02070309020205020404" pitchFamily="49" charset="0"/>
                  <a:buChar char="o"/>
                </a:pPr>
                <a:r>
                  <a:rPr lang="vi-VN" dirty="0">
                    <a:latin typeface="+mj-lt"/>
                  </a:rPr>
                  <a:t>Điểm xa, đóng góp gần 0</a:t>
                </a:r>
              </a:p>
            </p:txBody>
          </p:sp>
        </mc:Choice>
        <mc:Fallback xmlns="">
          <p:sp>
            <p:nvSpPr>
              <p:cNvPr id="2" name="TextBox 1"/>
              <p:cNvSpPr txBox="1">
                <a:spLocks noRot="1" noChangeAspect="1" noMove="1" noResize="1" noEditPoints="1" noAdjustHandles="1" noChangeArrowheads="1" noChangeShapeType="1" noTextEdit="1"/>
              </p:cNvSpPr>
              <p:nvPr/>
            </p:nvSpPr>
            <p:spPr>
              <a:xfrm>
                <a:off x="7337900" y="1728000"/>
                <a:ext cx="3861042" cy="2771143"/>
              </a:xfrm>
              <a:prstGeom prst="rect">
                <a:avLst/>
              </a:prstGeom>
              <a:blipFill rotWithShape="1">
                <a:blip r:embed="rId3"/>
                <a:stretch>
                  <a:fillRect l="-12" t="-6" r="2" b="6"/>
                </a:stretch>
              </a:blipFill>
            </p:spPr>
            <p:txBody>
              <a:bodyPr/>
              <a:lstStyle/>
              <a:p>
                <a:r>
                  <a:rPr lang="en-US" altLang="en-US">
                    <a:noFill/>
                  </a:rPr>
                  <a:t> </a:t>
                </a:r>
              </a:p>
            </p:txBody>
          </p:sp>
        </mc:Fallback>
      </mc:AlternateContent>
      <p:sp>
        <p:nvSpPr>
          <p:cNvPr id="4" name="Slide Number Placeholder 3"/>
          <p:cNvSpPr>
            <a:spLocks noGrp="1"/>
          </p:cNvSpPr>
          <p:nvPr>
            <p:ph type="sldNum" sz="quarter" idx="12"/>
          </p:nvPr>
        </p:nvSpPr>
        <p:spPr/>
        <p:txBody>
          <a:bodyPr/>
          <a:lstStyle/>
          <a:p>
            <a:fld id="{9B618960-8005-486C-9A75-10CB2AAC16F9}"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t>7</a:t>
            </a:fld>
            <a:endParaRPr lang="en-US" dirty="0"/>
          </a:p>
        </p:txBody>
      </p:sp>
      <p:sp>
        <p:nvSpPr>
          <p:cNvPr id="6"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7"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41" name="TextBox 5"/>
              <p:cNvSpPr txBox="1"/>
              <p:nvPr/>
            </p:nvSpPr>
            <p:spPr>
              <a:xfrm>
                <a:off x="1079999" y="2354094"/>
                <a:ext cx="5645265" cy="336496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Các bước thực hiện thuật toán CFSFDP</a:t>
                </a:r>
              </a:p>
              <a:p>
                <a:pPr algn="just">
                  <a:lnSpc>
                    <a:spcPct val="150000"/>
                  </a:lnSpc>
                </a:pPr>
                <a:r>
                  <a:rPr lang="vi-VN" dirty="0">
                    <a:latin typeface="+mj-lt"/>
                  </a:rPr>
                  <a:t>Bước 3: Tính mật độ cục bộ </a:t>
                </a:r>
                <a14:m>
                  <m:oMath xmlns:m="http://schemas.openxmlformats.org/officeDocument/2006/math">
                    <m:r>
                      <a:rPr lang="en-US" altLang="vi-VN" i="1" dirty="0">
                        <a:latin typeface="Cambria Math" panose="02040503050406030204" pitchFamily="18" charset="0"/>
                        <a:cs typeface="Cambria Math" panose="02040503050406030204" pitchFamily="18" charset="0"/>
                      </a:rPr>
                      <m:t>(</m:t>
                    </m:r>
                    <m:sSub>
                      <m:sSubPr>
                        <m:ctrlPr>
                          <a:rPr lang="en-US" altLang="vi-VN" i="1" dirty="0">
                            <a:latin typeface="Cambria Math" panose="02040503050406030204" pitchFamily="18" charset="0"/>
                            <a:cs typeface="Cambria Math" panose="02040503050406030204" pitchFamily="18" charset="0"/>
                          </a:rPr>
                        </m:ctrlPr>
                      </m:sSubPr>
                      <m:e>
                        <m:r>
                          <a:rPr lang="en-US" altLang="vi-VN" i="1" dirty="0">
                            <a:latin typeface="Cambria Math" panose="02040503050406030204" pitchFamily="18" charset="0"/>
                            <a:cs typeface="Cambria Math" panose="02040503050406030204" pitchFamily="18" charset="0"/>
                          </a:rPr>
                          <m:t>𝜌</m:t>
                        </m:r>
                      </m:e>
                      <m:sub>
                        <m:r>
                          <a:rPr lang="vi-VN" altLang="en-US" i="1" dirty="0">
                            <a:latin typeface="Cambria Math" panose="02040503050406030204" pitchFamily="18" charset="0"/>
                            <a:cs typeface="Cambria Math" panose="02040503050406030204" pitchFamily="18" charset="0"/>
                          </a:rPr>
                          <m:t>𝑖</m:t>
                        </m:r>
                      </m:sub>
                    </m:sSub>
                    <m:r>
                      <a:rPr lang="en-US" altLang="vi-VN" i="1" dirty="0">
                        <a:latin typeface="Cambria Math" panose="02040503050406030204" pitchFamily="18" charset="0"/>
                        <a:cs typeface="Cambria Math" panose="02040503050406030204" pitchFamily="18" charset="0"/>
                      </a:rPr>
                      <m:t>)</m:t>
                    </m:r>
                  </m:oMath>
                </a14:m>
                <a:endParaRPr lang="vi-VN" dirty="0">
                  <a:latin typeface="+mj-lt"/>
                </a:endParaRPr>
              </a:p>
              <a:p>
                <a:pPr marL="285750" indent="-285750" algn="just">
                  <a:lnSpc>
                    <a:spcPct val="150000"/>
                  </a:lnSpc>
                  <a:buFontTx/>
                  <a:buChar char="⁃"/>
                </a:pPr>
                <a:r>
                  <a:rPr lang="vi-VN" dirty="0">
                    <a:latin typeface="+mj-lt"/>
                  </a:rPr>
                  <a:t>Mật độ cục bộ của điểm </a:t>
                </a:r>
                <a14:m>
                  <m:oMath xmlns:m="http://schemas.openxmlformats.org/officeDocument/2006/math">
                    <m:r>
                      <a:rPr lang="vi-VN" i="1" dirty="0">
                        <a:latin typeface="Cambria Math" panose="02040503050406030204" pitchFamily="18" charset="0"/>
                        <a:cs typeface="Cambria Math" panose="02040503050406030204" pitchFamily="18" charset="0"/>
                      </a:rPr>
                      <m:t>𝑖</m:t>
                    </m:r>
                    <m:r>
                      <a:rPr lang="en-US" altLang="vi-VN" b="1" i="1" dirty="0">
                        <a:latin typeface="Cambria Math" panose="02040503050406030204" pitchFamily="18" charset="0"/>
                        <a:ea typeface="MS Mincho" charset="0"/>
                        <a:cs typeface="Cambria Math" panose="02040503050406030204" pitchFamily="18" charset="0"/>
                      </a:rPr>
                      <m:t> </m:t>
                    </m:r>
                  </m:oMath>
                </a14:m>
                <a:r>
                  <a:rPr lang="vi-VN" dirty="0">
                    <a:latin typeface="Cambria Math" panose="02040503050406030204" pitchFamily="18" charset="0"/>
                    <a:cs typeface="Cambria Math" panose="02040503050406030204" pitchFamily="18" charset="0"/>
                  </a:rPr>
                  <a:t>được tính dựa trên số lượng điểm nằm trong phạm vi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altLang="en-US" dirty="0">
                    <a:latin typeface="Cambria Math" panose="02040503050406030204" pitchFamily="18" charset="0"/>
                    <a:cs typeface="Cambria Math" panose="02040503050406030204" pitchFamily="18" charset="0"/>
                  </a:rPr>
                  <a:t>.</a:t>
                </a:r>
              </a:p>
              <a:p>
                <a:pPr marL="285750" indent="-285750" algn="just">
                  <a:lnSpc>
                    <a:spcPct val="150000"/>
                  </a:lnSpc>
                  <a:buFontTx/>
                  <a:buChar char="⁃"/>
                </a:pPr>
                <a:r>
                  <a:rPr lang="vi-VN" altLang="en-US" dirty="0">
                    <a:latin typeface="Cambria Math" panose="02040503050406030204" pitchFamily="18" charset="0"/>
                    <a:cs typeface="Cambria Math" panose="02040503050406030204" pitchFamily="18" charset="0"/>
                  </a:rPr>
                  <a:t>Có 2 cách tính phổ biến:</a:t>
                </a:r>
              </a:p>
              <a:p>
                <a:pPr marL="742950" lvl="1" indent="-285750" algn="just">
                  <a:lnSpc>
                    <a:spcPct val="150000"/>
                  </a:lnSpc>
                  <a:buFont typeface="Arial" panose="020B0604020202020204" pitchFamily="34" charset="0"/>
                  <a:buChar char="•"/>
                </a:pPr>
                <a:r>
                  <a:rPr lang="vi-VN" altLang="en-US" dirty="0">
                    <a:latin typeface="Cambria Math" panose="02040503050406030204" pitchFamily="18" charset="0"/>
                    <a:cs typeface="Cambria Math" panose="02040503050406030204" pitchFamily="18" charset="0"/>
                  </a:rPr>
                  <a:t>Cut-off Kernel (công thức gốc trong paper)</a:t>
                </a:r>
              </a:p>
              <a:p>
                <a:pPr marL="742950" lvl="1" indent="-285750" algn="just">
                  <a:lnSpc>
                    <a:spcPct val="150000"/>
                  </a:lnSpc>
                  <a:buFont typeface="Arial" panose="020B0604020202020204" pitchFamily="34" charset="0"/>
                  <a:buChar char="•"/>
                </a:pPr>
                <a:r>
                  <a:rPr lang="vi-VN" altLang="en-US" dirty="0">
                    <a:latin typeface="Cambria Math" panose="02040503050406030204" pitchFamily="18" charset="0"/>
                    <a:cs typeface="Cambria Math" panose="02040503050406030204" pitchFamily="18" charset="0"/>
                  </a:rPr>
                  <a:t>Gaussian Kernel (mượt hơn, hay dùng hiện nay)</a:t>
                </a:r>
              </a:p>
              <a:p>
                <a:pPr marL="285750" indent="-285750" algn="just">
                  <a:lnSpc>
                    <a:spcPct val="150000"/>
                  </a:lnSpc>
                  <a:buFontTx/>
                  <a:buChar char="⁃"/>
                </a:pPr>
                <a:endParaRPr lang="vi-VN" altLang="en-US" dirty="0">
                  <a:latin typeface="Cambria Math" panose="02040503050406030204" pitchFamily="18" charset="0"/>
                  <a:cs typeface="Cambria Math" panose="02040503050406030204" pitchFamily="18" charset="0"/>
                </a:endParaRPr>
              </a:p>
            </p:txBody>
          </p:sp>
        </mc:Choice>
        <mc:Fallback xmlns="">
          <p:sp>
            <p:nvSpPr>
              <p:cNvPr id="41" name="TextBox 5"/>
              <p:cNvSpPr txBox="1">
                <a:spLocks noRot="1" noChangeAspect="1" noMove="1" noResize="1" noEditPoints="1" noAdjustHandles="1" noChangeArrowheads="1" noChangeShapeType="1" noTextEdit="1"/>
              </p:cNvSpPr>
              <p:nvPr/>
            </p:nvSpPr>
            <p:spPr>
              <a:xfrm>
                <a:off x="1079999" y="2354094"/>
                <a:ext cx="5645265" cy="3364960"/>
              </a:xfrm>
              <a:prstGeom prst="rect">
                <a:avLst/>
              </a:prstGeom>
              <a:blipFill rotWithShape="1">
                <a:blip r:embed="rId2"/>
                <a:stretch>
                  <a:fillRect l="-9" t="-4" r="11" b="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7167716" y="1541187"/>
                <a:ext cx="4386737" cy="4660635"/>
              </a:xfrm>
              <a:prstGeom prst="rect">
                <a:avLst/>
              </a:prstGeom>
              <a:noFill/>
            </p:spPr>
            <p:txBody>
              <a:bodyPr wrap="square" rtlCol="0">
                <a:spAutoFit/>
              </a:bodyPr>
              <a:lstStyle/>
              <a:p>
                <a:pPr>
                  <a:lnSpc>
                    <a:spcPct val="150000"/>
                  </a:lnSpc>
                </a:pPr>
                <a:r>
                  <a:rPr lang="vi-VN" dirty="0">
                    <a:latin typeface="+mj-lt"/>
                  </a:rPr>
                  <a:t>Ví dụ trực quan:</a:t>
                </a:r>
              </a:p>
              <a:p>
                <a:pPr>
                  <a:lnSpc>
                    <a:spcPct val="150000"/>
                  </a:lnSpc>
                </a:pPr>
                <a:r>
                  <a:rPr lang="vi-VN" dirty="0">
                    <a:latin typeface="+mj-lt"/>
                  </a:rPr>
                  <a:t>Nếu </a:t>
                </a:r>
                <a14:m>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r>
                      <a:rPr lang="vi-VN" b="0" i="1" smtClean="0">
                        <a:latin typeface="Cambria Math" panose="02040503050406030204" pitchFamily="18" charset="0"/>
                      </a:rPr>
                      <m:t>=</m:t>
                    </m:r>
                    <m:r>
                      <a:rPr lang="vi-VN" i="1">
                        <a:latin typeface="Cambria Math" panose="02040503050406030204" pitchFamily="18" charset="0"/>
                      </a:rPr>
                      <m:t>2</m:t>
                    </m:r>
                  </m:oMath>
                </a14:m>
                <a:endParaRPr lang="vi-VN" dirty="0">
                  <a:latin typeface="+mj-lt"/>
                </a:endParaRPr>
              </a:p>
              <a:p>
                <a:pPr>
                  <a:lnSpc>
                    <a:spcPct val="150000"/>
                  </a:lnSpc>
                </a:pPr>
                <a:r>
                  <a:rPr lang="vi-VN" dirty="0">
                    <a:latin typeface="+mj-lt"/>
                  </a:rPr>
                  <a:t>Điểm A có:</a:t>
                </a:r>
              </a:p>
              <a:p>
                <a:pPr lvl="1">
                  <a:lnSpc>
                    <a:spcPct val="150000"/>
                  </a:lnSpc>
                </a:pPr>
                <a:r>
                  <a:rPr lang="vi-VN" dirty="0">
                    <a:latin typeface="+mj-lt"/>
                  </a:rPr>
                  <a:t>3 điểm cách 1.0</a:t>
                </a:r>
              </a:p>
              <a:p>
                <a:pPr lvl="1">
                  <a:lnSpc>
                    <a:spcPct val="150000"/>
                  </a:lnSpc>
                </a:pPr>
                <a:r>
                  <a:rPr lang="vi-VN" dirty="0">
                    <a:latin typeface="+mj-lt"/>
                  </a:rPr>
                  <a:t>2 điểm cách 1.5</a:t>
                </a:r>
              </a:p>
              <a:p>
                <a:pPr lvl="1">
                  <a:lnSpc>
                    <a:spcPct val="150000"/>
                  </a:lnSpc>
                </a:pPr>
                <a:r>
                  <a:rPr lang="vi-VN" dirty="0">
                    <a:latin typeface="+mj-lt"/>
                  </a:rPr>
                  <a:t>5 điểm cách 3.0</a:t>
                </a:r>
              </a:p>
              <a:p>
                <a:pPr>
                  <a:lnSpc>
                    <a:spcPct val="150000"/>
                  </a:lnSpc>
                </a:pPr>
                <a:r>
                  <a:rPr lang="vi-VN" dirty="0">
                    <a:latin typeface="+mj-lt"/>
                  </a:rPr>
                  <a:t>Với cut-off, chỉ tính các điểm &lt; 2:</a:t>
                </a:r>
              </a:p>
              <a:p>
                <a:pPr>
                  <a:lnSpc>
                    <a:spcPct val="150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𝐴</m:t>
                          </m:r>
                        </m:sub>
                      </m:sSub>
                      <m:r>
                        <a:rPr lang="vi-VN" b="0" i="1" smtClean="0">
                          <a:latin typeface="Cambria Math" panose="02040503050406030204" pitchFamily="18" charset="0"/>
                        </a:rPr>
                        <m:t>=</m:t>
                      </m:r>
                      <m:r>
                        <a:rPr lang="vi-VN" i="1">
                          <a:latin typeface="Cambria Math" panose="02040503050406030204" pitchFamily="18" charset="0"/>
                        </a:rPr>
                        <m:t>3</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2</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5</m:t>
                      </m:r>
                    </m:oMath>
                  </m:oMathPara>
                </a14:m>
                <a:endParaRPr lang="vi-VN" dirty="0">
                  <a:latin typeface="+mj-lt"/>
                </a:endParaRPr>
              </a:p>
              <a:p>
                <a:pPr>
                  <a:lnSpc>
                    <a:spcPct val="150000"/>
                  </a:lnSpc>
                </a:pPr>
                <a:r>
                  <a:rPr lang="vi-VN" dirty="0">
                    <a:latin typeface="+mj-lt"/>
                  </a:rPr>
                  <a:t>Với Gaussian, điểm xa vẫn có ảnh hưởng nhưng nhỏ:</a:t>
                </a:r>
              </a:p>
              <a:p>
                <a:pPr>
                  <a:lnSpc>
                    <a:spcPct val="150000"/>
                  </a:lnSpc>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𝐴</m:t>
                        </m:r>
                      </m:sub>
                    </m:sSub>
                  </m:oMath>
                </a14:m>
                <a:r>
                  <a:rPr lang="vi-VN" dirty="0">
                    <a:latin typeface="+mj-lt"/>
                  </a:rPr>
                  <a:t> = 3</a:t>
                </a:r>
                <a14:m>
                  <m:oMath xmlns:m="http://schemas.openxmlformats.org/officeDocument/2006/math">
                    <m:sSup>
                      <m:sSupPr>
                        <m:ctrlPr>
                          <a:rPr lang="vi-VN" i="1" smtClean="0">
                            <a:latin typeface="Cambria Math" panose="02040503050406030204" pitchFamily="18" charset="0"/>
                          </a:rPr>
                        </m:ctrlPr>
                      </m:sSupPr>
                      <m:e>
                        <m:r>
                          <a:rPr lang="vi-VN" i="1">
                            <a:latin typeface="Cambria Math" panose="02040503050406030204" pitchFamily="18" charset="0"/>
                          </a:rPr>
                          <m:t>𝑒</m:t>
                        </m:r>
                      </m:e>
                      <m:sup>
                        <m:sSup>
                          <m:sSupPr>
                            <m:ctrlPr>
                              <a:rPr lang="vi-VN" i="1" smtClean="0">
                                <a:latin typeface="Cambria Math" panose="02040503050406030204" pitchFamily="18" charset="0"/>
                              </a:rPr>
                            </m:ctrlPr>
                          </m:sSupPr>
                          <m:e>
                            <m:r>
                              <a:rPr lang="vi-VN" b="0" i="1" smtClean="0">
                                <a:latin typeface="Cambria Math" panose="02040503050406030204" pitchFamily="18" charset="0"/>
                              </a:rPr>
                              <m:t>−(</m:t>
                            </m:r>
                            <m:r>
                              <a:rPr lang="vi-VN" i="1">
                                <a:latin typeface="Cambria Math" panose="02040503050406030204" pitchFamily="18" charset="0"/>
                              </a:rPr>
                              <m:t>1</m:t>
                            </m:r>
                            <m:r>
                              <a:rPr lang="vi-VN" b="0" i="1" smtClean="0">
                                <a:latin typeface="Cambria Math" panose="02040503050406030204" pitchFamily="18" charset="0"/>
                              </a:rPr>
                              <m:t>/</m:t>
                            </m:r>
                            <m:r>
                              <a:rPr lang="vi-VN" i="1">
                                <a:latin typeface="Cambria Math" panose="02040503050406030204" pitchFamily="18" charset="0"/>
                              </a:rPr>
                              <m:t>2</m:t>
                            </m:r>
                            <m:r>
                              <a:rPr lang="vi-VN" b="0" i="1" smtClean="0">
                                <a:latin typeface="Cambria Math" panose="02040503050406030204" pitchFamily="18" charset="0"/>
                              </a:rPr>
                              <m:t>)</m:t>
                            </m:r>
                          </m:e>
                          <m:sup>
                            <m:r>
                              <a:rPr lang="vi-VN" i="1">
                                <a:latin typeface="Cambria Math" panose="02040503050406030204" pitchFamily="18" charset="0"/>
                              </a:rPr>
                              <m:t>2</m:t>
                            </m:r>
                          </m:sup>
                        </m:sSup>
                      </m:sup>
                    </m:sSup>
                  </m:oMath>
                </a14:m>
                <a:r>
                  <a:rPr lang="vi-VN" dirty="0">
                    <a:latin typeface="+mj-lt"/>
                  </a:rPr>
                  <a:t> + 2</a:t>
                </a:r>
                <a14:m>
                  <m:oMath xmlns:m="http://schemas.openxmlformats.org/officeDocument/2006/math">
                    <m:sSup>
                      <m:sSupPr>
                        <m:ctrlPr>
                          <a:rPr lang="vi-VN" i="1" smtClean="0">
                            <a:latin typeface="Cambria Math" panose="02040503050406030204" pitchFamily="18" charset="0"/>
                          </a:rPr>
                        </m:ctrlPr>
                      </m:sSupPr>
                      <m:e>
                        <m:r>
                          <a:rPr lang="vi-VN" i="1">
                            <a:latin typeface="Cambria Math" panose="02040503050406030204" pitchFamily="18" charset="0"/>
                          </a:rPr>
                          <m:t>𝑒</m:t>
                        </m:r>
                      </m:e>
                      <m:sup>
                        <m:sSup>
                          <m:sSupPr>
                            <m:ctrlPr>
                              <a:rPr lang="vi-VN" i="1" smtClean="0">
                                <a:latin typeface="Cambria Math" panose="02040503050406030204" pitchFamily="18" charset="0"/>
                              </a:rPr>
                            </m:ctrlPr>
                          </m:sSupPr>
                          <m:e>
                            <m:r>
                              <a:rPr lang="vi-VN" b="0" i="1" smtClean="0">
                                <a:latin typeface="Cambria Math" panose="02040503050406030204" pitchFamily="18" charset="0"/>
                              </a:rPr>
                              <m:t>−(</m:t>
                            </m:r>
                            <m:r>
                              <a:rPr lang="vi-VN" i="1">
                                <a:latin typeface="Cambria Math" panose="02040503050406030204" pitchFamily="18" charset="0"/>
                              </a:rPr>
                              <m:t>1</m:t>
                            </m:r>
                            <m:r>
                              <a:rPr lang="vi-VN" b="0" i="1" smtClean="0">
                                <a:latin typeface="Cambria Math" panose="02040503050406030204" pitchFamily="18" charset="0"/>
                              </a:rPr>
                              <m:t>.</m:t>
                            </m:r>
                            <m:r>
                              <a:rPr lang="vi-VN" i="1">
                                <a:latin typeface="Cambria Math" panose="02040503050406030204" pitchFamily="18" charset="0"/>
                              </a:rPr>
                              <m:t>5</m:t>
                            </m:r>
                            <m:r>
                              <a:rPr lang="vi-VN" b="0" i="1" smtClean="0">
                                <a:latin typeface="Cambria Math" panose="02040503050406030204" pitchFamily="18" charset="0"/>
                              </a:rPr>
                              <m:t>/</m:t>
                            </m:r>
                            <m:r>
                              <a:rPr lang="vi-VN" i="1">
                                <a:latin typeface="Cambria Math" panose="02040503050406030204" pitchFamily="18" charset="0"/>
                              </a:rPr>
                              <m:t>2</m:t>
                            </m:r>
                            <m:r>
                              <a:rPr lang="vi-VN" b="0" i="1" smtClean="0">
                                <a:latin typeface="Cambria Math" panose="02040503050406030204" pitchFamily="18" charset="0"/>
                              </a:rPr>
                              <m:t>)</m:t>
                            </m:r>
                          </m:e>
                          <m:sup>
                            <m:r>
                              <a:rPr lang="vi-VN" i="1">
                                <a:latin typeface="Cambria Math" panose="02040503050406030204" pitchFamily="18" charset="0"/>
                              </a:rPr>
                              <m:t>2</m:t>
                            </m:r>
                          </m:sup>
                        </m:sSup>
                      </m:sup>
                    </m:sSup>
                  </m:oMath>
                </a14:m>
                <a:r>
                  <a:rPr lang="vi-VN" dirty="0">
                    <a:latin typeface="+mj-lt"/>
                  </a:rPr>
                  <a:t> + 5</a:t>
                </a:r>
                <a14:m>
                  <m:oMath xmlns:m="http://schemas.openxmlformats.org/officeDocument/2006/math">
                    <m:sSup>
                      <m:sSupPr>
                        <m:ctrlPr>
                          <a:rPr lang="vi-VN" i="1" smtClean="0">
                            <a:latin typeface="Cambria Math" panose="02040503050406030204" pitchFamily="18" charset="0"/>
                          </a:rPr>
                        </m:ctrlPr>
                      </m:sSupPr>
                      <m:e>
                        <m:r>
                          <a:rPr lang="vi-VN" i="1">
                            <a:latin typeface="Cambria Math" panose="02040503050406030204" pitchFamily="18" charset="0"/>
                          </a:rPr>
                          <m:t>𝑒</m:t>
                        </m:r>
                      </m:e>
                      <m:sup>
                        <m:sSup>
                          <m:sSupPr>
                            <m:ctrlPr>
                              <a:rPr lang="vi-VN" i="1" smtClean="0">
                                <a:latin typeface="Cambria Math" panose="02040503050406030204" pitchFamily="18" charset="0"/>
                              </a:rPr>
                            </m:ctrlPr>
                          </m:sSupPr>
                          <m:e>
                            <m:r>
                              <a:rPr lang="vi-VN" b="0" i="1" smtClean="0">
                                <a:latin typeface="Cambria Math" panose="02040503050406030204" pitchFamily="18" charset="0"/>
                              </a:rPr>
                              <m:t>−(</m:t>
                            </m:r>
                            <m:r>
                              <a:rPr lang="vi-VN" i="1">
                                <a:latin typeface="Cambria Math" panose="02040503050406030204" pitchFamily="18" charset="0"/>
                              </a:rPr>
                              <m:t>3</m:t>
                            </m:r>
                            <m:r>
                              <a:rPr lang="vi-VN" b="0" i="1" smtClean="0">
                                <a:latin typeface="Cambria Math" panose="02040503050406030204" pitchFamily="18" charset="0"/>
                              </a:rPr>
                              <m:t>/</m:t>
                            </m:r>
                            <m:r>
                              <a:rPr lang="vi-VN" i="1">
                                <a:latin typeface="Cambria Math" panose="02040503050406030204" pitchFamily="18" charset="0"/>
                              </a:rPr>
                              <m:t>2</m:t>
                            </m:r>
                            <m:r>
                              <a:rPr lang="vi-VN" b="0" i="1" smtClean="0">
                                <a:latin typeface="Cambria Math" panose="02040503050406030204" pitchFamily="18" charset="0"/>
                              </a:rPr>
                              <m:t>)</m:t>
                            </m:r>
                          </m:e>
                          <m:sup>
                            <m:r>
                              <a:rPr lang="vi-VN" i="1">
                                <a:latin typeface="Cambria Math" panose="02040503050406030204" pitchFamily="18" charset="0"/>
                              </a:rPr>
                              <m:t>2</m:t>
                            </m:r>
                          </m:sup>
                        </m:sSup>
                      </m:sup>
                    </m:sSup>
                  </m:oMath>
                </a14:m>
                <a:endParaRPr lang="en-US" i="1" dirty="0">
                  <a:latin typeface="+mj-lt"/>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7167716" y="1541187"/>
                <a:ext cx="4386737" cy="4660635"/>
              </a:xfrm>
              <a:prstGeom prst="rect">
                <a:avLst/>
              </a:prstGeom>
              <a:blipFill rotWithShape="1">
                <a:blip r:embed="rId3"/>
                <a:stretch>
                  <a:fillRect l="-11" t="-1" r="14" b="9"/>
                </a:stretch>
              </a:blipFill>
            </p:spPr>
            <p:txBody>
              <a:bodyPr/>
              <a:lstStyle/>
              <a:p>
                <a:r>
                  <a:rPr lang="en-US"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t>8</a:t>
            </a:fld>
            <a:endParaRPr lang="en-US"/>
          </a:p>
        </p:txBody>
      </p:sp>
      <p:sp>
        <p:nvSpPr>
          <p:cNvPr id="5"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p:cNvSpPr txBox="1"/>
              <p:nvPr/>
            </p:nvSpPr>
            <p:spPr>
              <a:xfrm>
                <a:off x="1079999" y="2354094"/>
                <a:ext cx="5645265" cy="256743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Các bước thực hiện thuật toán CFSFDP</a:t>
                </a:r>
              </a:p>
              <a:p>
                <a:pPr algn="just">
                  <a:lnSpc>
                    <a:spcPct val="150000"/>
                  </a:lnSpc>
                </a:pPr>
                <a:r>
                  <a:rPr lang="vi-VN" dirty="0">
                    <a:latin typeface="+mj-lt"/>
                  </a:rPr>
                  <a:t>Bước 4: Tính khoảng cách tương đối </a:t>
                </a:r>
                <a14:m>
                  <m:oMath xmlns:m="http://schemas.openxmlformats.org/officeDocument/2006/math">
                    <m:sSub>
                      <m:sSubPr>
                        <m:ctrlPr>
                          <a:rPr lang="vi-VN" i="1" smtClean="0">
                            <a:latin typeface="Cambria Math" panose="02040503050406030204" pitchFamily="18" charset="0"/>
                          </a:rPr>
                        </m:ctrlPr>
                      </m:sSubPr>
                      <m:e>
                        <m:r>
                          <a:rPr lang="vi-VN" b="0" i="1" smtClean="0">
                            <a:latin typeface="Cambria Math" panose="02040503050406030204" pitchFamily="18" charset="0"/>
                          </a:rPr>
                          <m:t>(</m:t>
                        </m:r>
                        <m:r>
                          <a:rPr lang="vi-VN" i="1" smtClean="0">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b="0" i="1" smtClean="0">
                        <a:latin typeface="Cambria Math" panose="02040503050406030204" pitchFamily="18" charset="0"/>
                      </a:rPr>
                      <m:t>)</m:t>
                    </m:r>
                  </m:oMath>
                </a14:m>
                <a:endParaRPr lang="vi-VN" i="1" dirty="0">
                  <a:latin typeface="+mj-lt"/>
                </a:endParaRPr>
              </a:p>
              <a:p>
                <a:pPr marL="285750" indent="-285750" algn="just">
                  <a:lnSpc>
                    <a:spcPct val="150000"/>
                  </a:lnSpc>
                  <a:buFontTx/>
                  <a:buChar char="⁃"/>
                </a:pPr>
                <a14:m>
                  <m:oMath xmlns:m="http://schemas.openxmlformats.org/officeDocument/2006/math">
                    <m:sSub>
                      <m:sSubPr>
                        <m:ctrlPr>
                          <a:rPr lang="vi-VN" altLang="en-US" i="1" smtClean="0">
                            <a:latin typeface="Cambria Math" panose="02040503050406030204" pitchFamily="18" charset="0"/>
                          </a:rPr>
                        </m:ctrlPr>
                      </m:sSubPr>
                      <m:e>
                        <m:r>
                          <a:rPr lang="vi-VN" altLang="en-US" i="1" smtClean="0">
                            <a:latin typeface="Cambria Math" panose="02040503050406030204" pitchFamily="18" charset="0"/>
                            <a:ea typeface="Cambria Math" panose="02040503050406030204" pitchFamily="18" charset="0"/>
                          </a:rPr>
                          <m:t>𝛿</m:t>
                        </m:r>
                      </m:e>
                      <m:sub>
                        <m:r>
                          <a:rPr lang="vi-VN" altLang="en-US" i="1">
                            <a:latin typeface="Cambria Math" panose="02040503050406030204" pitchFamily="18" charset="0"/>
                          </a:rPr>
                          <m:t>𝑖</m:t>
                        </m:r>
                      </m:sub>
                    </m:sSub>
                  </m:oMath>
                </a14:m>
                <a:r>
                  <a:rPr lang="vi-VN" altLang="en-US" dirty="0">
                    <a:latin typeface="Cambria Math" panose="02040503050406030204" pitchFamily="18" charset="0"/>
                    <a:cs typeface="Cambria Math" panose="02040503050406030204" pitchFamily="18" charset="0"/>
                  </a:rPr>
                  <a:t> là khoảng cách ngắn nhất từ điểm </a:t>
                </a:r>
                <a14:m>
                  <m:oMath xmlns:m="http://schemas.openxmlformats.org/officeDocument/2006/math">
                    <m:r>
                      <m:rPr>
                        <m:sty m:val="p"/>
                      </m:rPr>
                      <a:rPr lang="vi-VN" altLang="en-US" dirty="0">
                        <a:latin typeface="Cambria Math" panose="02040503050406030204" pitchFamily="18" charset="0"/>
                        <a:cs typeface="Cambria Math" panose="02040503050406030204" pitchFamily="18" charset="0"/>
                      </a:rPr>
                      <m:t>i</m:t>
                    </m:r>
                  </m:oMath>
                </a14:m>
                <a:r>
                  <a:rPr lang="vi-VN" altLang="en-US" dirty="0">
                    <a:latin typeface="Cambria Math" panose="02040503050406030204" pitchFamily="18" charset="0"/>
                    <a:cs typeface="Cambria Math" panose="02040503050406030204" pitchFamily="18" charset="0"/>
                  </a:rPr>
                  <a:t> đến bất kỳ điểm nào có mật độ cao hơn nó (</a:t>
                </a:r>
                <a14:m>
                  <m:oMath xmlns:m="http://schemas.openxmlformats.org/officeDocument/2006/math">
                    <m:sSub>
                      <m:sSubPr>
                        <m:ctrlPr>
                          <a:rPr lang="vi-VN" altLang="en-US" i="1" smtClean="0">
                            <a:latin typeface="Cambria Math" panose="02040503050406030204" pitchFamily="18" charset="0"/>
                          </a:rPr>
                        </m:ctrlPr>
                      </m:sSubPr>
                      <m:e>
                        <m:r>
                          <a:rPr lang="vi-VN" altLang="en-US" i="1" smtClean="0">
                            <a:latin typeface="Cambria Math" panose="02040503050406030204" pitchFamily="18" charset="0"/>
                            <a:ea typeface="Cambria Math" panose="02040503050406030204" pitchFamily="18" charset="0"/>
                          </a:rPr>
                          <m:t>𝜌</m:t>
                        </m:r>
                      </m:e>
                      <m:sub>
                        <m:r>
                          <a:rPr lang="vi-VN" altLang="en-US" i="1">
                            <a:latin typeface="Cambria Math" panose="02040503050406030204" pitchFamily="18" charset="0"/>
                          </a:rPr>
                          <m:t>𝑗</m:t>
                        </m:r>
                      </m:sub>
                    </m:sSub>
                    <m:r>
                      <a:rPr lang="vi-VN" altLang="en-US" i="1" smtClean="0">
                        <a:latin typeface="Cambria Math" panose="02040503050406030204" pitchFamily="18" charset="0"/>
                        <a:ea typeface="Cambria Math" panose="02040503050406030204" pitchFamily="18" charset="0"/>
                      </a:rPr>
                      <m:t>&gt;</m:t>
                    </m:r>
                    <m:sSub>
                      <m:sSubPr>
                        <m:ctrlPr>
                          <a:rPr lang="vi-VN" altLang="en-US" i="1" smtClean="0">
                            <a:latin typeface="Cambria Math" panose="02040503050406030204" pitchFamily="18" charset="0"/>
                            <a:ea typeface="Cambria Math" panose="02040503050406030204" pitchFamily="18" charset="0"/>
                          </a:rPr>
                        </m:ctrlPr>
                      </m:sSubPr>
                      <m:e>
                        <m:r>
                          <a:rPr lang="vi-VN" altLang="en-US" i="1" smtClean="0">
                            <a:latin typeface="Cambria Math" panose="02040503050406030204" pitchFamily="18" charset="0"/>
                            <a:ea typeface="Cambria Math" panose="02040503050406030204" pitchFamily="18" charset="0"/>
                          </a:rPr>
                          <m:t>𝜌</m:t>
                        </m:r>
                      </m:e>
                      <m:sub>
                        <m:r>
                          <a:rPr lang="vi-VN" altLang="en-US" i="1">
                            <a:latin typeface="Cambria Math" panose="02040503050406030204" pitchFamily="18" charset="0"/>
                            <a:ea typeface="Cambria Math" panose="02040503050406030204" pitchFamily="18" charset="0"/>
                          </a:rPr>
                          <m:t>𝑖</m:t>
                        </m:r>
                      </m:sub>
                    </m:sSub>
                  </m:oMath>
                </a14:m>
                <a:r>
                  <a:rPr lang="vi-VN" altLang="en-US" dirty="0">
                    <a:latin typeface="Cambria Math" panose="02040503050406030204" pitchFamily="18" charset="0"/>
                    <a:cs typeface="Cambria Math" panose="02040503050406030204" pitchFamily="18" charset="0"/>
                  </a:rPr>
                  <a:t>).</a:t>
                </a:r>
              </a:p>
              <a:p>
                <a:pPr marL="285750" indent="-285750" algn="just">
                  <a:lnSpc>
                    <a:spcPct val="150000"/>
                  </a:lnSpc>
                  <a:buFontTx/>
                  <a:buChar char="⁃"/>
                </a:pPr>
                <a:r>
                  <a:rPr lang="vi-VN" altLang="en-US" dirty="0">
                    <a:latin typeface="Cambria Math" panose="02040503050406030204" pitchFamily="18" charset="0"/>
                    <a:cs typeface="Cambria Math" panose="02040503050406030204" pitchFamily="18" charset="0"/>
                  </a:rPr>
                  <a:t>Đối với điểm có mật độ cao nhất toàn cục, </a:t>
                </a:r>
                <a14:m>
                  <m:oMath xmlns:m="http://schemas.openxmlformats.org/officeDocument/2006/math">
                    <m:r>
                      <a:rPr lang="vi-VN" altLang="en-US" i="1" smtClean="0">
                        <a:latin typeface="Cambria Math" panose="02040503050406030204" pitchFamily="18" charset="0"/>
                        <a:ea typeface="Cambria Math" panose="02040503050406030204" pitchFamily="18" charset="0"/>
                        <a:cs typeface="Cambria Math" panose="02040503050406030204" pitchFamily="18" charset="0"/>
                      </a:rPr>
                      <m:t>𝛿</m:t>
                    </m:r>
                  </m:oMath>
                </a14:m>
                <a:r>
                  <a:rPr lang="vi-VN" altLang="en-US" dirty="0">
                    <a:latin typeface="Cambria Math" panose="02040503050406030204" pitchFamily="18" charset="0"/>
                    <a:cs typeface="Cambria Math" panose="02040503050406030204" pitchFamily="18" charset="0"/>
                  </a:rPr>
                  <a:t> được gán bằng khoảng cách lớn nhất trong tập dữ liệu.</a:t>
                </a:r>
              </a:p>
            </p:txBody>
          </p:sp>
        </mc:Choice>
        <mc:Fallback xmlns="">
          <p:sp>
            <p:nvSpPr>
              <p:cNvPr id="7" name="TextBox 5"/>
              <p:cNvSpPr txBox="1">
                <a:spLocks noRot="1" noChangeAspect="1" noMove="1" noResize="1" noEditPoints="1" noAdjustHandles="1" noChangeArrowheads="1" noChangeShapeType="1" noTextEdit="1"/>
              </p:cNvSpPr>
              <p:nvPr/>
            </p:nvSpPr>
            <p:spPr>
              <a:xfrm>
                <a:off x="1079999" y="2354094"/>
                <a:ext cx="5645265" cy="2567434"/>
              </a:xfrm>
              <a:prstGeom prst="rect">
                <a:avLst/>
              </a:prstGeom>
              <a:blipFill rotWithShape="1">
                <a:blip r:embed="rId2"/>
                <a:stretch>
                  <a:fillRect l="-9" t="-6" r="11" b="1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337900" y="1728000"/>
                <a:ext cx="3861042" cy="2351478"/>
              </a:xfrm>
              <a:prstGeom prst="rect">
                <a:avLst/>
              </a:prstGeom>
              <a:noFill/>
            </p:spPr>
            <p:txBody>
              <a:bodyPr wrap="square" rtlCol="0">
                <a:spAutoFit/>
              </a:bodyPr>
              <a:lstStyle/>
              <a:p>
                <a:pPr>
                  <a:lnSpc>
                    <a:spcPct val="150000"/>
                  </a:lnSpc>
                </a:pPr>
                <a:r>
                  <a:rPr lang="vi-VN" dirty="0">
                    <a:latin typeface="+mj-lt"/>
                  </a:rPr>
                  <a:t>Sau khi có mật độ:</a:t>
                </a:r>
              </a:p>
              <a:p>
                <a:pPr>
                  <a:lnSpc>
                    <a:spcPct val="150000"/>
                  </a:lnSpc>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b="0" i="1" smtClean="0">
                          <a:latin typeface="Cambria Math" panose="02040503050406030204" pitchFamily="18" charset="0"/>
                        </a:rPr>
                        <m:t>=</m:t>
                      </m:r>
                      <m:func>
                        <m:funcPr>
                          <m:ctrlPr>
                            <a:rPr lang="vi-VN" b="0" i="1" smtClean="0">
                              <a:latin typeface="Cambria Math" panose="02040503050406030204" pitchFamily="18" charset="0"/>
                            </a:rPr>
                          </m:ctrlPr>
                        </m:funcPr>
                        <m:fName>
                          <m:limLow>
                            <m:limLowPr>
                              <m:ctrlPr>
                                <a:rPr lang="vi-VN" b="0" i="1" smtClean="0">
                                  <a:latin typeface="Cambria Math" panose="02040503050406030204" pitchFamily="18" charset="0"/>
                                </a:rPr>
                              </m:ctrlPr>
                            </m:limLowPr>
                            <m:e>
                              <m:r>
                                <a:rPr lang="vi-VN" b="0" i="1" smtClean="0">
                                  <a:latin typeface="Cambria Math" panose="02040503050406030204" pitchFamily="18" charset="0"/>
                                </a:rPr>
                                <m:t>𝑚𝑖𝑛</m:t>
                              </m:r>
                            </m:e>
                            <m:lim>
                              <m:r>
                                <a:rPr lang="vi-VN" i="1">
                                  <a:latin typeface="Cambria Math" panose="02040503050406030204" pitchFamily="18" charset="0"/>
                                </a:rPr>
                                <m:t>𝑗</m:t>
                              </m:r>
                              <m:r>
                                <a:rPr lang="vi-VN" b="0" i="1" smtClean="0">
                                  <a:latin typeface="Cambria Math" panose="02040503050406030204" pitchFamily="18" charset="0"/>
                                </a:rPr>
                                <m:t>:</m:t>
                              </m:r>
                              <m:sSub>
                                <m:sSubPr>
                                  <m:ctrlPr>
                                    <a:rPr lang="vi-VN" b="0" i="1" smtClean="0">
                                      <a:latin typeface="Cambria Math" panose="02040503050406030204" pitchFamily="18" charset="0"/>
                                    </a:rPr>
                                  </m:ctrlPr>
                                </m:sSubPr>
                                <m:e>
                                  <m:r>
                                    <a:rPr lang="vi-VN" b="0"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𝑗</m:t>
                                  </m:r>
                                </m:sub>
                              </m:sSub>
                              <m:r>
                                <a:rPr lang="vi-VN" b="0" i="1" smtClean="0">
                                  <a:latin typeface="Cambria Math" panose="02040503050406030204" pitchFamily="18" charset="0"/>
                                </a:rPr>
                                <m:t>&gt;</m:t>
                              </m:r>
                              <m:sSub>
                                <m:sSubPr>
                                  <m:ctrlPr>
                                    <a:rPr lang="vi-VN" b="0" i="1" smtClean="0">
                                      <a:latin typeface="Cambria Math" panose="02040503050406030204" pitchFamily="18" charset="0"/>
                                    </a:rPr>
                                  </m:ctrlPr>
                                </m:sSubPr>
                                <m:e>
                                  <m:r>
                                    <a:rPr lang="vi-VN" b="0"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lim>
                          </m:limLow>
                        </m:fName>
                        <m:e>
                          <m:d>
                            <m:dPr>
                              <m:ctrlPr>
                                <a:rPr lang="vi-VN" b="0" i="1" smtClean="0">
                                  <a:latin typeface="Cambria Math" panose="02040503050406030204" pitchFamily="18" charset="0"/>
                                </a:rPr>
                              </m:ctrlPr>
                            </m:dPr>
                            <m:e>
                              <m:sSub>
                                <m:sSubPr>
                                  <m:ctrlPr>
                                    <a:rPr lang="vi-VN" b="0"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e>
                          </m:d>
                        </m:e>
                      </m:func>
                    </m:oMath>
                  </m:oMathPara>
                </a14:m>
                <a:endParaRPr lang="vi-VN" i="1" dirty="0">
                  <a:latin typeface="+mj-lt"/>
                </a:endParaRPr>
              </a:p>
              <a:p>
                <a:pPr>
                  <a:lnSpc>
                    <a:spcPct val="200000"/>
                  </a:lnSpc>
                </a:pPr>
                <a:r>
                  <a:rPr lang="vi-VN" dirty="0">
                    <a:latin typeface="+mj-lt"/>
                  </a:rPr>
                  <a:t>Riêng điểm có mật độ lớn nhất:</a:t>
                </a:r>
              </a:p>
              <a:p>
                <a:pPr>
                  <a:lnSpc>
                    <a:spcPct val="150000"/>
                  </a:lnSpc>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b="0" i="1" smtClean="0">
                          <a:latin typeface="Cambria Math" panose="02040503050406030204" pitchFamily="18" charset="0"/>
                        </a:rPr>
                        <m:t>=</m:t>
                      </m:r>
                      <m:func>
                        <m:funcPr>
                          <m:ctrlPr>
                            <a:rPr lang="vi-VN" b="0" i="1" smtClean="0">
                              <a:latin typeface="Cambria Math" panose="02040503050406030204" pitchFamily="18" charset="0"/>
                            </a:rPr>
                          </m:ctrlPr>
                        </m:funcPr>
                        <m:fName>
                          <m:limLow>
                            <m:limLowPr>
                              <m:ctrlPr>
                                <a:rPr lang="vi-VN" b="0" i="1" smtClean="0">
                                  <a:latin typeface="Cambria Math" panose="02040503050406030204" pitchFamily="18" charset="0"/>
                                </a:rPr>
                              </m:ctrlPr>
                            </m:limLowPr>
                            <m:e>
                              <m:r>
                                <a:rPr lang="vi-VN" b="0" i="1" smtClean="0">
                                  <a:latin typeface="Cambria Math" panose="02040503050406030204" pitchFamily="18" charset="0"/>
                                </a:rPr>
                                <m:t>𝑚𝑎𝑥</m:t>
                              </m:r>
                            </m:e>
                            <m:lim>
                              <m:r>
                                <a:rPr lang="vi-VN" i="1">
                                  <a:latin typeface="Cambria Math" panose="02040503050406030204" pitchFamily="18" charset="0"/>
                                </a:rPr>
                                <m:t>𝑗</m:t>
                              </m:r>
                            </m:lim>
                          </m:limLow>
                        </m:fName>
                        <m:e>
                          <m:d>
                            <m:dPr>
                              <m:ctrlPr>
                                <a:rPr lang="vi-VN" b="0" i="1" smtClean="0">
                                  <a:latin typeface="Cambria Math" panose="02040503050406030204" pitchFamily="18" charset="0"/>
                                </a:rPr>
                              </m:ctrlPr>
                            </m:dPr>
                            <m:e>
                              <m:sSub>
                                <m:sSubPr>
                                  <m:ctrlPr>
                                    <a:rPr lang="vi-VN" b="0"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e>
                          </m:d>
                        </m:e>
                      </m:func>
                    </m:oMath>
                  </m:oMathPara>
                </a14:m>
                <a:endParaRPr lang="vi-VN" i="1" dirty="0">
                  <a:latin typeface="+mj-lt"/>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337900" y="1728000"/>
                <a:ext cx="3861042" cy="2351478"/>
              </a:xfrm>
              <a:prstGeom prst="rect">
                <a:avLst/>
              </a:prstGeom>
              <a:blipFill rotWithShape="1">
                <a:blip r:embed="rId3"/>
                <a:stretch>
                  <a:fillRect l="-12" t="-7" r="2" b="10"/>
                </a:stretch>
              </a:blipFill>
            </p:spPr>
            <p:txBody>
              <a:bodyPr/>
              <a:lstStyle/>
              <a:p>
                <a:r>
                  <a:rPr lang="en-US"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10"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11" name="TextBox 5"/>
              <p:cNvSpPr txBox="1"/>
              <p:nvPr/>
            </p:nvSpPr>
            <p:spPr>
              <a:xfrm>
                <a:off x="1079999" y="2354094"/>
                <a:ext cx="5645265" cy="295106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Các bước thực hiện thuật toán CFSFDP</a:t>
                </a:r>
              </a:p>
              <a:p>
                <a:pPr algn="just">
                  <a:lnSpc>
                    <a:spcPct val="150000"/>
                  </a:lnSpc>
                </a:pPr>
                <a:r>
                  <a:rPr lang="vi-VN" dirty="0">
                    <a:latin typeface="+mj-lt"/>
                  </a:rPr>
                  <a:t>Bước 5: Xác định tâm cụm và gán nhãn</a:t>
                </a:r>
              </a:p>
              <a:p>
                <a:pPr marL="285750" indent="-285750" algn="just">
                  <a:lnSpc>
                    <a:spcPct val="150000"/>
                  </a:lnSpc>
                  <a:buFontTx/>
                  <a:buChar char="⁃"/>
                </a:pPr>
                <a:r>
                  <a:rPr lang="vi-VN" altLang="en-US" dirty="0">
                    <a:latin typeface="+mj-lt"/>
                    <a:cs typeface="Cambria Math" panose="02040503050406030204" pitchFamily="18" charset="0"/>
                  </a:rPr>
                  <a:t>Dựa trên biểu đồ quyết định (Decision Graph) vẽ theo trục </a:t>
                </a:r>
                <a14:m>
                  <m:oMath xmlns:m="http://schemas.openxmlformats.org/officeDocument/2006/math">
                    <m:d>
                      <m:dPr>
                        <m:ctrlPr>
                          <a:rPr lang="vi-VN" altLang="en-US" i="1" smtClean="0">
                            <a:latin typeface="Cambria Math" panose="02040503050406030204" pitchFamily="18" charset="0"/>
                          </a:rPr>
                        </m:ctrlPr>
                      </m:dPr>
                      <m:e>
                        <m:r>
                          <a:rPr lang="vi-VN" altLang="en-US" i="1" smtClean="0">
                            <a:latin typeface="Cambria Math" panose="02040503050406030204" pitchFamily="18" charset="0"/>
                            <a:ea typeface="Cambria Math" panose="02040503050406030204" pitchFamily="18" charset="0"/>
                          </a:rPr>
                          <m:t>𝜌</m:t>
                        </m:r>
                        <m:r>
                          <a:rPr lang="vi-VN" altLang="en-US" b="0" i="1" smtClean="0">
                            <a:latin typeface="Cambria Math" panose="02040503050406030204" pitchFamily="18" charset="0"/>
                            <a:ea typeface="Cambria Math" panose="02040503050406030204" pitchFamily="18" charset="0"/>
                          </a:rPr>
                          <m:t>,</m:t>
                        </m:r>
                        <m:r>
                          <a:rPr lang="vi-VN" altLang="en-US" b="0" i="1" smtClean="0">
                            <a:latin typeface="Cambria Math" panose="02040503050406030204" pitchFamily="18" charset="0"/>
                            <a:ea typeface="Cambria Math" panose="02040503050406030204" pitchFamily="18" charset="0"/>
                          </a:rPr>
                          <m:t>𝛿</m:t>
                        </m:r>
                      </m:e>
                    </m:d>
                  </m:oMath>
                </a14:m>
                <a:r>
                  <a:rPr lang="vi-VN" altLang="en-US" dirty="0">
                    <a:latin typeface="+mj-lt"/>
                    <a:cs typeface="Cambria Math" panose="02040503050406030204" pitchFamily="18" charset="0"/>
                  </a:rPr>
                  <a:t>, chọn ra các điểm có cả hai giá trị này lớn để làm tâm cụm.</a:t>
                </a:r>
              </a:p>
              <a:p>
                <a:pPr marL="285750" indent="-285750" algn="just">
                  <a:lnSpc>
                    <a:spcPct val="150000"/>
                  </a:lnSpc>
                  <a:buFontTx/>
                  <a:buChar char="⁃"/>
                </a:pPr>
                <a:r>
                  <a:rPr lang="vi-VN" altLang="en-US" dirty="0">
                    <a:latin typeface="+mj-lt"/>
                    <a:cs typeface="Cambria Math" panose="02040503050406030204" pitchFamily="18" charset="0"/>
                  </a:rPr>
                  <a:t>Các điểm còn lại được gán vào cùng cụm với điểm lân cận có mật độ cao hơn gần nó nhất</a:t>
                </a:r>
              </a:p>
            </p:txBody>
          </p:sp>
        </mc:Choice>
        <mc:Fallback xmlns="">
          <p:sp>
            <p:nvSpPr>
              <p:cNvPr id="11" name="TextBox 5"/>
              <p:cNvSpPr txBox="1">
                <a:spLocks noRot="1" noChangeAspect="1" noMove="1" noResize="1" noEditPoints="1" noAdjustHandles="1" noChangeArrowheads="1" noChangeShapeType="1" noTextEdit="1"/>
              </p:cNvSpPr>
              <p:nvPr/>
            </p:nvSpPr>
            <p:spPr>
              <a:xfrm>
                <a:off x="1079999" y="2354094"/>
                <a:ext cx="5645265" cy="2951064"/>
              </a:xfrm>
              <a:prstGeom prst="rect">
                <a:avLst/>
              </a:prstGeom>
              <a:blipFill rotWithShape="1">
                <a:blip r:embed="rId2"/>
                <a:stretch>
                  <a:fillRect l="-9" t="-5" r="11" b="12"/>
                </a:stretch>
              </a:blipFill>
            </p:spPr>
            <p:txBody>
              <a:bodyPr/>
              <a:lstStyle/>
              <a:p>
                <a:r>
                  <a:rPr lang="en-US" altLang="en-US">
                    <a:noFill/>
                  </a:rPr>
                  <a:t> </a:t>
                </a:r>
              </a:p>
            </p:txBody>
          </p:sp>
        </mc:Fallback>
      </mc:AlternateContent>
      <p:grpSp>
        <p:nvGrpSpPr>
          <p:cNvPr id="20" name="Group 19"/>
          <p:cNvGrpSpPr/>
          <p:nvPr/>
        </p:nvGrpSpPr>
        <p:grpSpPr>
          <a:xfrm>
            <a:off x="7222598" y="1914293"/>
            <a:ext cx="4223003" cy="3759990"/>
            <a:chOff x="7222598" y="1914293"/>
            <a:chExt cx="4223003" cy="375999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29743" y="1940016"/>
              <a:ext cx="1987192" cy="1837153"/>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35069" y="3833796"/>
              <a:ext cx="1993861" cy="1840487"/>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35043" y="1914293"/>
              <a:ext cx="2110558" cy="1897168"/>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22598" y="3839511"/>
              <a:ext cx="2003863" cy="1833818"/>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t>10</a:t>
            </a:fld>
            <a:endParaRPr lang="en-US"/>
          </a:p>
        </p:txBody>
      </p:sp>
      <p:sp>
        <p:nvSpPr>
          <p:cNvPr id="5"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p:sp>
        <p:nvSpPr>
          <p:cNvPr id="7" name="TextBox 5"/>
          <p:cNvSpPr txBox="1"/>
          <p:nvPr/>
        </p:nvSpPr>
        <p:spPr>
          <a:xfrm>
            <a:off x="1080135" y="2353945"/>
            <a:ext cx="4446905" cy="29578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dirty="0">
                <a:latin typeface="+mj-lt"/>
              </a:rPr>
              <a:t>Cho các điểm dữ liệu có tọa độ như sau:</a:t>
            </a:r>
          </a:p>
          <a:p>
            <a:pPr algn="just">
              <a:lnSpc>
                <a:spcPct val="150000"/>
              </a:lnSpc>
            </a:pPr>
            <a:r>
              <a:rPr lang="en-US" altLang="vi-VN" dirty="0">
                <a:latin typeface="+mj-lt"/>
              </a:rPr>
              <a:t>A(1,</a:t>
            </a:r>
            <a:r>
              <a:rPr lang="vi-VN" altLang="en-US" dirty="0">
                <a:latin typeface="+mj-lt"/>
              </a:rPr>
              <a:t> </a:t>
            </a:r>
            <a:r>
              <a:rPr lang="en-US" altLang="vi-VN" dirty="0">
                <a:latin typeface="+mj-lt"/>
              </a:rPr>
              <a:t>1)		F(4, 4)</a:t>
            </a:r>
          </a:p>
          <a:p>
            <a:pPr algn="just">
              <a:lnSpc>
                <a:spcPct val="150000"/>
              </a:lnSpc>
            </a:pPr>
            <a:r>
              <a:rPr lang="en-US" altLang="vi-VN" dirty="0">
                <a:latin typeface="+mj-lt"/>
              </a:rPr>
              <a:t>B(1.1, 1.2)	G(4.1, 4.2)</a:t>
            </a:r>
          </a:p>
          <a:p>
            <a:pPr algn="just">
              <a:lnSpc>
                <a:spcPct val="150000"/>
              </a:lnSpc>
            </a:pPr>
            <a:r>
              <a:rPr lang="en-US" altLang="vi-VN" dirty="0">
                <a:latin typeface="+mj-lt"/>
              </a:rPr>
              <a:t>C(1.2, 1.1)	H(4.2, 4.1)</a:t>
            </a:r>
          </a:p>
          <a:p>
            <a:pPr algn="just">
              <a:lnSpc>
                <a:spcPct val="150000"/>
              </a:lnSpc>
            </a:pPr>
            <a:r>
              <a:rPr lang="en-US" altLang="vi-VN" dirty="0">
                <a:latin typeface="+mj-lt"/>
              </a:rPr>
              <a:t>D(1.3, 1.3)	I(4.3, 4.3)</a:t>
            </a:r>
          </a:p>
          <a:p>
            <a:pPr algn="just">
              <a:lnSpc>
                <a:spcPct val="150000"/>
              </a:lnSpc>
            </a:pPr>
            <a:r>
              <a:rPr lang="en-US" altLang="vi-VN" dirty="0">
                <a:latin typeface="+mj-lt"/>
              </a:rPr>
              <a:t>E(2, 1.8)		J(6.5, 1.5)</a:t>
            </a:r>
          </a:p>
        </p:txBody>
      </p:sp>
      <p:graphicFrame>
        <p:nvGraphicFramePr>
          <p:cNvPr id="11" name="Chart 10">
            <a:extLst>
              <a:ext uri="{FF2B5EF4-FFF2-40B4-BE49-F238E27FC236}">
                <a16:creationId xmlns:a16="http://schemas.microsoft.com/office/drawing/2014/main" id="{98480A9E-037C-889A-3A67-F59FE5DE96DF}"/>
              </a:ext>
            </a:extLst>
          </p:cNvPr>
          <p:cNvGraphicFramePr/>
          <p:nvPr>
            <p:extLst>
              <p:ext uri="{D42A27DB-BD31-4B8C-83A1-F6EECF244321}">
                <p14:modId xmlns:p14="http://schemas.microsoft.com/office/powerpoint/2010/main" val="3431252755"/>
              </p:ext>
            </p:extLst>
          </p:nvPr>
        </p:nvGraphicFramePr>
        <p:xfrm>
          <a:off x="5991942" y="2097332"/>
          <a:ext cx="5361858" cy="357457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E8C9-0500-068D-2094-89BC1DA192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381FAF-421A-16C8-738A-DAA90AFEA3FF}"/>
              </a:ext>
            </a:extLst>
          </p:cNvPr>
          <p:cNvSpPr>
            <a:spLocks noGrp="1"/>
          </p:cNvSpPr>
          <p:nvPr>
            <p:ph type="sldNum" sz="quarter" idx="12"/>
          </p:nvPr>
        </p:nvSpPr>
        <p:spPr/>
        <p:txBody>
          <a:bodyPr/>
          <a:lstStyle/>
          <a:p>
            <a:fld id="{9B618960-8005-486C-9A75-10CB2AAC16F9}" type="slidenum">
              <a:rPr lang="en-US" smtClean="0"/>
              <a:t>11</a:t>
            </a:fld>
            <a:endParaRPr lang="en-US"/>
          </a:p>
        </p:txBody>
      </p:sp>
      <p:sp>
        <p:nvSpPr>
          <p:cNvPr id="5" name="TextBox 3">
            <a:extLst>
              <a:ext uri="{FF2B5EF4-FFF2-40B4-BE49-F238E27FC236}">
                <a16:creationId xmlns:a16="http://schemas.microsoft.com/office/drawing/2014/main" id="{9DD8DA23-3A37-B362-6ADD-13CF90F28EF7}"/>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B6FC686B-CDE5-9067-EE12-4FEB64A9FD4C}"/>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p:graphicFrame>
        <p:nvGraphicFramePr>
          <p:cNvPr id="8" name="Table 7">
            <a:extLst>
              <a:ext uri="{FF2B5EF4-FFF2-40B4-BE49-F238E27FC236}">
                <a16:creationId xmlns:a16="http://schemas.microsoft.com/office/drawing/2014/main" id="{9809B2C0-4A77-16A7-A79B-84E2C1D1CE81}"/>
              </a:ext>
            </a:extLst>
          </p:cNvPr>
          <p:cNvGraphicFramePr>
            <a:graphicFrameLocks noGrp="1"/>
          </p:cNvGraphicFramePr>
          <p:nvPr/>
        </p:nvGraphicFramePr>
        <p:xfrm>
          <a:off x="5338211" y="1602191"/>
          <a:ext cx="5034821" cy="4876866"/>
        </p:xfrm>
        <a:graphic>
          <a:graphicData uri="http://schemas.openxmlformats.org/drawingml/2006/table">
            <a:tbl>
              <a:tblPr firstRow="1" bandRow="1">
                <a:tableStyleId>{5940675A-B579-460E-94D1-54222C63F5DA}</a:tableStyleId>
              </a:tblPr>
              <a:tblGrid>
                <a:gridCol w="457711">
                  <a:extLst>
                    <a:ext uri="{9D8B030D-6E8A-4147-A177-3AD203B41FA5}">
                      <a16:colId xmlns:a16="http://schemas.microsoft.com/office/drawing/2014/main" val="1643107344"/>
                    </a:ext>
                  </a:extLst>
                </a:gridCol>
                <a:gridCol w="457711">
                  <a:extLst>
                    <a:ext uri="{9D8B030D-6E8A-4147-A177-3AD203B41FA5}">
                      <a16:colId xmlns:a16="http://schemas.microsoft.com/office/drawing/2014/main" val="1341869978"/>
                    </a:ext>
                  </a:extLst>
                </a:gridCol>
                <a:gridCol w="457711">
                  <a:extLst>
                    <a:ext uri="{9D8B030D-6E8A-4147-A177-3AD203B41FA5}">
                      <a16:colId xmlns:a16="http://schemas.microsoft.com/office/drawing/2014/main" val="1909054910"/>
                    </a:ext>
                  </a:extLst>
                </a:gridCol>
                <a:gridCol w="457711">
                  <a:extLst>
                    <a:ext uri="{9D8B030D-6E8A-4147-A177-3AD203B41FA5}">
                      <a16:colId xmlns:a16="http://schemas.microsoft.com/office/drawing/2014/main" val="3060700387"/>
                    </a:ext>
                  </a:extLst>
                </a:gridCol>
                <a:gridCol w="457711">
                  <a:extLst>
                    <a:ext uri="{9D8B030D-6E8A-4147-A177-3AD203B41FA5}">
                      <a16:colId xmlns:a16="http://schemas.microsoft.com/office/drawing/2014/main" val="3248044367"/>
                    </a:ext>
                  </a:extLst>
                </a:gridCol>
                <a:gridCol w="457711">
                  <a:extLst>
                    <a:ext uri="{9D8B030D-6E8A-4147-A177-3AD203B41FA5}">
                      <a16:colId xmlns:a16="http://schemas.microsoft.com/office/drawing/2014/main" val="3714551932"/>
                    </a:ext>
                  </a:extLst>
                </a:gridCol>
                <a:gridCol w="457711">
                  <a:extLst>
                    <a:ext uri="{9D8B030D-6E8A-4147-A177-3AD203B41FA5}">
                      <a16:colId xmlns:a16="http://schemas.microsoft.com/office/drawing/2014/main" val="3685740288"/>
                    </a:ext>
                  </a:extLst>
                </a:gridCol>
                <a:gridCol w="457711">
                  <a:extLst>
                    <a:ext uri="{9D8B030D-6E8A-4147-A177-3AD203B41FA5}">
                      <a16:colId xmlns:a16="http://schemas.microsoft.com/office/drawing/2014/main" val="2493699881"/>
                    </a:ext>
                  </a:extLst>
                </a:gridCol>
                <a:gridCol w="457711">
                  <a:extLst>
                    <a:ext uri="{9D8B030D-6E8A-4147-A177-3AD203B41FA5}">
                      <a16:colId xmlns:a16="http://schemas.microsoft.com/office/drawing/2014/main" val="520475118"/>
                    </a:ext>
                  </a:extLst>
                </a:gridCol>
                <a:gridCol w="457711">
                  <a:extLst>
                    <a:ext uri="{9D8B030D-6E8A-4147-A177-3AD203B41FA5}">
                      <a16:colId xmlns:a16="http://schemas.microsoft.com/office/drawing/2014/main" val="628188764"/>
                    </a:ext>
                  </a:extLst>
                </a:gridCol>
                <a:gridCol w="457711">
                  <a:extLst>
                    <a:ext uri="{9D8B030D-6E8A-4147-A177-3AD203B41FA5}">
                      <a16:colId xmlns:a16="http://schemas.microsoft.com/office/drawing/2014/main" val="2017303700"/>
                    </a:ext>
                  </a:extLst>
                </a:gridCol>
              </a:tblGrid>
              <a:tr h="441612">
                <a:tc>
                  <a:txBody>
                    <a:bodyPr/>
                    <a:lstStyle/>
                    <a:p>
                      <a:pPr algn="ctr"/>
                      <a:endParaRPr lang="en-US" sz="1000" dirty="0"/>
                    </a:p>
                  </a:txBody>
                  <a:tcPr marL="102303" marR="102303" marT="51152" marB="51152" anchor="ctr"/>
                </a:tc>
                <a:tc>
                  <a:txBody>
                    <a:bodyPr/>
                    <a:lstStyle/>
                    <a:p>
                      <a:pPr algn="ctr"/>
                      <a:r>
                        <a:rPr lang="vi-VN" sz="1000" dirty="0"/>
                        <a:t>A</a:t>
                      </a:r>
                      <a:endParaRPr lang="en-US" sz="1000" dirty="0"/>
                    </a:p>
                  </a:txBody>
                  <a:tcPr marL="102303" marR="102303" marT="51152" marB="51152" anchor="ctr"/>
                </a:tc>
                <a:tc>
                  <a:txBody>
                    <a:bodyPr/>
                    <a:lstStyle/>
                    <a:p>
                      <a:pPr algn="ctr"/>
                      <a:r>
                        <a:rPr lang="vi-VN" sz="1000" dirty="0"/>
                        <a:t>B</a:t>
                      </a:r>
                      <a:endParaRPr lang="en-US" sz="1000" dirty="0"/>
                    </a:p>
                  </a:txBody>
                  <a:tcPr marL="102303" marR="102303" marT="51152" marB="51152" anchor="ctr"/>
                </a:tc>
                <a:tc>
                  <a:txBody>
                    <a:bodyPr/>
                    <a:lstStyle/>
                    <a:p>
                      <a:pPr algn="ctr"/>
                      <a:r>
                        <a:rPr lang="vi-VN" sz="1000" dirty="0"/>
                        <a:t>C</a:t>
                      </a:r>
                      <a:endParaRPr lang="en-US" sz="1000" dirty="0"/>
                    </a:p>
                  </a:txBody>
                  <a:tcPr marL="102303" marR="102303" marT="51152" marB="51152" anchor="ctr"/>
                </a:tc>
                <a:tc>
                  <a:txBody>
                    <a:bodyPr/>
                    <a:lstStyle/>
                    <a:p>
                      <a:pPr algn="ctr"/>
                      <a:r>
                        <a:rPr lang="vi-VN" sz="1000" dirty="0"/>
                        <a:t>D</a:t>
                      </a:r>
                      <a:endParaRPr lang="en-US" sz="1000" dirty="0"/>
                    </a:p>
                  </a:txBody>
                  <a:tcPr marL="102303" marR="102303" marT="51152" marB="51152" anchor="ctr"/>
                </a:tc>
                <a:tc>
                  <a:txBody>
                    <a:bodyPr/>
                    <a:lstStyle/>
                    <a:p>
                      <a:pPr algn="ctr"/>
                      <a:r>
                        <a:rPr lang="vi-VN" sz="1000" dirty="0"/>
                        <a:t>E</a:t>
                      </a:r>
                      <a:endParaRPr lang="en-US" sz="1000" dirty="0"/>
                    </a:p>
                  </a:txBody>
                  <a:tcPr marL="102303" marR="102303" marT="51152" marB="51152" anchor="ctr"/>
                </a:tc>
                <a:tc>
                  <a:txBody>
                    <a:bodyPr/>
                    <a:lstStyle/>
                    <a:p>
                      <a:pPr algn="ctr"/>
                      <a:r>
                        <a:rPr lang="vi-VN" sz="1000" dirty="0"/>
                        <a:t>F</a:t>
                      </a:r>
                      <a:endParaRPr lang="en-US" sz="1000" dirty="0"/>
                    </a:p>
                  </a:txBody>
                  <a:tcPr marL="102303" marR="102303" marT="51152" marB="51152" anchor="ctr"/>
                </a:tc>
                <a:tc>
                  <a:txBody>
                    <a:bodyPr/>
                    <a:lstStyle/>
                    <a:p>
                      <a:pPr algn="ctr"/>
                      <a:r>
                        <a:rPr lang="vi-VN" sz="1000" dirty="0"/>
                        <a:t>G</a:t>
                      </a:r>
                      <a:endParaRPr lang="en-US" sz="1000" dirty="0"/>
                    </a:p>
                  </a:txBody>
                  <a:tcPr marL="102303" marR="102303" marT="51152" marB="51152" anchor="ctr"/>
                </a:tc>
                <a:tc>
                  <a:txBody>
                    <a:bodyPr/>
                    <a:lstStyle/>
                    <a:p>
                      <a:pPr algn="ctr"/>
                      <a:r>
                        <a:rPr lang="vi-VN" sz="1000" dirty="0"/>
                        <a:t>H</a:t>
                      </a:r>
                      <a:endParaRPr lang="en-US" sz="1000" dirty="0"/>
                    </a:p>
                  </a:txBody>
                  <a:tcPr marL="102303" marR="102303" marT="51152" marB="51152" anchor="ctr"/>
                </a:tc>
                <a:tc>
                  <a:txBody>
                    <a:bodyPr/>
                    <a:lstStyle/>
                    <a:p>
                      <a:pPr algn="ctr"/>
                      <a:r>
                        <a:rPr lang="vi-VN" sz="1000" dirty="0"/>
                        <a:t>I</a:t>
                      </a:r>
                      <a:endParaRPr lang="en-US" sz="1000" dirty="0"/>
                    </a:p>
                  </a:txBody>
                  <a:tcPr marL="102303" marR="102303" marT="51152" marB="51152" anchor="ctr"/>
                </a:tc>
                <a:tc>
                  <a:txBody>
                    <a:bodyPr/>
                    <a:lstStyle/>
                    <a:p>
                      <a:pPr algn="ctr"/>
                      <a:r>
                        <a:rPr lang="vi-VN" sz="1000" dirty="0"/>
                        <a:t>J</a:t>
                      </a:r>
                      <a:endParaRPr lang="en-US" sz="1000" dirty="0"/>
                    </a:p>
                  </a:txBody>
                  <a:tcPr marL="102303" marR="102303" marT="51152" marB="51152" anchor="ctr"/>
                </a:tc>
                <a:extLst>
                  <a:ext uri="{0D108BD9-81ED-4DB2-BD59-A6C34878D82A}">
                    <a16:rowId xmlns:a16="http://schemas.microsoft.com/office/drawing/2014/main" val="2520287439"/>
                  </a:ext>
                </a:extLst>
              </a:tr>
              <a:tr h="460746">
                <a:tc>
                  <a:txBody>
                    <a:bodyPr/>
                    <a:lstStyle/>
                    <a:p>
                      <a:pPr algn="ctr"/>
                      <a:r>
                        <a:rPr lang="vi-VN" sz="1000" dirty="0"/>
                        <a:t>A</a:t>
                      </a:r>
                      <a:endParaRPr lang="en-US" sz="1000" dirty="0"/>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0.42</a:t>
                      </a:r>
                    </a:p>
                  </a:txBody>
                  <a:tcPr marL="102303" marR="102303" marT="51152" marB="51152" anchor="ctr"/>
                </a:tc>
                <a:tc>
                  <a:txBody>
                    <a:bodyPr/>
                    <a:lstStyle/>
                    <a:p>
                      <a:pPr algn="ctr"/>
                      <a:r>
                        <a:rPr lang="en-US" sz="1000" dirty="0"/>
                        <a:t>1.28</a:t>
                      </a:r>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4.45</a:t>
                      </a:r>
                    </a:p>
                  </a:txBody>
                  <a:tcPr marL="102303" marR="102303" marT="51152" marB="51152" anchor="ctr"/>
                </a:tc>
                <a:tc>
                  <a:txBody>
                    <a:bodyPr/>
                    <a:lstStyle/>
                    <a:p>
                      <a:pPr algn="ctr"/>
                      <a:r>
                        <a:rPr lang="en-US" sz="1000" dirty="0"/>
                        <a:t>4.45</a:t>
                      </a:r>
                    </a:p>
                  </a:txBody>
                  <a:tcPr marL="102303" marR="102303" marT="51152" marB="51152" anchor="ctr"/>
                </a:tc>
                <a:tc>
                  <a:txBody>
                    <a:bodyPr/>
                    <a:lstStyle/>
                    <a:p>
                      <a:pPr algn="ctr"/>
                      <a:r>
                        <a:rPr lang="en-US" sz="1000" dirty="0"/>
                        <a:t>4.67</a:t>
                      </a:r>
                    </a:p>
                  </a:txBody>
                  <a:tcPr marL="102303" marR="102303" marT="51152" marB="51152" anchor="ctr"/>
                </a:tc>
                <a:tc>
                  <a:txBody>
                    <a:bodyPr/>
                    <a:lstStyle/>
                    <a:p>
                      <a:pPr algn="ctr"/>
                      <a:r>
                        <a:rPr lang="en-US" sz="1000" dirty="0"/>
                        <a:t>5.52</a:t>
                      </a:r>
                    </a:p>
                  </a:txBody>
                  <a:tcPr marL="102303" marR="102303" marT="51152" marB="51152" anchor="ctr"/>
                </a:tc>
                <a:extLst>
                  <a:ext uri="{0D108BD9-81ED-4DB2-BD59-A6C34878D82A}">
                    <a16:rowId xmlns:a16="http://schemas.microsoft.com/office/drawing/2014/main" val="99464949"/>
                  </a:ext>
                </a:extLst>
              </a:tr>
              <a:tr h="441612">
                <a:tc>
                  <a:txBody>
                    <a:bodyPr/>
                    <a:lstStyle/>
                    <a:p>
                      <a:pPr algn="ctr"/>
                      <a:r>
                        <a:rPr lang="vi-VN" sz="1000" dirty="0"/>
                        <a:t>B</a:t>
                      </a:r>
                      <a:endParaRPr lang="en-US" sz="1000" dirty="0"/>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0.14</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1.08</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4.25</a:t>
                      </a:r>
                    </a:p>
                  </a:txBody>
                  <a:tcPr marL="102303" marR="102303" marT="51152" marB="51152" anchor="ctr"/>
                </a:tc>
                <a:tc>
                  <a:txBody>
                    <a:bodyPr/>
                    <a:lstStyle/>
                    <a:p>
                      <a:pPr algn="ctr"/>
                      <a:r>
                        <a:rPr lang="en-US" sz="1000" dirty="0"/>
                        <a:t>4.5</a:t>
                      </a:r>
                    </a:p>
                  </a:txBody>
                  <a:tcPr marL="102303" marR="102303" marT="51152" marB="51152" anchor="ctr"/>
                </a:tc>
                <a:tc>
                  <a:txBody>
                    <a:bodyPr/>
                    <a:lstStyle/>
                    <a:p>
                      <a:pPr algn="ctr"/>
                      <a:r>
                        <a:rPr lang="en-US" sz="1000" dirty="0"/>
                        <a:t>5.4</a:t>
                      </a:r>
                    </a:p>
                  </a:txBody>
                  <a:tcPr marL="102303" marR="102303" marT="51152" marB="51152" anchor="ctr"/>
                </a:tc>
                <a:extLst>
                  <a:ext uri="{0D108BD9-81ED-4DB2-BD59-A6C34878D82A}">
                    <a16:rowId xmlns:a16="http://schemas.microsoft.com/office/drawing/2014/main" val="1776665792"/>
                  </a:ext>
                </a:extLst>
              </a:tr>
              <a:tr h="441612">
                <a:tc>
                  <a:txBody>
                    <a:bodyPr/>
                    <a:lstStyle/>
                    <a:p>
                      <a:pPr algn="ctr"/>
                      <a:r>
                        <a:rPr lang="vi-VN" sz="1000" dirty="0"/>
                        <a:t>C</a:t>
                      </a:r>
                      <a:endParaRPr lang="en-US" sz="1000" dirty="0"/>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0.14</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1.06</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4.25</a:t>
                      </a:r>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4.5</a:t>
                      </a:r>
                    </a:p>
                  </a:txBody>
                  <a:tcPr marL="102303" marR="102303" marT="51152" marB="51152" anchor="ctr"/>
                </a:tc>
                <a:tc>
                  <a:txBody>
                    <a:bodyPr/>
                    <a:lstStyle/>
                    <a:p>
                      <a:pPr algn="ctr"/>
                      <a:r>
                        <a:rPr lang="en-US" sz="1000" dirty="0"/>
                        <a:t>5.3</a:t>
                      </a:r>
                    </a:p>
                  </a:txBody>
                  <a:tcPr marL="102303" marR="102303" marT="51152" marB="51152" anchor="ctr"/>
                </a:tc>
                <a:extLst>
                  <a:ext uri="{0D108BD9-81ED-4DB2-BD59-A6C34878D82A}">
                    <a16:rowId xmlns:a16="http://schemas.microsoft.com/office/drawing/2014/main" val="3157467528"/>
                  </a:ext>
                </a:extLst>
              </a:tr>
              <a:tr h="441612">
                <a:tc>
                  <a:txBody>
                    <a:bodyPr/>
                    <a:lstStyle/>
                    <a:p>
                      <a:pPr algn="ctr"/>
                      <a:r>
                        <a:rPr lang="vi-VN" sz="1000" dirty="0"/>
                        <a:t>D</a:t>
                      </a:r>
                      <a:endParaRPr lang="en-US" sz="1000" dirty="0"/>
                    </a:p>
                  </a:txBody>
                  <a:tcPr marL="102303" marR="102303" marT="51152" marB="51152" anchor="ctr"/>
                </a:tc>
                <a:tc>
                  <a:txBody>
                    <a:bodyPr/>
                    <a:lstStyle/>
                    <a:p>
                      <a:pPr algn="ctr"/>
                      <a:r>
                        <a:rPr lang="en-US" sz="1000" dirty="0"/>
                        <a:t>0.42</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0.86</a:t>
                      </a:r>
                    </a:p>
                  </a:txBody>
                  <a:tcPr marL="102303" marR="102303" marT="51152" marB="51152" anchor="ctr"/>
                </a:tc>
                <a:tc>
                  <a:txBody>
                    <a:bodyPr/>
                    <a:lstStyle/>
                    <a:p>
                      <a:pPr algn="ctr"/>
                      <a:r>
                        <a:rPr lang="en-US" sz="1000" dirty="0"/>
                        <a:t>3.81</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5.2</a:t>
                      </a:r>
                    </a:p>
                  </a:txBody>
                  <a:tcPr marL="102303" marR="102303" marT="51152" marB="51152" anchor="ctr"/>
                </a:tc>
                <a:extLst>
                  <a:ext uri="{0D108BD9-81ED-4DB2-BD59-A6C34878D82A}">
                    <a16:rowId xmlns:a16="http://schemas.microsoft.com/office/drawing/2014/main" val="1272054507"/>
                  </a:ext>
                </a:extLst>
              </a:tr>
              <a:tr h="441612">
                <a:tc>
                  <a:txBody>
                    <a:bodyPr/>
                    <a:lstStyle/>
                    <a:p>
                      <a:pPr algn="ctr"/>
                      <a:r>
                        <a:rPr lang="vi-VN" sz="1000" dirty="0"/>
                        <a:t>E</a:t>
                      </a:r>
                      <a:endParaRPr lang="en-US" sz="1000" dirty="0"/>
                    </a:p>
                  </a:txBody>
                  <a:tcPr marL="102303" marR="102303" marT="51152" marB="51152" anchor="ctr"/>
                </a:tc>
                <a:tc>
                  <a:txBody>
                    <a:bodyPr/>
                    <a:lstStyle/>
                    <a:p>
                      <a:pPr algn="ctr"/>
                      <a:r>
                        <a:rPr lang="en-US" sz="1000" dirty="0"/>
                        <a:t>1.28</a:t>
                      </a:r>
                    </a:p>
                  </a:txBody>
                  <a:tcPr marL="102303" marR="102303" marT="51152" marB="51152" anchor="ctr"/>
                </a:tc>
                <a:tc>
                  <a:txBody>
                    <a:bodyPr/>
                    <a:lstStyle/>
                    <a:p>
                      <a:pPr algn="ctr"/>
                      <a:r>
                        <a:rPr lang="en-US" sz="1000" dirty="0"/>
                        <a:t>1.08</a:t>
                      </a:r>
                    </a:p>
                  </a:txBody>
                  <a:tcPr marL="102303" marR="102303" marT="51152" marB="51152" anchor="ctr"/>
                </a:tc>
                <a:tc>
                  <a:txBody>
                    <a:bodyPr/>
                    <a:lstStyle/>
                    <a:p>
                      <a:pPr algn="ctr"/>
                      <a:r>
                        <a:rPr lang="en-US" sz="1000" dirty="0"/>
                        <a:t>1.06</a:t>
                      </a:r>
                    </a:p>
                  </a:txBody>
                  <a:tcPr marL="102303" marR="102303" marT="51152" marB="51152" anchor="ctr"/>
                </a:tc>
                <a:tc>
                  <a:txBody>
                    <a:bodyPr/>
                    <a:lstStyle/>
                    <a:p>
                      <a:pPr algn="ctr"/>
                      <a:r>
                        <a:rPr lang="en-US" sz="1000" dirty="0"/>
                        <a:t>0.86</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2.97</a:t>
                      </a:r>
                    </a:p>
                  </a:txBody>
                  <a:tcPr marL="102303" marR="102303" marT="51152" marB="51152" anchor="ctr"/>
                </a:tc>
                <a:tc>
                  <a:txBody>
                    <a:bodyPr/>
                    <a:lstStyle/>
                    <a:p>
                      <a:pPr algn="ctr"/>
                      <a:r>
                        <a:rPr lang="en-US" sz="1000" dirty="0"/>
                        <a:t>3.19</a:t>
                      </a:r>
                    </a:p>
                  </a:txBody>
                  <a:tcPr marL="102303" marR="102303" marT="51152" marB="51152" anchor="ctr"/>
                </a:tc>
                <a:tc>
                  <a:txBody>
                    <a:bodyPr/>
                    <a:lstStyle/>
                    <a:p>
                      <a:pPr algn="ctr"/>
                      <a:r>
                        <a:rPr lang="en-US" sz="1000" dirty="0"/>
                        <a:t>3.18</a:t>
                      </a:r>
                    </a:p>
                  </a:txBody>
                  <a:tcPr marL="102303" marR="102303" marT="51152" marB="51152" anchor="ctr"/>
                </a:tc>
                <a:tc>
                  <a:txBody>
                    <a:bodyPr/>
                    <a:lstStyle/>
                    <a:p>
                      <a:pPr algn="ctr"/>
                      <a:r>
                        <a:rPr lang="en-US" sz="1000" dirty="0"/>
                        <a:t>3.4</a:t>
                      </a:r>
                    </a:p>
                  </a:txBody>
                  <a:tcPr marL="102303" marR="102303" marT="51152" marB="51152" anchor="ctr"/>
                </a:tc>
                <a:tc>
                  <a:txBody>
                    <a:bodyPr/>
                    <a:lstStyle/>
                    <a:p>
                      <a:pPr algn="ctr"/>
                      <a:r>
                        <a:rPr lang="en-US" sz="1000" dirty="0"/>
                        <a:t>4.5</a:t>
                      </a:r>
                    </a:p>
                  </a:txBody>
                  <a:tcPr marL="102303" marR="102303" marT="51152" marB="51152" anchor="ctr"/>
                </a:tc>
                <a:extLst>
                  <a:ext uri="{0D108BD9-81ED-4DB2-BD59-A6C34878D82A}">
                    <a16:rowId xmlns:a16="http://schemas.microsoft.com/office/drawing/2014/main" val="2190470537"/>
                  </a:ext>
                </a:extLst>
              </a:tr>
              <a:tr h="441612">
                <a:tc>
                  <a:txBody>
                    <a:bodyPr/>
                    <a:lstStyle/>
                    <a:p>
                      <a:pPr algn="ctr"/>
                      <a:r>
                        <a:rPr lang="vi-VN" sz="1000" dirty="0"/>
                        <a:t>F</a:t>
                      </a:r>
                      <a:endParaRPr lang="en-US" sz="1000" dirty="0"/>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3.81</a:t>
                      </a:r>
                    </a:p>
                  </a:txBody>
                  <a:tcPr marL="102303" marR="102303" marT="51152" marB="51152" anchor="ctr"/>
                </a:tc>
                <a:tc>
                  <a:txBody>
                    <a:bodyPr/>
                    <a:lstStyle/>
                    <a:p>
                      <a:pPr algn="ctr"/>
                      <a:r>
                        <a:rPr lang="en-US" sz="1000" dirty="0"/>
                        <a:t>2.97</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0.42</a:t>
                      </a:r>
                    </a:p>
                  </a:txBody>
                  <a:tcPr marL="102303" marR="102303" marT="51152" marB="51152" anchor="ctr"/>
                </a:tc>
                <a:tc>
                  <a:txBody>
                    <a:bodyPr/>
                    <a:lstStyle/>
                    <a:p>
                      <a:pPr algn="ctr"/>
                      <a:r>
                        <a:rPr lang="en-US" sz="1000" dirty="0"/>
                        <a:t>3.5</a:t>
                      </a:r>
                    </a:p>
                  </a:txBody>
                  <a:tcPr marL="102303" marR="102303" marT="51152" marB="51152" anchor="ctr"/>
                </a:tc>
                <a:extLst>
                  <a:ext uri="{0D108BD9-81ED-4DB2-BD59-A6C34878D82A}">
                    <a16:rowId xmlns:a16="http://schemas.microsoft.com/office/drawing/2014/main" val="53120567"/>
                  </a:ext>
                </a:extLst>
              </a:tr>
              <a:tr h="441612">
                <a:tc>
                  <a:txBody>
                    <a:bodyPr/>
                    <a:lstStyle/>
                    <a:p>
                      <a:pPr algn="ctr"/>
                      <a:r>
                        <a:rPr lang="vi-VN" sz="1000" dirty="0"/>
                        <a:t>G</a:t>
                      </a:r>
                      <a:endParaRPr lang="en-US" sz="1000" dirty="0"/>
                    </a:p>
                  </a:txBody>
                  <a:tcPr marL="102303" marR="102303" marT="51152" marB="51152" anchor="ctr"/>
                </a:tc>
                <a:tc>
                  <a:txBody>
                    <a:bodyPr/>
                    <a:lstStyle/>
                    <a:p>
                      <a:pPr algn="ctr"/>
                      <a:r>
                        <a:rPr lang="en-US" sz="1000" dirty="0"/>
                        <a:t>4.45</a:t>
                      </a:r>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4.25</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3.19</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0.14</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3.6</a:t>
                      </a:r>
                    </a:p>
                  </a:txBody>
                  <a:tcPr marL="102303" marR="102303" marT="51152" marB="51152" anchor="ctr"/>
                </a:tc>
                <a:extLst>
                  <a:ext uri="{0D108BD9-81ED-4DB2-BD59-A6C34878D82A}">
                    <a16:rowId xmlns:a16="http://schemas.microsoft.com/office/drawing/2014/main" val="1924215214"/>
                  </a:ext>
                </a:extLst>
              </a:tr>
              <a:tr h="441612">
                <a:tc>
                  <a:txBody>
                    <a:bodyPr/>
                    <a:lstStyle/>
                    <a:p>
                      <a:pPr algn="ctr"/>
                      <a:r>
                        <a:rPr lang="vi-VN" sz="1000" dirty="0"/>
                        <a:t>H</a:t>
                      </a:r>
                      <a:endParaRPr lang="en-US" sz="1000" dirty="0"/>
                    </a:p>
                  </a:txBody>
                  <a:tcPr marL="102303" marR="102303" marT="51152" marB="51152" anchor="ctr"/>
                </a:tc>
                <a:tc>
                  <a:txBody>
                    <a:bodyPr/>
                    <a:lstStyle/>
                    <a:p>
                      <a:pPr algn="ctr"/>
                      <a:r>
                        <a:rPr lang="en-US" sz="1000" dirty="0"/>
                        <a:t>4.45</a:t>
                      </a:r>
                    </a:p>
                  </a:txBody>
                  <a:tcPr marL="102303" marR="102303" marT="51152" marB="51152" anchor="ctr"/>
                </a:tc>
                <a:tc>
                  <a:txBody>
                    <a:bodyPr/>
                    <a:lstStyle/>
                    <a:p>
                      <a:pPr algn="ctr"/>
                      <a:r>
                        <a:rPr lang="en-US" sz="1000" dirty="0"/>
                        <a:t>4.25</a:t>
                      </a:r>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4.03</a:t>
                      </a:r>
                    </a:p>
                  </a:txBody>
                  <a:tcPr marL="102303" marR="102303" marT="51152" marB="51152" anchor="ctr"/>
                </a:tc>
                <a:tc>
                  <a:txBody>
                    <a:bodyPr/>
                    <a:lstStyle/>
                    <a:p>
                      <a:pPr algn="ctr"/>
                      <a:r>
                        <a:rPr lang="en-US" sz="1000" dirty="0"/>
                        <a:t>3.18</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0.14</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3.47</a:t>
                      </a:r>
                    </a:p>
                  </a:txBody>
                  <a:tcPr marL="102303" marR="102303" marT="51152" marB="51152" anchor="ctr"/>
                </a:tc>
                <a:extLst>
                  <a:ext uri="{0D108BD9-81ED-4DB2-BD59-A6C34878D82A}">
                    <a16:rowId xmlns:a16="http://schemas.microsoft.com/office/drawing/2014/main" val="4133520139"/>
                  </a:ext>
                </a:extLst>
              </a:tr>
              <a:tr h="441612">
                <a:tc>
                  <a:txBody>
                    <a:bodyPr/>
                    <a:lstStyle/>
                    <a:p>
                      <a:pPr algn="ctr"/>
                      <a:r>
                        <a:rPr lang="vi-VN" sz="1000" dirty="0"/>
                        <a:t>I</a:t>
                      </a:r>
                      <a:endParaRPr lang="en-US" sz="1000" dirty="0"/>
                    </a:p>
                  </a:txBody>
                  <a:tcPr marL="102303" marR="102303" marT="51152" marB="51152" anchor="ctr"/>
                </a:tc>
                <a:tc>
                  <a:txBody>
                    <a:bodyPr/>
                    <a:lstStyle/>
                    <a:p>
                      <a:pPr algn="ctr"/>
                      <a:r>
                        <a:rPr lang="en-US" sz="1000" dirty="0"/>
                        <a:t>4.66</a:t>
                      </a:r>
                    </a:p>
                  </a:txBody>
                  <a:tcPr marL="102303" marR="102303" marT="51152" marB="51152" anchor="ctr"/>
                </a:tc>
                <a:tc>
                  <a:txBody>
                    <a:bodyPr/>
                    <a:lstStyle/>
                    <a:p>
                      <a:pPr algn="ctr"/>
                      <a:r>
                        <a:rPr lang="en-US" sz="1000" dirty="0"/>
                        <a:t>4.5</a:t>
                      </a:r>
                    </a:p>
                  </a:txBody>
                  <a:tcPr marL="102303" marR="102303" marT="51152" marB="51152" anchor="ctr"/>
                </a:tc>
                <a:tc>
                  <a:txBody>
                    <a:bodyPr/>
                    <a:lstStyle/>
                    <a:p>
                      <a:pPr algn="ctr"/>
                      <a:r>
                        <a:rPr lang="en-US" sz="1000" dirty="0"/>
                        <a:t>4.5</a:t>
                      </a:r>
                    </a:p>
                  </a:txBody>
                  <a:tcPr marL="102303" marR="102303" marT="51152" marB="51152" anchor="ctr"/>
                </a:tc>
                <a:tc>
                  <a:txBody>
                    <a:bodyPr/>
                    <a:lstStyle/>
                    <a:p>
                      <a:pPr algn="ctr"/>
                      <a:r>
                        <a:rPr lang="en-US" sz="1000" dirty="0"/>
                        <a:t>4.24</a:t>
                      </a:r>
                    </a:p>
                  </a:txBody>
                  <a:tcPr marL="102303" marR="102303" marT="51152" marB="51152" anchor="ctr"/>
                </a:tc>
                <a:tc>
                  <a:txBody>
                    <a:bodyPr/>
                    <a:lstStyle/>
                    <a:p>
                      <a:pPr algn="ctr"/>
                      <a:r>
                        <a:rPr lang="en-US" sz="1000" dirty="0"/>
                        <a:t>3.4</a:t>
                      </a:r>
                    </a:p>
                  </a:txBody>
                  <a:tcPr marL="102303" marR="102303" marT="51152" marB="51152" anchor="ctr"/>
                </a:tc>
                <a:tc>
                  <a:txBody>
                    <a:bodyPr/>
                    <a:lstStyle/>
                    <a:p>
                      <a:pPr algn="ctr"/>
                      <a:r>
                        <a:rPr lang="en-US" sz="1000" dirty="0"/>
                        <a:t>0.42</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en-US" sz="1000" dirty="0"/>
                        <a:t>0.22</a:t>
                      </a:r>
                    </a:p>
                  </a:txBody>
                  <a:tcPr marL="102303" marR="102303" marT="51152" marB="51152" anchor="ctr"/>
                </a:tc>
                <a:tc>
                  <a:txBody>
                    <a:bodyPr/>
                    <a:lstStyle/>
                    <a:p>
                      <a:pPr algn="ctr"/>
                      <a:r>
                        <a:rPr lang="vi-VN" sz="1000" dirty="0"/>
                        <a:t>0</a:t>
                      </a:r>
                      <a:endParaRPr lang="en-US" sz="1000" dirty="0"/>
                    </a:p>
                  </a:txBody>
                  <a:tcPr marL="102303" marR="102303" marT="51152" marB="51152" anchor="ctr"/>
                </a:tc>
                <a:tc>
                  <a:txBody>
                    <a:bodyPr/>
                    <a:lstStyle/>
                    <a:p>
                      <a:pPr algn="ctr"/>
                      <a:r>
                        <a:rPr lang="en-US" sz="1000" dirty="0"/>
                        <a:t>3.56</a:t>
                      </a:r>
                    </a:p>
                  </a:txBody>
                  <a:tcPr marL="102303" marR="102303" marT="51152" marB="51152" anchor="ctr"/>
                </a:tc>
                <a:extLst>
                  <a:ext uri="{0D108BD9-81ED-4DB2-BD59-A6C34878D82A}">
                    <a16:rowId xmlns:a16="http://schemas.microsoft.com/office/drawing/2014/main" val="3495154044"/>
                  </a:ext>
                </a:extLst>
              </a:tr>
              <a:tr h="441612">
                <a:tc>
                  <a:txBody>
                    <a:bodyPr/>
                    <a:lstStyle/>
                    <a:p>
                      <a:pPr algn="ctr"/>
                      <a:r>
                        <a:rPr lang="vi-VN" sz="1000" dirty="0"/>
                        <a:t>J</a:t>
                      </a:r>
                      <a:endParaRPr lang="en-US" sz="1000" dirty="0"/>
                    </a:p>
                  </a:txBody>
                  <a:tcPr marL="102303" marR="102303" marT="51152" marB="51152" anchor="ctr"/>
                </a:tc>
                <a:tc>
                  <a:txBody>
                    <a:bodyPr/>
                    <a:lstStyle/>
                    <a:p>
                      <a:pPr algn="ctr"/>
                      <a:r>
                        <a:rPr lang="en-US" sz="1000" dirty="0"/>
                        <a:t>5.52</a:t>
                      </a:r>
                    </a:p>
                  </a:txBody>
                  <a:tcPr marL="102303" marR="102303" marT="51152" marB="51152" anchor="ctr"/>
                </a:tc>
                <a:tc>
                  <a:txBody>
                    <a:bodyPr/>
                    <a:lstStyle/>
                    <a:p>
                      <a:pPr algn="ctr"/>
                      <a:r>
                        <a:rPr lang="en-US" sz="1000" dirty="0"/>
                        <a:t>5.4</a:t>
                      </a:r>
                    </a:p>
                  </a:txBody>
                  <a:tcPr marL="102303" marR="102303" marT="51152" marB="51152" anchor="ctr"/>
                </a:tc>
                <a:tc>
                  <a:txBody>
                    <a:bodyPr/>
                    <a:lstStyle/>
                    <a:p>
                      <a:pPr algn="ctr"/>
                      <a:r>
                        <a:rPr lang="en-US" sz="1000" dirty="0"/>
                        <a:t>5.3</a:t>
                      </a:r>
                    </a:p>
                  </a:txBody>
                  <a:tcPr marL="102303" marR="102303" marT="51152" marB="51152" anchor="ctr"/>
                </a:tc>
                <a:tc>
                  <a:txBody>
                    <a:bodyPr/>
                    <a:lstStyle/>
                    <a:p>
                      <a:pPr algn="ctr"/>
                      <a:r>
                        <a:rPr lang="en-US" sz="1000" dirty="0"/>
                        <a:t>5.2</a:t>
                      </a:r>
                    </a:p>
                  </a:txBody>
                  <a:tcPr marL="102303" marR="102303" marT="51152" marB="51152" anchor="ctr"/>
                </a:tc>
                <a:tc>
                  <a:txBody>
                    <a:bodyPr/>
                    <a:lstStyle/>
                    <a:p>
                      <a:pPr algn="ctr"/>
                      <a:r>
                        <a:rPr lang="en-US" sz="1000" dirty="0"/>
                        <a:t>4.5</a:t>
                      </a:r>
                    </a:p>
                  </a:txBody>
                  <a:tcPr marL="102303" marR="102303" marT="51152" marB="51152" anchor="ctr"/>
                </a:tc>
                <a:tc>
                  <a:txBody>
                    <a:bodyPr/>
                    <a:lstStyle/>
                    <a:p>
                      <a:pPr algn="ctr"/>
                      <a:r>
                        <a:rPr lang="en-US" sz="1000" dirty="0"/>
                        <a:t>3.5</a:t>
                      </a:r>
                    </a:p>
                  </a:txBody>
                  <a:tcPr marL="102303" marR="102303" marT="51152" marB="51152" anchor="ctr"/>
                </a:tc>
                <a:tc>
                  <a:txBody>
                    <a:bodyPr/>
                    <a:lstStyle/>
                    <a:p>
                      <a:pPr algn="ctr"/>
                      <a:r>
                        <a:rPr lang="en-US" sz="1000" dirty="0"/>
                        <a:t>3.6</a:t>
                      </a:r>
                    </a:p>
                  </a:txBody>
                  <a:tcPr marL="102303" marR="102303" marT="51152" marB="51152" anchor="ctr"/>
                </a:tc>
                <a:tc>
                  <a:txBody>
                    <a:bodyPr/>
                    <a:lstStyle/>
                    <a:p>
                      <a:pPr algn="ctr"/>
                      <a:r>
                        <a:rPr lang="en-US" sz="1000" dirty="0"/>
                        <a:t>3.47</a:t>
                      </a:r>
                    </a:p>
                  </a:txBody>
                  <a:tcPr marL="102303" marR="102303" marT="51152" marB="51152" anchor="ctr"/>
                </a:tc>
                <a:tc>
                  <a:txBody>
                    <a:bodyPr/>
                    <a:lstStyle/>
                    <a:p>
                      <a:pPr algn="ctr"/>
                      <a:r>
                        <a:rPr lang="en-US" sz="1000" dirty="0"/>
                        <a:t>3.56</a:t>
                      </a:r>
                    </a:p>
                  </a:txBody>
                  <a:tcPr marL="102303" marR="102303" marT="51152" marB="51152" anchor="ctr"/>
                </a:tc>
                <a:tc>
                  <a:txBody>
                    <a:bodyPr/>
                    <a:lstStyle/>
                    <a:p>
                      <a:pPr algn="ctr"/>
                      <a:r>
                        <a:rPr lang="vi-VN" sz="1000" dirty="0"/>
                        <a:t>0</a:t>
                      </a:r>
                      <a:endParaRPr lang="en-US" sz="1000" dirty="0"/>
                    </a:p>
                  </a:txBody>
                  <a:tcPr marL="102303" marR="102303" marT="51152" marB="51152" anchor="ctr"/>
                </a:tc>
                <a:extLst>
                  <a:ext uri="{0D108BD9-81ED-4DB2-BD59-A6C34878D82A}">
                    <a16:rowId xmlns:a16="http://schemas.microsoft.com/office/drawing/2014/main" val="993595536"/>
                  </a:ext>
                </a:extLst>
              </a:tr>
            </a:tbl>
          </a:graphicData>
        </a:graphic>
      </p:graphicFrame>
      <p:sp>
        <p:nvSpPr>
          <p:cNvPr id="41" name="TextBox 5">
            <a:extLst>
              <a:ext uri="{FF2B5EF4-FFF2-40B4-BE49-F238E27FC236}">
                <a16:creationId xmlns:a16="http://schemas.microsoft.com/office/drawing/2014/main" id="{A48ACAE2-EA9D-284A-85A1-76A59493A8FF}"/>
              </a:ext>
            </a:extLst>
          </p:cNvPr>
          <p:cNvSpPr txBox="1"/>
          <p:nvPr/>
        </p:nvSpPr>
        <p:spPr>
          <a:xfrm>
            <a:off x="1080135" y="2353945"/>
            <a:ext cx="4446905" cy="337335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dirty="0">
                <a:latin typeface="+mj-lt"/>
              </a:rPr>
              <a:t>Cho các điểm dữ liệu có tọa độ như sau:</a:t>
            </a:r>
          </a:p>
          <a:p>
            <a:pPr algn="just">
              <a:lnSpc>
                <a:spcPct val="150000"/>
              </a:lnSpc>
            </a:pPr>
            <a:r>
              <a:rPr lang="en-US" altLang="vi-VN" dirty="0">
                <a:latin typeface="+mj-lt"/>
              </a:rPr>
              <a:t>A(1,</a:t>
            </a:r>
            <a:r>
              <a:rPr lang="vi-VN" altLang="en-US" dirty="0">
                <a:latin typeface="+mj-lt"/>
              </a:rPr>
              <a:t> </a:t>
            </a:r>
            <a:r>
              <a:rPr lang="en-US" altLang="vi-VN" dirty="0">
                <a:latin typeface="+mj-lt"/>
              </a:rPr>
              <a:t>1)		F(4, 4)</a:t>
            </a:r>
          </a:p>
          <a:p>
            <a:pPr algn="just">
              <a:lnSpc>
                <a:spcPct val="150000"/>
              </a:lnSpc>
            </a:pPr>
            <a:r>
              <a:rPr lang="en-US" altLang="vi-VN" dirty="0">
                <a:latin typeface="+mj-lt"/>
              </a:rPr>
              <a:t>B(1.1, 1.2)	G(4.1, 4.2)</a:t>
            </a:r>
          </a:p>
          <a:p>
            <a:pPr algn="just">
              <a:lnSpc>
                <a:spcPct val="150000"/>
              </a:lnSpc>
            </a:pPr>
            <a:r>
              <a:rPr lang="en-US" altLang="vi-VN" dirty="0">
                <a:latin typeface="+mj-lt"/>
              </a:rPr>
              <a:t>C(1.2, 1.1)	H(4.2, 4.1)</a:t>
            </a:r>
          </a:p>
          <a:p>
            <a:pPr algn="just">
              <a:lnSpc>
                <a:spcPct val="150000"/>
              </a:lnSpc>
            </a:pPr>
            <a:r>
              <a:rPr lang="en-US" altLang="vi-VN" dirty="0">
                <a:latin typeface="+mj-lt"/>
              </a:rPr>
              <a:t>D(1.3, 1.3)	I(4.3, 4.3)</a:t>
            </a:r>
          </a:p>
          <a:p>
            <a:pPr algn="just">
              <a:lnSpc>
                <a:spcPct val="150000"/>
              </a:lnSpc>
            </a:pPr>
            <a:r>
              <a:rPr lang="en-US" altLang="vi-VN" dirty="0">
                <a:latin typeface="+mj-lt"/>
              </a:rPr>
              <a:t>E(2, 1.8)		J(6.5, 1.5)</a:t>
            </a:r>
          </a:p>
          <a:p>
            <a:pPr algn="just">
              <a:lnSpc>
                <a:spcPct val="150000"/>
              </a:lnSpc>
            </a:pPr>
            <a:r>
              <a:rPr lang="vi-VN" altLang="vi-VN" dirty="0">
                <a:latin typeface="+mj-lt"/>
              </a:rPr>
              <a:t>Bước 1: Tính toán ma trận khoảng cách</a:t>
            </a:r>
            <a:endParaRPr lang="en-US" altLang="vi-VN" dirty="0">
              <a:latin typeface="+mj-lt"/>
            </a:endParaRPr>
          </a:p>
        </p:txBody>
      </p:sp>
    </p:spTree>
    <p:extLst>
      <p:ext uri="{BB962C8B-B14F-4D97-AF65-F5344CB8AC3E}">
        <p14:creationId xmlns:p14="http://schemas.microsoft.com/office/powerpoint/2010/main" val="1639138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t>12</a:t>
            </a:fld>
            <a:endParaRPr lang="en-US"/>
          </a:p>
        </p:txBody>
      </p:sp>
      <p:sp>
        <p:nvSpPr>
          <p:cNvPr id="5" name="TextBox 3"/>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41" name="TextBox 5">
                <a:extLst>
                  <a:ext uri="{FF2B5EF4-FFF2-40B4-BE49-F238E27FC236}">
                    <a16:creationId xmlns:a16="http://schemas.microsoft.com/office/drawing/2014/main" id="{503DD207-9DCA-B9D0-05E8-7038A7DCE150}"/>
                  </a:ext>
                </a:extLst>
              </p:cNvPr>
              <p:cNvSpPr txBox="1"/>
              <p:nvPr/>
            </p:nvSpPr>
            <p:spPr>
              <a:xfrm>
                <a:off x="1080136" y="2353945"/>
                <a:ext cx="4583246" cy="328923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altLang="vi-VN" dirty="0">
                    <a:latin typeface="+mj-lt"/>
                  </a:rPr>
                  <a:t>Bước </a:t>
                </a:r>
                <a:r>
                  <a:rPr lang="en-US" altLang="vi-VN" dirty="0">
                    <a:latin typeface="+mj-lt"/>
                  </a:rPr>
                  <a:t>2</a:t>
                </a:r>
                <a:r>
                  <a:rPr lang="vi-VN" altLang="vi-VN" dirty="0">
                    <a:latin typeface="+mj-lt"/>
                  </a:rPr>
                  <a:t>: </a:t>
                </a:r>
                <a:r>
                  <a:rPr lang="vi-VN" dirty="0">
                    <a:latin typeface="+mj-lt"/>
                  </a:rPr>
                  <a:t>Xác định khoảng cách cắt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dirty="0">
                    <a:latin typeface="+mj-lt"/>
                  </a:rPr>
                  <a:t>)</a:t>
                </a:r>
                <a:endParaRPr lang="en-US" dirty="0">
                  <a:latin typeface="+mj-lt"/>
                </a:endParaRPr>
              </a:p>
              <a:p>
                <a:pPr marL="285750" indent="-285750" algn="just">
                  <a:lnSpc>
                    <a:spcPct val="150000"/>
                  </a:lnSpc>
                  <a:buFontTx/>
                  <a:buChar char="-"/>
                </a:pPr>
                <a:r>
                  <a:rPr lang="vi-VN" dirty="0">
                    <a:latin typeface="+mj-lt"/>
                  </a:rPr>
                  <a:t>Chọn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dirty="0">
                    <a:latin typeface="+mj-lt"/>
                  </a:rPr>
                  <a:t> = 0.7</a:t>
                </a:r>
              </a:p>
              <a:p>
                <a:pPr algn="just">
                  <a:lnSpc>
                    <a:spcPct val="150000"/>
                  </a:lnSpc>
                </a:pPr>
                <a:r>
                  <a:rPr lang="vi-VN" dirty="0">
                    <a:latin typeface="+mj-lt"/>
                  </a:rPr>
                  <a:t>Bước 3: Tính mật độ cục bộ </a:t>
                </a:r>
                <a14:m>
                  <m:oMath xmlns:m="http://schemas.openxmlformats.org/officeDocument/2006/math">
                    <m:r>
                      <a:rPr lang="en-US" altLang="vi-VN" i="1" dirty="0">
                        <a:latin typeface="Cambria Math" panose="02040503050406030204" pitchFamily="18" charset="0"/>
                        <a:cs typeface="Cambria Math" panose="02040503050406030204" pitchFamily="18" charset="0"/>
                      </a:rPr>
                      <m:t>(</m:t>
                    </m:r>
                    <m:sSub>
                      <m:sSubPr>
                        <m:ctrlPr>
                          <a:rPr lang="en-US" altLang="vi-VN" i="1" dirty="0">
                            <a:latin typeface="Cambria Math" panose="02040503050406030204" pitchFamily="18" charset="0"/>
                            <a:cs typeface="Cambria Math" panose="02040503050406030204" pitchFamily="18" charset="0"/>
                          </a:rPr>
                        </m:ctrlPr>
                      </m:sSubPr>
                      <m:e>
                        <m:r>
                          <a:rPr lang="en-US" altLang="vi-VN" i="1" dirty="0">
                            <a:latin typeface="Cambria Math" panose="02040503050406030204" pitchFamily="18" charset="0"/>
                            <a:cs typeface="Cambria Math" panose="02040503050406030204" pitchFamily="18" charset="0"/>
                          </a:rPr>
                          <m:t>𝜌</m:t>
                        </m:r>
                      </m:e>
                      <m:sub>
                        <m:r>
                          <a:rPr lang="vi-VN" altLang="en-US" i="1" dirty="0">
                            <a:latin typeface="Cambria Math" panose="02040503050406030204" pitchFamily="18" charset="0"/>
                            <a:cs typeface="Cambria Math" panose="02040503050406030204" pitchFamily="18" charset="0"/>
                          </a:rPr>
                          <m:t>𝑖</m:t>
                        </m:r>
                      </m:sub>
                    </m:sSub>
                    <m:r>
                      <a:rPr lang="en-US" altLang="vi-VN" i="1" dirty="0">
                        <a:latin typeface="Cambria Math" panose="02040503050406030204" pitchFamily="18" charset="0"/>
                        <a:cs typeface="Cambria Math" panose="02040503050406030204" pitchFamily="18" charset="0"/>
                      </a:rPr>
                      <m:t>)</m:t>
                    </m:r>
                  </m:oMath>
                </a14:m>
                <a:endParaRPr lang="vi-VN" dirty="0">
                  <a:latin typeface="+mj-lt"/>
                </a:endParaRPr>
              </a:p>
              <a:p>
                <a:pPr marL="285750" indent="-285750" algn="just">
                  <a:lnSpc>
                    <a:spcPct val="150000"/>
                  </a:lnSpc>
                  <a:buFontTx/>
                  <a:buChar char="-"/>
                </a:pPr>
                <a:r>
                  <a:rPr lang="vi-VN" dirty="0">
                    <a:latin typeface="+mj-lt"/>
                  </a:rPr>
                  <a:t>Dùng Gaussian kernel</a:t>
                </a:r>
              </a:p>
              <a:p>
                <a:pPr marL="285750" indent="-285750" algn="just">
                  <a:lnSpc>
                    <a:spcPct val="150000"/>
                  </a:lnSpc>
                  <a:buFontTx/>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r>
                      <a:rPr lang="vi-VN" i="1">
                        <a:latin typeface="Cambria Math" panose="02040503050406030204" pitchFamily="18" charset="0"/>
                      </a:rPr>
                      <m:t>=</m:t>
                    </m:r>
                    <m:nary>
                      <m:naryPr>
                        <m:chr m:val="∑"/>
                        <m:supHide m:val="on"/>
                        <m:ctrlPr>
                          <a:rPr lang="vi-VN" i="1">
                            <a:latin typeface="Cambria Math" panose="02040503050406030204" pitchFamily="18" charset="0"/>
                          </a:rPr>
                        </m:ctrlPr>
                      </m:naryPr>
                      <m:sub>
                        <m:r>
                          <m:rPr>
                            <m:brk m:alnAt="7"/>
                          </m:rPr>
                          <a:rPr lang="vi-VN" i="1">
                            <a:latin typeface="Cambria Math" panose="02040503050406030204" pitchFamily="18" charset="0"/>
                          </a:rPr>
                          <m:t>𝑗</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𝑖</m:t>
                        </m:r>
                      </m:sub>
                      <m:sup/>
                      <m:e>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𝑒</m:t>
                            </m:r>
                          </m:e>
                          <m:sup>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m:t>
                                </m:r>
                                <m:f>
                                  <m:fPr>
                                    <m:ctrlPr>
                                      <a:rPr lang="vi-VN" i="1">
                                        <a:latin typeface="Cambria Math" panose="02040503050406030204" pitchFamily="18" charset="0"/>
                                        <a:ea typeface="Cambria Math" panose="02040503050406030204" pitchFamily="18" charset="0"/>
                                      </a:rPr>
                                    </m:ctrlPr>
                                  </m:fPr>
                                  <m:num>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𝑖𝑗</m:t>
                                        </m:r>
                                      </m:sub>
                                    </m:sSub>
                                  </m:num>
                                  <m:den>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𝑐</m:t>
                                        </m:r>
                                      </m:sub>
                                    </m:sSub>
                                  </m:den>
                                </m:f>
                                <m:r>
                                  <a:rPr lang="vi-VN" i="1">
                                    <a:latin typeface="Cambria Math" panose="02040503050406030204" pitchFamily="18" charset="0"/>
                                    <a:ea typeface="Cambria Math" panose="02040503050406030204" pitchFamily="18" charset="0"/>
                                  </a:rPr>
                                  <m:t>)</m:t>
                                </m:r>
                              </m:e>
                              <m:sup>
                                <m:r>
                                  <a:rPr lang="vi-VN" i="1">
                                    <a:latin typeface="Cambria Math" panose="02040503050406030204" pitchFamily="18" charset="0"/>
                                    <a:ea typeface="Cambria Math" panose="02040503050406030204" pitchFamily="18" charset="0"/>
                                  </a:rPr>
                                  <m:t>2</m:t>
                                </m:r>
                              </m:sup>
                            </m:sSup>
                          </m:sup>
                        </m:sSup>
                      </m:e>
                    </m:nary>
                  </m:oMath>
                </a14:m>
                <a:endParaRPr lang="vi-VN" i="1" dirty="0">
                  <a:latin typeface="+mj-lt"/>
                </a:endParaRPr>
              </a:p>
              <a:p>
                <a:pPr algn="just">
                  <a:lnSpc>
                    <a:spcPct val="150000"/>
                  </a:lnSpc>
                </a:pPr>
                <a:endParaRPr lang="vi-VN" dirty="0">
                  <a:latin typeface="+mj-lt"/>
                </a:endParaRPr>
              </a:p>
            </p:txBody>
          </p:sp>
        </mc:Choice>
        <mc:Fallback xmlns="">
          <p:sp>
            <p:nvSpPr>
              <p:cNvPr id="41" name="TextBox 5">
                <a:extLst>
                  <a:ext uri="{FF2B5EF4-FFF2-40B4-BE49-F238E27FC236}">
                    <a16:creationId xmlns:a16="http://schemas.microsoft.com/office/drawing/2014/main" id="{503DD207-9DCA-B9D0-05E8-7038A7DCE150}"/>
                  </a:ext>
                </a:extLst>
              </p:cNvPr>
              <p:cNvSpPr txBox="1">
                <a:spLocks noRot="1" noChangeAspect="1" noMove="1" noResize="1" noEditPoints="1" noAdjustHandles="1" noChangeArrowheads="1" noChangeShapeType="1" noTextEdit="1"/>
              </p:cNvSpPr>
              <p:nvPr/>
            </p:nvSpPr>
            <p:spPr>
              <a:xfrm>
                <a:off x="1080136" y="2353945"/>
                <a:ext cx="4583246" cy="3289234"/>
              </a:xfrm>
              <a:prstGeom prst="rect">
                <a:avLst/>
              </a:prstGeom>
              <a:blipFill>
                <a:blip r:embed="rId2"/>
                <a:stretch>
                  <a:fillRect l="-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43A800B-4C5E-E2A7-A4DB-3866FE2B8851}"/>
                  </a:ext>
                </a:extLst>
              </p:cNvPr>
              <p:cNvSpPr txBox="1"/>
              <p:nvPr/>
            </p:nvSpPr>
            <p:spPr>
              <a:xfrm>
                <a:off x="6096000" y="1912061"/>
                <a:ext cx="5015864" cy="4216667"/>
              </a:xfrm>
              <a:prstGeom prst="rect">
                <a:avLst/>
              </a:prstGeom>
              <a:noFill/>
            </p:spPr>
            <p:txBody>
              <a:bodyPr wrap="square" rtlCol="0">
                <a:spAutoFit/>
              </a:bodyPr>
              <a:lstStyle/>
              <a:p>
                <a:pPr>
                  <a:lnSpc>
                    <a:spcPct val="150000"/>
                  </a:lnSpc>
                </a:pPr>
                <a14:m>
                  <m:oMath xmlns:m="http://schemas.openxmlformats.org/officeDocument/2006/math">
                    <m:sSub>
                      <m:sSubPr>
                        <m:ctrlPr>
                          <a:rPr kumimoji="0" lang="vi-VN" sz="18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vi-V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𝜌</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𝐴</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22</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2</m:t>
                            </m:r>
                          </m:sup>
                        </m:sSup>
                      </m:sup>
                    </m:sSup>
                  </m:oMath>
                </a14:m>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22</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4</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r>
                  <a:rPr kumimoji="0" lang="en-US" sz="1800" b="0" i="1" u="none" strike="noStrike" kern="1200" cap="none" spc="0" normalizeH="0" baseline="0" noProof="0" dirty="0">
                    <a:ln>
                      <a:noFill/>
                    </a:ln>
                    <a:solidFill>
                      <a:prstClr val="black"/>
                    </a:solidFill>
                    <a:effectLst/>
                    <a:uLnTx/>
                    <a:uFillTx/>
                    <a:latin typeface="+mj-lt"/>
                  </a:rPr>
                  <a:t> </a:t>
                </a:r>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1</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28</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4</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24</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r>
                  <a:rPr kumimoji="0" lang="en-US" sz="1800" b="0" i="1" u="none" strike="noStrike" kern="1200" cap="none" spc="0" normalizeH="0" baseline="0" noProof="0" dirty="0">
                    <a:ln>
                      <a:noFill/>
                    </a:ln>
                    <a:solidFill>
                      <a:prstClr val="black"/>
                    </a:solidFill>
                    <a:effectLst/>
                    <a:uLnTx/>
                    <a:uFillTx/>
                    <a:latin typeface="+mj-lt"/>
                  </a:rPr>
                  <a:t> </a:t>
                </a:r>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4</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45</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r>
                  <a:rPr kumimoji="0" lang="en-US" sz="1800" b="0" i="1" u="none" strike="noStrike" kern="1200" cap="none" spc="0" normalizeH="0" baseline="0" noProof="0" dirty="0">
                    <a:ln>
                      <a:noFill/>
                    </a:ln>
                    <a:solidFill>
                      <a:prstClr val="black"/>
                    </a:solidFill>
                    <a:effectLst/>
                    <a:uLnTx/>
                    <a:uFillTx/>
                    <a:latin typeface="+mj-lt"/>
                  </a:rPr>
                  <a:t> </a:t>
                </a:r>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4</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45</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r>
                  <a:rPr kumimoji="0" lang="en-US" sz="1800" b="0" i="1" u="none" strike="noStrike" kern="1200" cap="none" spc="0" normalizeH="0" baseline="0" noProof="0" dirty="0">
                    <a:ln>
                      <a:noFill/>
                    </a:ln>
                    <a:solidFill>
                      <a:prstClr val="black"/>
                    </a:solidFill>
                    <a:effectLst/>
                    <a:uLnTx/>
                    <a:uFillTx/>
                    <a:latin typeface="+mj-lt"/>
                  </a:rPr>
                  <a:t> </a:t>
                </a:r>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4</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67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r>
                  <a:rPr kumimoji="0" lang="en-US" sz="1800" b="0" i="1" u="none" strike="noStrike" kern="1200" cap="none" spc="0" normalizeH="0" baseline="0" noProof="0" dirty="0">
                    <a:ln>
                      <a:noFill/>
                    </a:ln>
                    <a:solidFill>
                      <a:prstClr val="black"/>
                    </a:solidFill>
                    <a:effectLst/>
                    <a:uLnTx/>
                    <a:uFillTx/>
                    <a:latin typeface="+mj-lt"/>
                  </a:rPr>
                  <a:t> </a:t>
                </a:r>
                <a:r>
                  <a:rPr kumimoji="0" lang="en-US" sz="1800" b="0" i="0" u="none" strike="noStrike" kern="1200" cap="none" spc="0" normalizeH="0" baseline="0" noProof="0" dirty="0">
                    <a:ln>
                      <a:noFill/>
                    </a:ln>
                    <a:solidFill>
                      <a:prstClr val="black"/>
                    </a:solidFill>
                    <a:effectLst/>
                    <a:uLnTx/>
                    <a:uFillTx/>
                    <a:latin typeface="+mj-lt"/>
                  </a:rPr>
                  <a:t>+</a:t>
                </a:r>
                <a:r>
                  <a:rPr kumimoji="0" lang="en-US" sz="1800" b="0" i="1" u="none" strike="noStrike" kern="1200" cap="none" spc="0" normalizeH="0" baseline="0" noProof="0" dirty="0">
                    <a:ln>
                      <a:noFill/>
                    </a:ln>
                    <a:solidFill>
                      <a:prstClr val="black"/>
                    </a:solidFill>
                    <a:effectLst/>
                    <a:uLnTx/>
                    <a:uFillTx/>
                    <a:latin typeface="+mj-lt"/>
                  </a:rPr>
                  <a:t> </a:t>
                </a:r>
                <a14:m>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𝑒</m:t>
                        </m:r>
                      </m:e>
                      <m:sup>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5</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rPr>
                              <m:t>52</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7</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m:t>
                            </m:r>
                          </m:e>
                          <m:sup>
                            <m:r>
                              <a:rPr kumimoji="0" lang="en-US" sz="1800" b="0" i="1" u="none" strike="noStrike" kern="1200" cap="none" spc="0" normalizeH="0" baseline="0" noProof="0">
                                <a:ln>
                                  <a:noFill/>
                                </a:ln>
                                <a:solidFill>
                                  <a:prstClr val="black"/>
                                </a:solidFill>
                                <a:effectLst/>
                                <a:uLnTx/>
                                <a:uFillTx/>
                                <a:latin typeface="Cambria Math" panose="02040503050406030204" pitchFamily="18" charset="0"/>
                              </a:rPr>
                              <m:t>2</m:t>
                            </m:r>
                          </m:sup>
                        </m:sSup>
                      </m:sup>
                    </m:sSup>
                  </m:oMath>
                </a14:m>
                <a:endParaRPr lang="en-US" dirty="0">
                  <a:latin typeface="+mj-lt"/>
                </a:endParaRPr>
              </a:p>
              <a:p>
                <a:pPr>
                  <a:lnSpc>
                    <a:spcPct val="150000"/>
                  </a:lnSpc>
                </a:pP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latin typeface="+mj-lt"/>
                  </a:rPr>
                  <a:t> </a:t>
                </a:r>
                <a:r>
                  <a:rPr lang="vi-VN" dirty="0">
                    <a:latin typeface="+mj-lt"/>
                  </a:rPr>
                  <a:t>2.54</a:t>
                </a:r>
                <a:r>
                  <a:rPr lang="en-US" dirty="0">
                    <a:latin typeface="+mj-lt"/>
                  </a:rPr>
                  <a:t>5</a:t>
                </a:r>
              </a:p>
              <a:p>
                <a:pPr>
                  <a:lnSpc>
                    <a:spcPct val="150000"/>
                  </a:lnSpc>
                </a:pPr>
                <a14:m>
                  <m:oMath xmlns:m="http://schemas.openxmlformats.org/officeDocument/2006/math">
                    <m:sSub>
                      <m:sSubPr>
                        <m:ctrlPr>
                          <a:rPr lang="vi-VN" i="1">
                            <a:solidFill>
                              <a:prstClr val="black"/>
                            </a:solidFill>
                            <a:latin typeface="Cambria Math" panose="02040503050406030204" pitchFamily="18" charset="0"/>
                          </a:rPr>
                        </m:ctrlPr>
                      </m:sSubPr>
                      <m:e>
                        <m:r>
                          <a:rPr lang="vi-VN" i="1">
                            <a:solidFill>
                              <a:prstClr val="black"/>
                            </a:solidFill>
                            <a:latin typeface="Cambria Math" panose="02040503050406030204" pitchFamily="18" charset="0"/>
                            <a:ea typeface="Cambria Math" panose="02040503050406030204" pitchFamily="18" charset="0"/>
                          </a:rPr>
                          <m:t>𝜌</m:t>
                        </m:r>
                      </m:e>
                      <m:sub>
                        <m:r>
                          <m:rPr>
                            <m:sty m:val="p"/>
                          </m:rPr>
                          <a:rPr lang="en-US" b="0" i="1" smtClean="0">
                            <a:solidFill>
                              <a:prstClr val="black"/>
                            </a:solidFill>
                            <a:latin typeface="Cambria Math" panose="02040503050406030204" pitchFamily="18" charset="0"/>
                            <a:ea typeface="Cambria Math" panose="02040503050406030204" pitchFamily="18" charset="0"/>
                          </a:rPr>
                          <m:t>B</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22</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14</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22</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i="1" dirty="0">
                    <a:solidFill>
                      <a:prstClr val="black"/>
                    </a:solidFill>
                    <a:latin typeface="+mj-lt"/>
                  </a:rPr>
                  <a:t> </a:t>
                </a:r>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1</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8</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4</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03</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i="1" dirty="0">
                    <a:solidFill>
                      <a:prstClr val="black"/>
                    </a:solidFill>
                    <a:latin typeface="+mj-lt"/>
                  </a:rPr>
                  <a:t> </a:t>
                </a:r>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4</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24</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i="1" dirty="0">
                    <a:solidFill>
                      <a:prstClr val="black"/>
                    </a:solidFill>
                    <a:latin typeface="+mj-lt"/>
                  </a:rPr>
                  <a:t> </a:t>
                </a:r>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4</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25</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i="1" dirty="0">
                    <a:solidFill>
                      <a:prstClr val="black"/>
                    </a:solidFill>
                    <a:latin typeface="+mj-lt"/>
                  </a:rPr>
                  <a:t> </a:t>
                </a:r>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4</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5</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r>
                  <a:rPr lang="en-US" i="1" dirty="0">
                    <a:solidFill>
                      <a:prstClr val="black"/>
                    </a:solidFill>
                    <a:latin typeface="+mj-lt"/>
                  </a:rPr>
                  <a:t> </a:t>
                </a:r>
                <a:r>
                  <a:rPr lang="en-US" dirty="0">
                    <a:solidFill>
                      <a:prstClr val="black"/>
                    </a:solidFill>
                    <a:latin typeface="+mj-lt"/>
                  </a:rPr>
                  <a:t>+</a:t>
                </a:r>
                <a:r>
                  <a:rPr lang="en-US" i="1" dirty="0">
                    <a:solidFill>
                      <a:prstClr val="black"/>
                    </a:solidFill>
                    <a:latin typeface="+mj-lt"/>
                  </a:rPr>
                  <a:t> </a:t>
                </a:r>
                <a14:m>
                  <m:oMath xmlns:m="http://schemas.openxmlformats.org/officeDocument/2006/math">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𝑒</m:t>
                        </m:r>
                      </m:e>
                      <m:sup>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5</m:t>
                            </m:r>
                            <m:r>
                              <a:rPr lang="en-US" i="1">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4</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0</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7</m:t>
                            </m:r>
                            <m:r>
                              <a:rPr lang="en-US" i="1">
                                <a:solidFill>
                                  <a:prstClr val="black"/>
                                </a:solidFill>
                                <a:latin typeface="Cambria Math" panose="02040503050406030204" pitchFamily="18" charset="0"/>
                              </a:rPr>
                              <m:t>)</m:t>
                            </m:r>
                          </m:e>
                          <m:sup>
                            <m:r>
                              <a:rPr lang="en-US" i="1">
                                <a:solidFill>
                                  <a:prstClr val="black"/>
                                </a:solidFill>
                                <a:latin typeface="Cambria Math" panose="02040503050406030204" pitchFamily="18" charset="0"/>
                              </a:rPr>
                              <m:t>2</m:t>
                            </m:r>
                          </m:sup>
                        </m:sSup>
                      </m:sup>
                    </m:sSup>
                  </m:oMath>
                </a14:m>
                <a:endParaRPr lang="en-US" dirty="0">
                  <a:latin typeface="+mj-lt"/>
                </a:endParaRPr>
              </a:p>
              <a:p>
                <a:pPr>
                  <a:lnSpc>
                    <a:spcPct val="150000"/>
                  </a:lnSpc>
                </a:pP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latin typeface="+mj-lt"/>
                  </a:rPr>
                  <a:t> </a:t>
                </a:r>
                <a:r>
                  <a:rPr lang="vi-VN" dirty="0">
                    <a:latin typeface="+mj-lt"/>
                  </a:rPr>
                  <a:t>2.</a:t>
                </a:r>
                <a:r>
                  <a:rPr lang="en-US" dirty="0">
                    <a:latin typeface="+mj-lt"/>
                  </a:rPr>
                  <a:t>865</a:t>
                </a:r>
              </a:p>
              <a:p>
                <a:pPr>
                  <a:lnSpc>
                    <a:spcPct val="150000"/>
                  </a:lnSpc>
                </a:pPr>
                <a:r>
                  <a:rPr lang="en-US" dirty="0">
                    <a:latin typeface="+mj-lt"/>
                  </a:rPr>
                  <a:t>...</a:t>
                </a:r>
              </a:p>
            </p:txBody>
          </p:sp>
        </mc:Choice>
        <mc:Fallback xmlns="">
          <p:sp>
            <p:nvSpPr>
              <p:cNvPr id="44" name="TextBox 43">
                <a:extLst>
                  <a:ext uri="{FF2B5EF4-FFF2-40B4-BE49-F238E27FC236}">
                    <a16:creationId xmlns:a16="http://schemas.microsoft.com/office/drawing/2014/main" id="{043A800B-4C5E-E2A7-A4DB-3866FE2B8851}"/>
                  </a:ext>
                </a:extLst>
              </p:cNvPr>
              <p:cNvSpPr txBox="1">
                <a:spLocks noRot="1" noChangeAspect="1" noMove="1" noResize="1" noEditPoints="1" noAdjustHandles="1" noChangeArrowheads="1" noChangeShapeType="1" noTextEdit="1"/>
              </p:cNvSpPr>
              <p:nvPr/>
            </p:nvSpPr>
            <p:spPr>
              <a:xfrm>
                <a:off x="6096000" y="1912061"/>
                <a:ext cx="5015864" cy="4216667"/>
              </a:xfrm>
              <a:prstGeom prst="rect">
                <a:avLst/>
              </a:prstGeom>
              <a:blipFill>
                <a:blip r:embed="rId3"/>
                <a:stretch>
                  <a:fillRect l="-972"/>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6ABD0E-1981-20DD-338E-5BA8CE045A6E}"/>
              </a:ext>
            </a:extLst>
          </p:cNvPr>
          <p:cNvSpPr>
            <a:spLocks noGrp="1"/>
          </p:cNvSpPr>
          <p:nvPr>
            <p:ph type="sldNum" sz="quarter" idx="12"/>
          </p:nvPr>
        </p:nvSpPr>
        <p:spPr/>
        <p:txBody>
          <a:bodyPr/>
          <a:lstStyle/>
          <a:p>
            <a:fld id="{9B618960-8005-486C-9A75-10CB2AAC16F9}" type="slidenum">
              <a:rPr lang="en-US" smtClean="0"/>
              <a:t>13</a:t>
            </a:fld>
            <a:endParaRPr lang="en-US"/>
          </a:p>
        </p:txBody>
      </p:sp>
      <p:sp>
        <p:nvSpPr>
          <p:cNvPr id="5" name="TextBox 3">
            <a:extLst>
              <a:ext uri="{FF2B5EF4-FFF2-40B4-BE49-F238E27FC236}">
                <a16:creationId xmlns:a16="http://schemas.microsoft.com/office/drawing/2014/main" id="{D1627693-A3D2-2A84-7B13-FA2BD740A257}"/>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247CD72A-9E12-CA67-FEEC-128E8FE6CE6A}"/>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48848FB4-5B69-C36B-0BA5-9B622214D8B7}"/>
                  </a:ext>
                </a:extLst>
              </p:cNvPr>
              <p:cNvSpPr txBox="1"/>
              <p:nvPr/>
            </p:nvSpPr>
            <p:spPr>
              <a:xfrm>
                <a:off x="1080136" y="2353945"/>
                <a:ext cx="4583246" cy="328923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altLang="vi-VN" dirty="0">
                    <a:latin typeface="+mj-lt"/>
                  </a:rPr>
                  <a:t>Bước </a:t>
                </a:r>
                <a:r>
                  <a:rPr lang="en-US" altLang="vi-VN" dirty="0">
                    <a:latin typeface="+mj-lt"/>
                  </a:rPr>
                  <a:t>2</a:t>
                </a:r>
                <a:r>
                  <a:rPr lang="vi-VN" altLang="vi-VN" dirty="0">
                    <a:latin typeface="+mj-lt"/>
                  </a:rPr>
                  <a:t>: </a:t>
                </a:r>
                <a:r>
                  <a:rPr lang="vi-VN" dirty="0">
                    <a:latin typeface="+mj-lt"/>
                  </a:rPr>
                  <a:t>Xác định khoảng cách cắt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dirty="0">
                    <a:latin typeface="+mj-lt"/>
                  </a:rPr>
                  <a:t>)</a:t>
                </a:r>
                <a:endParaRPr lang="en-US" dirty="0">
                  <a:latin typeface="+mj-lt"/>
                </a:endParaRPr>
              </a:p>
              <a:p>
                <a:pPr marL="285750" indent="-285750" algn="just">
                  <a:lnSpc>
                    <a:spcPct val="150000"/>
                  </a:lnSpc>
                  <a:buFontTx/>
                  <a:buChar char="-"/>
                </a:pPr>
                <a:r>
                  <a:rPr lang="vi-VN" dirty="0">
                    <a:latin typeface="+mj-lt"/>
                  </a:rPr>
                  <a:t>Chọn </a:t>
                </a:r>
                <a14:m>
                  <m:oMath xmlns:m="http://schemas.openxmlformats.org/officeDocument/2006/math">
                    <m:sSub>
                      <m:sSubPr>
                        <m:ctrlPr>
                          <a:rPr lang="en-US" altLang="vi-VN" i="1" dirty="0">
                            <a:latin typeface="Cambria Math" panose="02040503050406030204" pitchFamily="18" charset="0"/>
                            <a:cs typeface="Cambria Math" panose="02040503050406030204" pitchFamily="18" charset="0"/>
                          </a:rPr>
                        </m:ctrlPr>
                      </m:sSubPr>
                      <m:e>
                        <m:r>
                          <a:rPr lang="vi-VN" altLang="en-US" i="1" dirty="0">
                            <a:latin typeface="Cambria Math" panose="02040503050406030204" pitchFamily="18" charset="0"/>
                            <a:cs typeface="Cambria Math" panose="02040503050406030204" pitchFamily="18" charset="0"/>
                          </a:rPr>
                          <m:t>𝑑</m:t>
                        </m:r>
                      </m:e>
                      <m:sub>
                        <m:r>
                          <a:rPr lang="vi-VN" altLang="en-US" i="1" dirty="0">
                            <a:latin typeface="Cambria Math" panose="02040503050406030204" pitchFamily="18" charset="0"/>
                            <a:cs typeface="Cambria Math" panose="02040503050406030204" pitchFamily="18" charset="0"/>
                          </a:rPr>
                          <m:t>𝑐</m:t>
                        </m:r>
                      </m:sub>
                    </m:sSub>
                  </m:oMath>
                </a14:m>
                <a:r>
                  <a:rPr lang="vi-VN" dirty="0">
                    <a:latin typeface="+mj-lt"/>
                  </a:rPr>
                  <a:t> = 0.7</a:t>
                </a:r>
              </a:p>
              <a:p>
                <a:pPr algn="just">
                  <a:lnSpc>
                    <a:spcPct val="150000"/>
                  </a:lnSpc>
                </a:pPr>
                <a:r>
                  <a:rPr lang="vi-VN" dirty="0">
                    <a:latin typeface="+mj-lt"/>
                  </a:rPr>
                  <a:t>Bước 3: Tính mật độ cục bộ </a:t>
                </a:r>
                <a14:m>
                  <m:oMath xmlns:m="http://schemas.openxmlformats.org/officeDocument/2006/math">
                    <m:r>
                      <a:rPr lang="en-US" altLang="vi-VN" i="1" dirty="0">
                        <a:latin typeface="Cambria Math" panose="02040503050406030204" pitchFamily="18" charset="0"/>
                        <a:cs typeface="Cambria Math" panose="02040503050406030204" pitchFamily="18" charset="0"/>
                      </a:rPr>
                      <m:t>(</m:t>
                    </m:r>
                    <m:sSub>
                      <m:sSubPr>
                        <m:ctrlPr>
                          <a:rPr lang="en-US" altLang="vi-VN" i="1" dirty="0">
                            <a:latin typeface="Cambria Math" panose="02040503050406030204" pitchFamily="18" charset="0"/>
                            <a:cs typeface="Cambria Math" panose="02040503050406030204" pitchFamily="18" charset="0"/>
                          </a:rPr>
                        </m:ctrlPr>
                      </m:sSubPr>
                      <m:e>
                        <m:r>
                          <a:rPr lang="en-US" altLang="vi-VN" i="1" dirty="0">
                            <a:latin typeface="Cambria Math" panose="02040503050406030204" pitchFamily="18" charset="0"/>
                            <a:cs typeface="Cambria Math" panose="02040503050406030204" pitchFamily="18" charset="0"/>
                          </a:rPr>
                          <m:t>𝜌</m:t>
                        </m:r>
                      </m:e>
                      <m:sub>
                        <m:r>
                          <a:rPr lang="vi-VN" altLang="en-US" i="1" dirty="0">
                            <a:latin typeface="Cambria Math" panose="02040503050406030204" pitchFamily="18" charset="0"/>
                            <a:cs typeface="Cambria Math" panose="02040503050406030204" pitchFamily="18" charset="0"/>
                          </a:rPr>
                          <m:t>𝑖</m:t>
                        </m:r>
                      </m:sub>
                    </m:sSub>
                    <m:r>
                      <a:rPr lang="en-US" altLang="vi-VN" i="1" dirty="0">
                        <a:latin typeface="Cambria Math" panose="02040503050406030204" pitchFamily="18" charset="0"/>
                        <a:cs typeface="Cambria Math" panose="02040503050406030204" pitchFamily="18" charset="0"/>
                      </a:rPr>
                      <m:t>)</m:t>
                    </m:r>
                  </m:oMath>
                </a14:m>
                <a:endParaRPr lang="vi-VN" dirty="0">
                  <a:latin typeface="+mj-lt"/>
                </a:endParaRPr>
              </a:p>
              <a:p>
                <a:pPr marL="285750" indent="-285750" algn="just">
                  <a:lnSpc>
                    <a:spcPct val="150000"/>
                  </a:lnSpc>
                  <a:buFontTx/>
                  <a:buChar char="-"/>
                </a:pPr>
                <a:r>
                  <a:rPr lang="vi-VN" dirty="0">
                    <a:latin typeface="+mj-lt"/>
                  </a:rPr>
                  <a:t>Dùng Gaussian kernel</a:t>
                </a:r>
              </a:p>
              <a:p>
                <a:pPr marL="285750" indent="-285750" algn="just">
                  <a:lnSpc>
                    <a:spcPct val="150000"/>
                  </a:lnSpc>
                  <a:buFontTx/>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r>
                      <a:rPr lang="vi-VN" i="1">
                        <a:latin typeface="Cambria Math" panose="02040503050406030204" pitchFamily="18" charset="0"/>
                      </a:rPr>
                      <m:t>=</m:t>
                    </m:r>
                    <m:nary>
                      <m:naryPr>
                        <m:chr m:val="∑"/>
                        <m:supHide m:val="on"/>
                        <m:ctrlPr>
                          <a:rPr lang="vi-VN" i="1">
                            <a:latin typeface="Cambria Math" panose="02040503050406030204" pitchFamily="18" charset="0"/>
                          </a:rPr>
                        </m:ctrlPr>
                      </m:naryPr>
                      <m:sub>
                        <m:r>
                          <m:rPr>
                            <m:brk m:alnAt="7"/>
                          </m:rPr>
                          <a:rPr lang="vi-VN" i="1">
                            <a:latin typeface="Cambria Math" panose="02040503050406030204" pitchFamily="18" charset="0"/>
                          </a:rPr>
                          <m:t>𝑗</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𝑖</m:t>
                        </m:r>
                      </m:sub>
                      <m:sup/>
                      <m:e>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𝑒</m:t>
                            </m:r>
                          </m:e>
                          <m:sup>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m:t>
                                </m:r>
                                <m:f>
                                  <m:fPr>
                                    <m:ctrlPr>
                                      <a:rPr lang="vi-VN" i="1">
                                        <a:latin typeface="Cambria Math" panose="02040503050406030204" pitchFamily="18" charset="0"/>
                                        <a:ea typeface="Cambria Math" panose="02040503050406030204" pitchFamily="18" charset="0"/>
                                      </a:rPr>
                                    </m:ctrlPr>
                                  </m:fPr>
                                  <m:num>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𝑖𝑗</m:t>
                                        </m:r>
                                      </m:sub>
                                    </m:sSub>
                                  </m:num>
                                  <m:den>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𝑐</m:t>
                                        </m:r>
                                      </m:sub>
                                    </m:sSub>
                                  </m:den>
                                </m:f>
                                <m:r>
                                  <a:rPr lang="vi-VN" i="1">
                                    <a:latin typeface="Cambria Math" panose="02040503050406030204" pitchFamily="18" charset="0"/>
                                    <a:ea typeface="Cambria Math" panose="02040503050406030204" pitchFamily="18" charset="0"/>
                                  </a:rPr>
                                  <m:t>)</m:t>
                                </m:r>
                              </m:e>
                              <m:sup>
                                <m:r>
                                  <a:rPr lang="vi-VN" i="1">
                                    <a:latin typeface="Cambria Math" panose="02040503050406030204" pitchFamily="18" charset="0"/>
                                    <a:ea typeface="Cambria Math" panose="02040503050406030204" pitchFamily="18" charset="0"/>
                                  </a:rPr>
                                  <m:t>2</m:t>
                                </m:r>
                              </m:sup>
                            </m:sSup>
                          </m:sup>
                        </m:sSup>
                      </m:e>
                    </m:nary>
                  </m:oMath>
                </a14:m>
                <a:endParaRPr lang="vi-VN" i="1" dirty="0">
                  <a:latin typeface="+mj-lt"/>
                </a:endParaRPr>
              </a:p>
              <a:p>
                <a:pPr algn="just">
                  <a:lnSpc>
                    <a:spcPct val="150000"/>
                  </a:lnSpc>
                </a:pPr>
                <a:endParaRPr lang="vi-VN" dirty="0">
                  <a:latin typeface="+mj-lt"/>
                </a:endParaRPr>
              </a:p>
            </p:txBody>
          </p:sp>
        </mc:Choice>
        <mc:Fallback xmlns="">
          <p:sp>
            <p:nvSpPr>
              <p:cNvPr id="7" name="TextBox 5">
                <a:extLst>
                  <a:ext uri="{FF2B5EF4-FFF2-40B4-BE49-F238E27FC236}">
                    <a16:creationId xmlns:a16="http://schemas.microsoft.com/office/drawing/2014/main" id="{48848FB4-5B69-C36B-0BA5-9B622214D8B7}"/>
                  </a:ext>
                </a:extLst>
              </p:cNvPr>
              <p:cNvSpPr txBox="1">
                <a:spLocks noRot="1" noChangeAspect="1" noMove="1" noResize="1" noEditPoints="1" noAdjustHandles="1" noChangeArrowheads="1" noChangeShapeType="1" noTextEdit="1"/>
              </p:cNvSpPr>
              <p:nvPr/>
            </p:nvSpPr>
            <p:spPr>
              <a:xfrm>
                <a:off x="1080136" y="2353945"/>
                <a:ext cx="4583246" cy="3289234"/>
              </a:xfrm>
              <a:prstGeom prst="rect">
                <a:avLst/>
              </a:prstGeom>
              <a:blipFill>
                <a:blip r:embed="rId2"/>
                <a:stretch>
                  <a:fillRect l="-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256B643C-F30C-A948-B106-29CE3BA15BA9}"/>
                  </a:ext>
                </a:extLst>
              </p:cNvPr>
              <p:cNvGraphicFramePr>
                <a:graphicFrameLocks noGrp="1"/>
              </p:cNvGraphicFramePr>
              <p:nvPr>
                <p:extLst>
                  <p:ext uri="{D42A27DB-BD31-4B8C-83A1-F6EECF244321}">
                    <p14:modId xmlns:p14="http://schemas.microsoft.com/office/powerpoint/2010/main" val="2230852801"/>
                  </p:ext>
                </p:extLst>
              </p:nvPr>
            </p:nvGraphicFramePr>
            <p:xfrm>
              <a:off x="6096000" y="1912666"/>
              <a:ext cx="4583246" cy="4023360"/>
            </p:xfrm>
            <a:graphic>
              <a:graphicData uri="http://schemas.openxmlformats.org/drawingml/2006/table">
                <a:tbl>
                  <a:tblPr firstRow="1" bandRow="1">
                    <a:tableStyleId>{5940675A-B579-460E-94D1-54222C63F5DA}</a:tableStyleId>
                  </a:tblPr>
                  <a:tblGrid>
                    <a:gridCol w="2291623">
                      <a:extLst>
                        <a:ext uri="{9D8B030D-6E8A-4147-A177-3AD203B41FA5}">
                          <a16:colId xmlns:a16="http://schemas.microsoft.com/office/drawing/2014/main" val="3527690506"/>
                        </a:ext>
                      </a:extLst>
                    </a:gridCol>
                    <a:gridCol w="2291623">
                      <a:extLst>
                        <a:ext uri="{9D8B030D-6E8A-4147-A177-3AD203B41FA5}">
                          <a16:colId xmlns:a16="http://schemas.microsoft.com/office/drawing/2014/main" val="2752869031"/>
                        </a:ext>
                      </a:extLst>
                    </a:gridCol>
                  </a:tblGrid>
                  <a:tr h="280196">
                    <a:tc>
                      <a:txBody>
                        <a:bodyPr/>
                        <a:lstStyle/>
                        <a:p>
                          <a:pPr algn="ctr"/>
                          <a:r>
                            <a:rPr lang="vi-VN" dirty="0">
                              <a:latin typeface="+mj-lt"/>
                            </a:rPr>
                            <a:t>Điểm</a:t>
                          </a:r>
                          <a:endParaRPr lang="en-US" dirty="0">
                            <a:latin typeface="+mj-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𝜌</m:t>
                                </m:r>
                              </m:oMath>
                            </m:oMathPara>
                          </a14:m>
                          <a:endParaRPr lang="en-US" dirty="0">
                            <a:latin typeface="+mj-lt"/>
                          </a:endParaRPr>
                        </a:p>
                      </a:txBody>
                      <a:tcPr/>
                    </a:tc>
                    <a:extLst>
                      <a:ext uri="{0D108BD9-81ED-4DB2-BD59-A6C34878D82A}">
                        <a16:rowId xmlns:a16="http://schemas.microsoft.com/office/drawing/2014/main" val="3831055423"/>
                      </a:ext>
                    </a:extLst>
                  </a:tr>
                  <a:tr h="280196">
                    <a:tc>
                      <a:txBody>
                        <a:bodyPr/>
                        <a:lstStyle/>
                        <a:p>
                          <a:pPr algn="ctr"/>
                          <a:r>
                            <a:rPr lang="vi-VN" dirty="0">
                              <a:latin typeface="+mj-lt"/>
                            </a:rPr>
                            <a:t>A</a:t>
                          </a:r>
                          <a:endParaRPr lang="en-US" dirty="0">
                            <a:latin typeface="+mj-lt"/>
                          </a:endParaRPr>
                        </a:p>
                      </a:txBody>
                      <a:tcPr/>
                    </a:tc>
                    <a:tc>
                      <a:txBody>
                        <a:bodyPr/>
                        <a:lstStyle/>
                        <a:p>
                          <a:pPr algn="ctr"/>
                          <a:r>
                            <a:rPr lang="vi-VN" dirty="0">
                              <a:latin typeface="+mj-lt"/>
                            </a:rPr>
                            <a:t>2.5337</a:t>
                          </a:r>
                          <a:endParaRPr lang="en-US" dirty="0">
                            <a:latin typeface="+mj-lt"/>
                          </a:endParaRPr>
                        </a:p>
                      </a:txBody>
                      <a:tcPr/>
                    </a:tc>
                    <a:extLst>
                      <a:ext uri="{0D108BD9-81ED-4DB2-BD59-A6C34878D82A}">
                        <a16:rowId xmlns:a16="http://schemas.microsoft.com/office/drawing/2014/main" val="438384959"/>
                      </a:ext>
                    </a:extLst>
                  </a:tr>
                  <a:tr h="280196">
                    <a:tc>
                      <a:txBody>
                        <a:bodyPr/>
                        <a:lstStyle/>
                        <a:p>
                          <a:pPr algn="ctr"/>
                          <a:r>
                            <a:rPr lang="vi-VN" dirty="0">
                              <a:latin typeface="+mj-lt"/>
                            </a:rPr>
                            <a:t>B</a:t>
                          </a:r>
                          <a:endParaRPr lang="en-US" dirty="0">
                            <a:latin typeface="+mj-lt"/>
                          </a:endParaRPr>
                        </a:p>
                      </a:txBody>
                      <a:tcPr/>
                    </a:tc>
                    <a:tc>
                      <a:txBody>
                        <a:bodyPr/>
                        <a:lstStyle/>
                        <a:p>
                          <a:pPr algn="ctr"/>
                          <a:r>
                            <a:rPr lang="vi-VN" dirty="0">
                              <a:latin typeface="+mj-lt"/>
                            </a:rPr>
                            <a:t>2.8578</a:t>
                          </a:r>
                          <a:endParaRPr lang="en-US" dirty="0">
                            <a:latin typeface="+mj-lt"/>
                          </a:endParaRPr>
                        </a:p>
                      </a:txBody>
                      <a:tcPr/>
                    </a:tc>
                    <a:extLst>
                      <a:ext uri="{0D108BD9-81ED-4DB2-BD59-A6C34878D82A}">
                        <a16:rowId xmlns:a16="http://schemas.microsoft.com/office/drawing/2014/main" val="3005582178"/>
                      </a:ext>
                    </a:extLst>
                  </a:tr>
                  <a:tr h="280196">
                    <a:tc>
                      <a:txBody>
                        <a:bodyPr/>
                        <a:lstStyle/>
                        <a:p>
                          <a:pPr algn="ctr"/>
                          <a:r>
                            <a:rPr lang="vi-VN" dirty="0">
                              <a:latin typeface="+mj-lt"/>
                            </a:rPr>
                            <a:t>C</a:t>
                          </a:r>
                          <a:endParaRPr lang="en-US" dirty="0">
                            <a:latin typeface="+mj-lt"/>
                          </a:endParaRPr>
                        </a:p>
                      </a:txBody>
                      <a:tcPr/>
                    </a:tc>
                    <a:tc>
                      <a:txBody>
                        <a:bodyPr/>
                        <a:lstStyle/>
                        <a:p>
                          <a:pPr algn="ctr"/>
                          <a:r>
                            <a:rPr lang="vi-VN" dirty="0">
                              <a:latin typeface="+mj-lt"/>
                            </a:rPr>
                            <a:t>2.8656</a:t>
                          </a:r>
                          <a:endParaRPr lang="en-US" dirty="0">
                            <a:latin typeface="+mj-lt"/>
                          </a:endParaRPr>
                        </a:p>
                      </a:txBody>
                      <a:tcPr/>
                    </a:tc>
                    <a:extLst>
                      <a:ext uri="{0D108BD9-81ED-4DB2-BD59-A6C34878D82A}">
                        <a16:rowId xmlns:a16="http://schemas.microsoft.com/office/drawing/2014/main" val="129927797"/>
                      </a:ext>
                    </a:extLst>
                  </a:tr>
                  <a:tr h="280196">
                    <a:tc>
                      <a:txBody>
                        <a:bodyPr/>
                        <a:lstStyle/>
                        <a:p>
                          <a:pPr algn="ctr"/>
                          <a:r>
                            <a:rPr lang="vi-VN" dirty="0">
                              <a:latin typeface="+mj-lt"/>
                            </a:rPr>
                            <a:t>D</a:t>
                          </a:r>
                          <a:endParaRPr lang="en-US" dirty="0">
                            <a:latin typeface="+mj-lt"/>
                          </a:endParaRPr>
                        </a:p>
                      </a:txBody>
                      <a:tcPr/>
                    </a:tc>
                    <a:tc>
                      <a:txBody>
                        <a:bodyPr/>
                        <a:lstStyle/>
                        <a:p>
                          <a:pPr algn="ctr"/>
                          <a:r>
                            <a:rPr lang="vi-VN" dirty="0">
                              <a:latin typeface="+mj-lt"/>
                            </a:rPr>
                            <a:t>2.7194</a:t>
                          </a:r>
                          <a:endParaRPr lang="en-US" dirty="0">
                            <a:latin typeface="+mj-lt"/>
                          </a:endParaRPr>
                        </a:p>
                      </a:txBody>
                      <a:tcPr/>
                    </a:tc>
                    <a:extLst>
                      <a:ext uri="{0D108BD9-81ED-4DB2-BD59-A6C34878D82A}">
                        <a16:rowId xmlns:a16="http://schemas.microsoft.com/office/drawing/2014/main" val="1142013553"/>
                      </a:ext>
                    </a:extLst>
                  </a:tr>
                  <a:tr h="280196">
                    <a:tc>
                      <a:txBody>
                        <a:bodyPr/>
                        <a:lstStyle/>
                        <a:p>
                          <a:pPr algn="ctr"/>
                          <a:r>
                            <a:rPr lang="vi-VN" dirty="0">
                              <a:latin typeface="+mj-lt"/>
                            </a:rPr>
                            <a:t>E</a:t>
                          </a:r>
                          <a:endParaRPr lang="en-US" dirty="0">
                            <a:latin typeface="+mj-lt"/>
                          </a:endParaRPr>
                        </a:p>
                      </a:txBody>
                      <a:tcPr/>
                    </a:tc>
                    <a:tc>
                      <a:txBody>
                        <a:bodyPr/>
                        <a:lstStyle/>
                        <a:p>
                          <a:pPr algn="ctr"/>
                          <a:r>
                            <a:rPr lang="vi-VN" dirty="0">
                              <a:latin typeface="+mj-lt"/>
                            </a:rPr>
                            <a:t>0.4475</a:t>
                          </a:r>
                          <a:endParaRPr lang="en-US" dirty="0">
                            <a:latin typeface="+mj-lt"/>
                          </a:endParaRPr>
                        </a:p>
                      </a:txBody>
                      <a:tcPr/>
                    </a:tc>
                    <a:extLst>
                      <a:ext uri="{0D108BD9-81ED-4DB2-BD59-A6C34878D82A}">
                        <a16:rowId xmlns:a16="http://schemas.microsoft.com/office/drawing/2014/main" val="493935136"/>
                      </a:ext>
                    </a:extLst>
                  </a:tr>
                  <a:tr h="280196">
                    <a:tc>
                      <a:txBody>
                        <a:bodyPr/>
                        <a:lstStyle/>
                        <a:p>
                          <a:pPr algn="ctr"/>
                          <a:r>
                            <a:rPr lang="vi-VN" dirty="0">
                              <a:latin typeface="+mj-lt"/>
                            </a:rPr>
                            <a:t>F</a:t>
                          </a:r>
                          <a:endParaRPr lang="en-US" dirty="0">
                            <a:latin typeface="+mj-lt"/>
                          </a:endParaRPr>
                        </a:p>
                      </a:txBody>
                      <a:tcPr/>
                    </a:tc>
                    <a:tc>
                      <a:txBody>
                        <a:bodyPr/>
                        <a:lstStyle/>
                        <a:p>
                          <a:pPr algn="ctr"/>
                          <a:r>
                            <a:rPr lang="vi-VN" dirty="0">
                              <a:latin typeface="+mj-lt"/>
                            </a:rPr>
                            <a:t>2.4986</a:t>
                          </a:r>
                          <a:endParaRPr lang="en-US" dirty="0">
                            <a:latin typeface="+mj-lt"/>
                          </a:endParaRPr>
                        </a:p>
                      </a:txBody>
                      <a:tcPr/>
                    </a:tc>
                    <a:extLst>
                      <a:ext uri="{0D108BD9-81ED-4DB2-BD59-A6C34878D82A}">
                        <a16:rowId xmlns:a16="http://schemas.microsoft.com/office/drawing/2014/main" val="4033097234"/>
                      </a:ext>
                    </a:extLst>
                  </a:tr>
                  <a:tr h="280196">
                    <a:tc>
                      <a:txBody>
                        <a:bodyPr/>
                        <a:lstStyle/>
                        <a:p>
                          <a:pPr algn="ctr"/>
                          <a:r>
                            <a:rPr lang="vi-VN" dirty="0">
                              <a:latin typeface="+mj-lt"/>
                            </a:rPr>
                            <a:t>G</a:t>
                          </a:r>
                          <a:endParaRPr lang="en-US" dirty="0">
                            <a:latin typeface="+mj-lt"/>
                          </a:endParaRPr>
                        </a:p>
                      </a:txBody>
                      <a:tcPr/>
                    </a:tc>
                    <a:tc>
                      <a:txBody>
                        <a:bodyPr/>
                        <a:lstStyle/>
                        <a:p>
                          <a:pPr algn="ctr"/>
                          <a:r>
                            <a:rPr lang="vi-VN" dirty="0">
                              <a:latin typeface="+mj-lt"/>
                            </a:rPr>
                            <a:t>2.766</a:t>
                          </a:r>
                          <a:endParaRPr lang="en-US" dirty="0">
                            <a:latin typeface="+mj-lt"/>
                          </a:endParaRPr>
                        </a:p>
                      </a:txBody>
                      <a:tcPr/>
                    </a:tc>
                    <a:extLst>
                      <a:ext uri="{0D108BD9-81ED-4DB2-BD59-A6C34878D82A}">
                        <a16:rowId xmlns:a16="http://schemas.microsoft.com/office/drawing/2014/main" val="201802405"/>
                      </a:ext>
                    </a:extLst>
                  </a:tr>
                  <a:tr h="280196">
                    <a:tc>
                      <a:txBody>
                        <a:bodyPr/>
                        <a:lstStyle/>
                        <a:p>
                          <a:pPr algn="ctr"/>
                          <a:r>
                            <a:rPr lang="vi-VN" dirty="0">
                              <a:latin typeface="+mj-lt"/>
                            </a:rPr>
                            <a:t>H</a:t>
                          </a:r>
                          <a:endParaRPr lang="en-US" dirty="0">
                            <a:latin typeface="+mj-lt"/>
                          </a:endParaRPr>
                        </a:p>
                      </a:txBody>
                      <a:tcPr/>
                    </a:tc>
                    <a:tc>
                      <a:txBody>
                        <a:bodyPr/>
                        <a:lstStyle/>
                        <a:p>
                          <a:pPr algn="ctr"/>
                          <a:r>
                            <a:rPr lang="vi-VN" dirty="0">
                              <a:latin typeface="+mj-lt"/>
                            </a:rPr>
                            <a:t>2.766</a:t>
                          </a:r>
                          <a:endParaRPr lang="en-US" dirty="0">
                            <a:latin typeface="+mj-lt"/>
                          </a:endParaRPr>
                        </a:p>
                      </a:txBody>
                      <a:tcPr/>
                    </a:tc>
                    <a:extLst>
                      <a:ext uri="{0D108BD9-81ED-4DB2-BD59-A6C34878D82A}">
                        <a16:rowId xmlns:a16="http://schemas.microsoft.com/office/drawing/2014/main" val="2012899227"/>
                      </a:ext>
                    </a:extLst>
                  </a:tr>
                  <a:tr h="280196">
                    <a:tc>
                      <a:txBody>
                        <a:bodyPr/>
                        <a:lstStyle/>
                        <a:p>
                          <a:pPr algn="ctr"/>
                          <a:r>
                            <a:rPr lang="vi-VN" dirty="0">
                              <a:latin typeface="+mj-lt"/>
                            </a:rPr>
                            <a:t>I</a:t>
                          </a:r>
                          <a:endParaRPr lang="en-US" dirty="0">
                            <a:latin typeface="+mj-lt"/>
                          </a:endParaRPr>
                        </a:p>
                      </a:txBody>
                      <a:tcPr/>
                    </a:tc>
                    <a:tc>
                      <a:txBody>
                        <a:bodyPr/>
                        <a:lstStyle/>
                        <a:p>
                          <a:pPr algn="ctr"/>
                          <a:r>
                            <a:rPr lang="vi-VN" dirty="0">
                              <a:latin typeface="+mj-lt"/>
                            </a:rPr>
                            <a:t>2.4986</a:t>
                          </a:r>
                          <a:endParaRPr lang="en-US" dirty="0">
                            <a:latin typeface="+mj-lt"/>
                          </a:endParaRPr>
                        </a:p>
                      </a:txBody>
                      <a:tcPr/>
                    </a:tc>
                    <a:extLst>
                      <a:ext uri="{0D108BD9-81ED-4DB2-BD59-A6C34878D82A}">
                        <a16:rowId xmlns:a16="http://schemas.microsoft.com/office/drawing/2014/main" val="335364097"/>
                      </a:ext>
                    </a:extLst>
                  </a:tr>
                  <a:tr h="280196">
                    <a:tc>
                      <a:txBody>
                        <a:bodyPr/>
                        <a:lstStyle/>
                        <a:p>
                          <a:pPr algn="ctr"/>
                          <a:r>
                            <a:rPr lang="vi-VN" dirty="0">
                              <a:latin typeface="+mj-lt"/>
                            </a:rPr>
                            <a:t>J</a:t>
                          </a:r>
                          <a:endParaRPr lang="en-US" dirty="0">
                            <a:latin typeface="+mj-lt"/>
                          </a:endParaRPr>
                        </a:p>
                      </a:txBody>
                      <a:tcPr/>
                    </a:tc>
                    <a:tc>
                      <a:txBody>
                        <a:bodyPr/>
                        <a:lstStyle/>
                        <a:p>
                          <a:pPr algn="ctr"/>
                          <a:r>
                            <a:rPr lang="vi-VN" dirty="0">
                              <a:latin typeface="+mj-lt"/>
                            </a:rPr>
                            <a:t>0.0</a:t>
                          </a:r>
                          <a:endParaRPr lang="en-US" dirty="0">
                            <a:latin typeface="+mj-lt"/>
                          </a:endParaRPr>
                        </a:p>
                      </a:txBody>
                      <a:tcPr/>
                    </a:tc>
                    <a:extLst>
                      <a:ext uri="{0D108BD9-81ED-4DB2-BD59-A6C34878D82A}">
                        <a16:rowId xmlns:a16="http://schemas.microsoft.com/office/drawing/2014/main" val="3525417719"/>
                      </a:ext>
                    </a:extLst>
                  </a:tr>
                </a:tbl>
              </a:graphicData>
            </a:graphic>
          </p:graphicFrame>
        </mc:Choice>
        <mc:Fallback xmlns="">
          <p:graphicFrame>
            <p:nvGraphicFramePr>
              <p:cNvPr id="8" name="Table 7">
                <a:extLst>
                  <a:ext uri="{FF2B5EF4-FFF2-40B4-BE49-F238E27FC236}">
                    <a16:creationId xmlns:a16="http://schemas.microsoft.com/office/drawing/2014/main" id="{256B643C-F30C-A948-B106-29CE3BA15BA9}"/>
                  </a:ext>
                </a:extLst>
              </p:cNvPr>
              <p:cNvGraphicFramePr>
                <a:graphicFrameLocks noGrp="1"/>
              </p:cNvGraphicFramePr>
              <p:nvPr>
                <p:extLst>
                  <p:ext uri="{D42A27DB-BD31-4B8C-83A1-F6EECF244321}">
                    <p14:modId xmlns:p14="http://schemas.microsoft.com/office/powerpoint/2010/main" val="2230852801"/>
                  </p:ext>
                </p:extLst>
              </p:nvPr>
            </p:nvGraphicFramePr>
            <p:xfrm>
              <a:off x="6096000" y="1912666"/>
              <a:ext cx="4583246" cy="4023360"/>
            </p:xfrm>
            <a:graphic>
              <a:graphicData uri="http://schemas.openxmlformats.org/drawingml/2006/table">
                <a:tbl>
                  <a:tblPr firstRow="1" bandRow="1">
                    <a:tableStyleId>{5940675A-B579-460E-94D1-54222C63F5DA}</a:tableStyleId>
                  </a:tblPr>
                  <a:tblGrid>
                    <a:gridCol w="2291623">
                      <a:extLst>
                        <a:ext uri="{9D8B030D-6E8A-4147-A177-3AD203B41FA5}">
                          <a16:colId xmlns:a16="http://schemas.microsoft.com/office/drawing/2014/main" val="3527690506"/>
                        </a:ext>
                      </a:extLst>
                    </a:gridCol>
                    <a:gridCol w="2291623">
                      <a:extLst>
                        <a:ext uri="{9D8B030D-6E8A-4147-A177-3AD203B41FA5}">
                          <a16:colId xmlns:a16="http://schemas.microsoft.com/office/drawing/2014/main" val="2752869031"/>
                        </a:ext>
                      </a:extLst>
                    </a:gridCol>
                  </a:tblGrid>
                  <a:tr h="365760">
                    <a:tc>
                      <a:txBody>
                        <a:bodyPr/>
                        <a:lstStyle/>
                        <a:p>
                          <a:pPr algn="ctr"/>
                          <a:r>
                            <a:rPr lang="vi-VN" dirty="0">
                              <a:latin typeface="+mj-lt"/>
                            </a:rPr>
                            <a:t>Điểm</a:t>
                          </a:r>
                          <a:endParaRPr lang="en-US" dirty="0">
                            <a:latin typeface="+mj-lt"/>
                          </a:endParaRPr>
                        </a:p>
                      </a:txBody>
                      <a:tcPr/>
                    </a:tc>
                    <a:tc>
                      <a:txBody>
                        <a:bodyPr/>
                        <a:lstStyle/>
                        <a:p>
                          <a:endParaRPr lang="en-US"/>
                        </a:p>
                      </a:txBody>
                      <a:tcPr>
                        <a:blipFill>
                          <a:blip r:embed="rId3"/>
                          <a:stretch>
                            <a:fillRect l="-100532" t="-10000" r="-532" b="-1026667"/>
                          </a:stretch>
                        </a:blipFill>
                      </a:tcPr>
                    </a:tc>
                    <a:extLst>
                      <a:ext uri="{0D108BD9-81ED-4DB2-BD59-A6C34878D82A}">
                        <a16:rowId xmlns:a16="http://schemas.microsoft.com/office/drawing/2014/main" val="3831055423"/>
                      </a:ext>
                    </a:extLst>
                  </a:tr>
                  <a:tr h="365760">
                    <a:tc>
                      <a:txBody>
                        <a:bodyPr/>
                        <a:lstStyle/>
                        <a:p>
                          <a:pPr algn="ctr"/>
                          <a:r>
                            <a:rPr lang="vi-VN" dirty="0">
                              <a:latin typeface="+mj-lt"/>
                            </a:rPr>
                            <a:t>A</a:t>
                          </a:r>
                          <a:endParaRPr lang="en-US" dirty="0">
                            <a:latin typeface="+mj-lt"/>
                          </a:endParaRPr>
                        </a:p>
                      </a:txBody>
                      <a:tcPr/>
                    </a:tc>
                    <a:tc>
                      <a:txBody>
                        <a:bodyPr/>
                        <a:lstStyle/>
                        <a:p>
                          <a:pPr algn="ctr"/>
                          <a:r>
                            <a:rPr lang="vi-VN" dirty="0">
                              <a:latin typeface="+mj-lt"/>
                            </a:rPr>
                            <a:t>2.5337</a:t>
                          </a:r>
                          <a:endParaRPr lang="en-US" dirty="0">
                            <a:latin typeface="+mj-lt"/>
                          </a:endParaRPr>
                        </a:p>
                      </a:txBody>
                      <a:tcPr/>
                    </a:tc>
                    <a:extLst>
                      <a:ext uri="{0D108BD9-81ED-4DB2-BD59-A6C34878D82A}">
                        <a16:rowId xmlns:a16="http://schemas.microsoft.com/office/drawing/2014/main" val="438384959"/>
                      </a:ext>
                    </a:extLst>
                  </a:tr>
                  <a:tr h="365760">
                    <a:tc>
                      <a:txBody>
                        <a:bodyPr/>
                        <a:lstStyle/>
                        <a:p>
                          <a:pPr algn="ctr"/>
                          <a:r>
                            <a:rPr lang="vi-VN" dirty="0">
                              <a:latin typeface="+mj-lt"/>
                            </a:rPr>
                            <a:t>B</a:t>
                          </a:r>
                          <a:endParaRPr lang="en-US" dirty="0">
                            <a:latin typeface="+mj-lt"/>
                          </a:endParaRPr>
                        </a:p>
                      </a:txBody>
                      <a:tcPr/>
                    </a:tc>
                    <a:tc>
                      <a:txBody>
                        <a:bodyPr/>
                        <a:lstStyle/>
                        <a:p>
                          <a:pPr algn="ctr"/>
                          <a:r>
                            <a:rPr lang="vi-VN" dirty="0">
                              <a:latin typeface="+mj-lt"/>
                            </a:rPr>
                            <a:t>2.8578</a:t>
                          </a:r>
                          <a:endParaRPr lang="en-US" dirty="0">
                            <a:latin typeface="+mj-lt"/>
                          </a:endParaRPr>
                        </a:p>
                      </a:txBody>
                      <a:tcPr/>
                    </a:tc>
                    <a:extLst>
                      <a:ext uri="{0D108BD9-81ED-4DB2-BD59-A6C34878D82A}">
                        <a16:rowId xmlns:a16="http://schemas.microsoft.com/office/drawing/2014/main" val="3005582178"/>
                      </a:ext>
                    </a:extLst>
                  </a:tr>
                  <a:tr h="365760">
                    <a:tc>
                      <a:txBody>
                        <a:bodyPr/>
                        <a:lstStyle/>
                        <a:p>
                          <a:pPr algn="ctr"/>
                          <a:r>
                            <a:rPr lang="vi-VN" dirty="0">
                              <a:latin typeface="+mj-lt"/>
                            </a:rPr>
                            <a:t>C</a:t>
                          </a:r>
                          <a:endParaRPr lang="en-US" dirty="0">
                            <a:latin typeface="+mj-lt"/>
                          </a:endParaRPr>
                        </a:p>
                      </a:txBody>
                      <a:tcPr/>
                    </a:tc>
                    <a:tc>
                      <a:txBody>
                        <a:bodyPr/>
                        <a:lstStyle/>
                        <a:p>
                          <a:pPr algn="ctr"/>
                          <a:r>
                            <a:rPr lang="vi-VN" dirty="0">
                              <a:latin typeface="+mj-lt"/>
                            </a:rPr>
                            <a:t>2.8656</a:t>
                          </a:r>
                          <a:endParaRPr lang="en-US" dirty="0">
                            <a:latin typeface="+mj-lt"/>
                          </a:endParaRPr>
                        </a:p>
                      </a:txBody>
                      <a:tcPr/>
                    </a:tc>
                    <a:extLst>
                      <a:ext uri="{0D108BD9-81ED-4DB2-BD59-A6C34878D82A}">
                        <a16:rowId xmlns:a16="http://schemas.microsoft.com/office/drawing/2014/main" val="129927797"/>
                      </a:ext>
                    </a:extLst>
                  </a:tr>
                  <a:tr h="365760">
                    <a:tc>
                      <a:txBody>
                        <a:bodyPr/>
                        <a:lstStyle/>
                        <a:p>
                          <a:pPr algn="ctr"/>
                          <a:r>
                            <a:rPr lang="vi-VN" dirty="0">
                              <a:latin typeface="+mj-lt"/>
                            </a:rPr>
                            <a:t>D</a:t>
                          </a:r>
                          <a:endParaRPr lang="en-US" dirty="0">
                            <a:latin typeface="+mj-lt"/>
                          </a:endParaRPr>
                        </a:p>
                      </a:txBody>
                      <a:tcPr/>
                    </a:tc>
                    <a:tc>
                      <a:txBody>
                        <a:bodyPr/>
                        <a:lstStyle/>
                        <a:p>
                          <a:pPr algn="ctr"/>
                          <a:r>
                            <a:rPr lang="vi-VN" dirty="0">
                              <a:latin typeface="+mj-lt"/>
                            </a:rPr>
                            <a:t>2.7194</a:t>
                          </a:r>
                          <a:endParaRPr lang="en-US" dirty="0">
                            <a:latin typeface="+mj-lt"/>
                          </a:endParaRPr>
                        </a:p>
                      </a:txBody>
                      <a:tcPr/>
                    </a:tc>
                    <a:extLst>
                      <a:ext uri="{0D108BD9-81ED-4DB2-BD59-A6C34878D82A}">
                        <a16:rowId xmlns:a16="http://schemas.microsoft.com/office/drawing/2014/main" val="1142013553"/>
                      </a:ext>
                    </a:extLst>
                  </a:tr>
                  <a:tr h="365760">
                    <a:tc>
                      <a:txBody>
                        <a:bodyPr/>
                        <a:lstStyle/>
                        <a:p>
                          <a:pPr algn="ctr"/>
                          <a:r>
                            <a:rPr lang="vi-VN" dirty="0">
                              <a:latin typeface="+mj-lt"/>
                            </a:rPr>
                            <a:t>E</a:t>
                          </a:r>
                          <a:endParaRPr lang="en-US" dirty="0">
                            <a:latin typeface="+mj-lt"/>
                          </a:endParaRPr>
                        </a:p>
                      </a:txBody>
                      <a:tcPr/>
                    </a:tc>
                    <a:tc>
                      <a:txBody>
                        <a:bodyPr/>
                        <a:lstStyle/>
                        <a:p>
                          <a:pPr algn="ctr"/>
                          <a:r>
                            <a:rPr lang="vi-VN" dirty="0">
                              <a:latin typeface="+mj-lt"/>
                            </a:rPr>
                            <a:t>0.4475</a:t>
                          </a:r>
                          <a:endParaRPr lang="en-US" dirty="0">
                            <a:latin typeface="+mj-lt"/>
                          </a:endParaRPr>
                        </a:p>
                      </a:txBody>
                      <a:tcPr/>
                    </a:tc>
                    <a:extLst>
                      <a:ext uri="{0D108BD9-81ED-4DB2-BD59-A6C34878D82A}">
                        <a16:rowId xmlns:a16="http://schemas.microsoft.com/office/drawing/2014/main" val="493935136"/>
                      </a:ext>
                    </a:extLst>
                  </a:tr>
                  <a:tr h="365760">
                    <a:tc>
                      <a:txBody>
                        <a:bodyPr/>
                        <a:lstStyle/>
                        <a:p>
                          <a:pPr algn="ctr"/>
                          <a:r>
                            <a:rPr lang="vi-VN" dirty="0">
                              <a:latin typeface="+mj-lt"/>
                            </a:rPr>
                            <a:t>F</a:t>
                          </a:r>
                          <a:endParaRPr lang="en-US" dirty="0">
                            <a:latin typeface="+mj-lt"/>
                          </a:endParaRPr>
                        </a:p>
                      </a:txBody>
                      <a:tcPr/>
                    </a:tc>
                    <a:tc>
                      <a:txBody>
                        <a:bodyPr/>
                        <a:lstStyle/>
                        <a:p>
                          <a:pPr algn="ctr"/>
                          <a:r>
                            <a:rPr lang="vi-VN" dirty="0">
                              <a:latin typeface="+mj-lt"/>
                            </a:rPr>
                            <a:t>2.4986</a:t>
                          </a:r>
                          <a:endParaRPr lang="en-US" dirty="0">
                            <a:latin typeface="+mj-lt"/>
                          </a:endParaRPr>
                        </a:p>
                      </a:txBody>
                      <a:tcPr/>
                    </a:tc>
                    <a:extLst>
                      <a:ext uri="{0D108BD9-81ED-4DB2-BD59-A6C34878D82A}">
                        <a16:rowId xmlns:a16="http://schemas.microsoft.com/office/drawing/2014/main" val="4033097234"/>
                      </a:ext>
                    </a:extLst>
                  </a:tr>
                  <a:tr h="365760">
                    <a:tc>
                      <a:txBody>
                        <a:bodyPr/>
                        <a:lstStyle/>
                        <a:p>
                          <a:pPr algn="ctr"/>
                          <a:r>
                            <a:rPr lang="vi-VN" dirty="0">
                              <a:latin typeface="+mj-lt"/>
                            </a:rPr>
                            <a:t>G</a:t>
                          </a:r>
                          <a:endParaRPr lang="en-US" dirty="0">
                            <a:latin typeface="+mj-lt"/>
                          </a:endParaRPr>
                        </a:p>
                      </a:txBody>
                      <a:tcPr/>
                    </a:tc>
                    <a:tc>
                      <a:txBody>
                        <a:bodyPr/>
                        <a:lstStyle/>
                        <a:p>
                          <a:pPr algn="ctr"/>
                          <a:r>
                            <a:rPr lang="vi-VN" dirty="0">
                              <a:latin typeface="+mj-lt"/>
                            </a:rPr>
                            <a:t>2.766</a:t>
                          </a:r>
                          <a:endParaRPr lang="en-US" dirty="0">
                            <a:latin typeface="+mj-lt"/>
                          </a:endParaRPr>
                        </a:p>
                      </a:txBody>
                      <a:tcPr/>
                    </a:tc>
                    <a:extLst>
                      <a:ext uri="{0D108BD9-81ED-4DB2-BD59-A6C34878D82A}">
                        <a16:rowId xmlns:a16="http://schemas.microsoft.com/office/drawing/2014/main" val="201802405"/>
                      </a:ext>
                    </a:extLst>
                  </a:tr>
                  <a:tr h="365760">
                    <a:tc>
                      <a:txBody>
                        <a:bodyPr/>
                        <a:lstStyle/>
                        <a:p>
                          <a:pPr algn="ctr"/>
                          <a:r>
                            <a:rPr lang="vi-VN" dirty="0">
                              <a:latin typeface="+mj-lt"/>
                            </a:rPr>
                            <a:t>H</a:t>
                          </a:r>
                          <a:endParaRPr lang="en-US" dirty="0">
                            <a:latin typeface="+mj-lt"/>
                          </a:endParaRPr>
                        </a:p>
                      </a:txBody>
                      <a:tcPr/>
                    </a:tc>
                    <a:tc>
                      <a:txBody>
                        <a:bodyPr/>
                        <a:lstStyle/>
                        <a:p>
                          <a:pPr algn="ctr"/>
                          <a:r>
                            <a:rPr lang="vi-VN" dirty="0">
                              <a:latin typeface="+mj-lt"/>
                            </a:rPr>
                            <a:t>2.766</a:t>
                          </a:r>
                          <a:endParaRPr lang="en-US" dirty="0">
                            <a:latin typeface="+mj-lt"/>
                          </a:endParaRPr>
                        </a:p>
                      </a:txBody>
                      <a:tcPr/>
                    </a:tc>
                    <a:extLst>
                      <a:ext uri="{0D108BD9-81ED-4DB2-BD59-A6C34878D82A}">
                        <a16:rowId xmlns:a16="http://schemas.microsoft.com/office/drawing/2014/main" val="2012899227"/>
                      </a:ext>
                    </a:extLst>
                  </a:tr>
                  <a:tr h="365760">
                    <a:tc>
                      <a:txBody>
                        <a:bodyPr/>
                        <a:lstStyle/>
                        <a:p>
                          <a:pPr algn="ctr"/>
                          <a:r>
                            <a:rPr lang="vi-VN" dirty="0">
                              <a:latin typeface="+mj-lt"/>
                            </a:rPr>
                            <a:t>I</a:t>
                          </a:r>
                          <a:endParaRPr lang="en-US" dirty="0">
                            <a:latin typeface="+mj-lt"/>
                          </a:endParaRPr>
                        </a:p>
                      </a:txBody>
                      <a:tcPr/>
                    </a:tc>
                    <a:tc>
                      <a:txBody>
                        <a:bodyPr/>
                        <a:lstStyle/>
                        <a:p>
                          <a:pPr algn="ctr"/>
                          <a:r>
                            <a:rPr lang="vi-VN" dirty="0">
                              <a:latin typeface="+mj-lt"/>
                            </a:rPr>
                            <a:t>2.4986</a:t>
                          </a:r>
                          <a:endParaRPr lang="en-US" dirty="0">
                            <a:latin typeface="+mj-lt"/>
                          </a:endParaRPr>
                        </a:p>
                      </a:txBody>
                      <a:tcPr/>
                    </a:tc>
                    <a:extLst>
                      <a:ext uri="{0D108BD9-81ED-4DB2-BD59-A6C34878D82A}">
                        <a16:rowId xmlns:a16="http://schemas.microsoft.com/office/drawing/2014/main" val="335364097"/>
                      </a:ext>
                    </a:extLst>
                  </a:tr>
                  <a:tr h="365760">
                    <a:tc>
                      <a:txBody>
                        <a:bodyPr/>
                        <a:lstStyle/>
                        <a:p>
                          <a:pPr algn="ctr"/>
                          <a:r>
                            <a:rPr lang="vi-VN" dirty="0">
                              <a:latin typeface="+mj-lt"/>
                            </a:rPr>
                            <a:t>J</a:t>
                          </a:r>
                          <a:endParaRPr lang="en-US" dirty="0">
                            <a:latin typeface="+mj-lt"/>
                          </a:endParaRPr>
                        </a:p>
                      </a:txBody>
                      <a:tcPr/>
                    </a:tc>
                    <a:tc>
                      <a:txBody>
                        <a:bodyPr/>
                        <a:lstStyle/>
                        <a:p>
                          <a:pPr algn="ctr"/>
                          <a:r>
                            <a:rPr lang="vi-VN" dirty="0">
                              <a:latin typeface="+mj-lt"/>
                            </a:rPr>
                            <a:t>0.0</a:t>
                          </a:r>
                          <a:endParaRPr lang="en-US" dirty="0">
                            <a:latin typeface="+mj-lt"/>
                          </a:endParaRPr>
                        </a:p>
                      </a:txBody>
                      <a:tcPr/>
                    </a:tc>
                    <a:extLst>
                      <a:ext uri="{0D108BD9-81ED-4DB2-BD59-A6C34878D82A}">
                        <a16:rowId xmlns:a16="http://schemas.microsoft.com/office/drawing/2014/main" val="3525417719"/>
                      </a:ext>
                    </a:extLst>
                  </a:tr>
                </a:tbl>
              </a:graphicData>
            </a:graphic>
          </p:graphicFrame>
        </mc:Fallback>
      </mc:AlternateContent>
    </p:spTree>
    <p:extLst>
      <p:ext uri="{BB962C8B-B14F-4D97-AF65-F5344CB8AC3E}">
        <p14:creationId xmlns:p14="http://schemas.microsoft.com/office/powerpoint/2010/main" val="2843841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B6B2DD-2D2C-DBD2-6B95-72FB2BAD7977}"/>
              </a:ext>
            </a:extLst>
          </p:cNvPr>
          <p:cNvSpPr>
            <a:spLocks noGrp="1"/>
          </p:cNvSpPr>
          <p:nvPr>
            <p:ph type="sldNum" sz="quarter" idx="12"/>
          </p:nvPr>
        </p:nvSpPr>
        <p:spPr/>
        <p:txBody>
          <a:bodyPr/>
          <a:lstStyle/>
          <a:p>
            <a:fld id="{9B618960-8005-486C-9A75-10CB2AAC16F9}" type="slidenum">
              <a:rPr lang="en-US" smtClean="0"/>
              <a:t>14</a:t>
            </a:fld>
            <a:endParaRPr lang="en-US"/>
          </a:p>
        </p:txBody>
      </p:sp>
      <p:sp>
        <p:nvSpPr>
          <p:cNvPr id="5" name="TextBox 3">
            <a:extLst>
              <a:ext uri="{FF2B5EF4-FFF2-40B4-BE49-F238E27FC236}">
                <a16:creationId xmlns:a16="http://schemas.microsoft.com/office/drawing/2014/main" id="{FE84BC57-7FEA-5440-01B3-71C3BE7FBB55}"/>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23A93B55-7699-4986-DD9F-B09EDB078D2C}"/>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BA4E9BD7-94CF-2662-FF90-7B8B88AFC7E9}"/>
                  </a:ext>
                </a:extLst>
              </p:cNvPr>
              <p:cNvSpPr txBox="1"/>
              <p:nvPr/>
            </p:nvSpPr>
            <p:spPr>
              <a:xfrm>
                <a:off x="1080136" y="2353945"/>
                <a:ext cx="4583246" cy="318677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altLang="vi-VN" dirty="0">
                    <a:latin typeface="+mj-lt"/>
                  </a:rPr>
                  <a:t>Bước 4: </a:t>
                </a:r>
                <a:r>
                  <a:rPr lang="vi-VN" dirty="0">
                    <a:latin typeface="+mj-lt"/>
                  </a:rPr>
                  <a:t>Tính khoảng cách tương đối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m:t>
                        </m:r>
                        <m:r>
                          <a:rPr lang="vi-VN" i="1">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i="1">
                        <a:latin typeface="Cambria Math" panose="02040503050406030204" pitchFamily="18" charset="0"/>
                      </a:rPr>
                      <m:t>)</m:t>
                    </m:r>
                  </m:oMath>
                </a14:m>
                <a:endParaRPr lang="vi-VN" dirty="0">
                  <a:latin typeface="+mj-lt"/>
                </a:endParaRPr>
              </a:p>
              <a:p>
                <a:pPr marL="285750" indent="-285750">
                  <a:lnSpc>
                    <a:spcPct val="150000"/>
                  </a:lnSpc>
                  <a:buFontTx/>
                  <a:buChar char="-"/>
                </a:pPr>
                <a:r>
                  <a:rPr lang="vi-VN" dirty="0">
                    <a:latin typeface="+mj-lt"/>
                  </a:rPr>
                  <a:t>Sau khi có mật độ:</a:t>
                </a:r>
              </a:p>
              <a:p>
                <a:pPr>
                  <a:lnSpc>
                    <a:spcPct val="150000"/>
                  </a:lnSpc>
                </a:pPr>
                <a14:m>
                  <m:oMathPara xmlns:m="http://schemas.openxmlformats.org/officeDocument/2006/math">
                    <m:oMathParaPr>
                      <m:jc m:val="centerGroup"/>
                    </m:oMathParaPr>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i="1">
                          <a:latin typeface="Cambria Math" panose="02040503050406030204" pitchFamily="18" charset="0"/>
                        </a:rPr>
                        <m:t>=</m:t>
                      </m:r>
                      <m:func>
                        <m:funcPr>
                          <m:ctrlPr>
                            <a:rPr lang="vi-VN" i="1">
                              <a:latin typeface="Cambria Math" panose="02040503050406030204" pitchFamily="18" charset="0"/>
                            </a:rPr>
                          </m:ctrlPr>
                        </m:funcPr>
                        <m:fName>
                          <m:limLow>
                            <m:limLowPr>
                              <m:ctrlPr>
                                <a:rPr lang="vi-VN" i="1">
                                  <a:latin typeface="Cambria Math" panose="02040503050406030204" pitchFamily="18" charset="0"/>
                                </a:rPr>
                              </m:ctrlPr>
                            </m:limLowPr>
                            <m:e>
                              <m:r>
                                <a:rPr lang="vi-VN" i="1">
                                  <a:latin typeface="Cambria Math" panose="02040503050406030204" pitchFamily="18" charset="0"/>
                                </a:rPr>
                                <m:t>𝑚𝑖𝑛</m:t>
                              </m:r>
                            </m:e>
                            <m:lim>
                              <m:r>
                                <a:rPr lang="vi-VN" i="1">
                                  <a:latin typeface="Cambria Math" panose="02040503050406030204" pitchFamily="18" charset="0"/>
                                </a:rPr>
                                <m:t>𝑗</m:t>
                              </m:r>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𝑗</m:t>
                                  </m:r>
                                </m:sub>
                              </m:sSub>
                              <m:r>
                                <a:rPr lang="vi-VN" i="1">
                                  <a:latin typeface="Cambria Math" panose="02040503050406030204" pitchFamily="18" charset="0"/>
                                </a:rPr>
                                <m:t>&gt;</m:t>
                              </m:r>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lim>
                          </m:limLow>
                        </m:fName>
                        <m:e>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e>
                          </m:d>
                        </m:e>
                      </m:func>
                    </m:oMath>
                  </m:oMathPara>
                </a14:m>
                <a:endParaRPr lang="vi-VN" i="1" dirty="0">
                  <a:latin typeface="+mj-lt"/>
                </a:endParaRPr>
              </a:p>
              <a:p>
                <a:pPr marL="285750" indent="-285750">
                  <a:lnSpc>
                    <a:spcPct val="200000"/>
                  </a:lnSpc>
                  <a:buFontTx/>
                  <a:buChar char="-"/>
                </a:pPr>
                <a:r>
                  <a:rPr lang="vi-VN" dirty="0">
                    <a:latin typeface="+mj-lt"/>
                  </a:rPr>
                  <a:t>Riêng điểm có mật độ lớn nhất:</a:t>
                </a:r>
              </a:p>
              <a:p>
                <a:pPr>
                  <a:lnSpc>
                    <a:spcPct val="150000"/>
                  </a:lnSpc>
                </a:pPr>
                <a14:m>
                  <m:oMathPara xmlns:m="http://schemas.openxmlformats.org/officeDocument/2006/math">
                    <m:oMathParaPr>
                      <m:jc m:val="centerGroup"/>
                    </m:oMathParaPr>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i="1">
                          <a:latin typeface="Cambria Math" panose="02040503050406030204" pitchFamily="18" charset="0"/>
                        </a:rPr>
                        <m:t>=</m:t>
                      </m:r>
                      <m:func>
                        <m:funcPr>
                          <m:ctrlPr>
                            <a:rPr lang="vi-VN" i="1">
                              <a:latin typeface="Cambria Math" panose="02040503050406030204" pitchFamily="18" charset="0"/>
                            </a:rPr>
                          </m:ctrlPr>
                        </m:funcPr>
                        <m:fName>
                          <m:limLow>
                            <m:limLowPr>
                              <m:ctrlPr>
                                <a:rPr lang="vi-VN" i="1">
                                  <a:latin typeface="Cambria Math" panose="02040503050406030204" pitchFamily="18" charset="0"/>
                                </a:rPr>
                              </m:ctrlPr>
                            </m:limLowPr>
                            <m:e>
                              <m:r>
                                <a:rPr lang="vi-VN" i="1">
                                  <a:latin typeface="Cambria Math" panose="02040503050406030204" pitchFamily="18" charset="0"/>
                                </a:rPr>
                                <m:t>𝑚𝑎𝑥</m:t>
                              </m:r>
                            </m:e>
                            <m:lim>
                              <m:r>
                                <a:rPr lang="vi-VN" i="1">
                                  <a:latin typeface="Cambria Math" panose="02040503050406030204" pitchFamily="18" charset="0"/>
                                </a:rPr>
                                <m:t>𝑗</m:t>
                              </m:r>
                            </m:lim>
                          </m:limLow>
                        </m:fName>
                        <m:e>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e>
                          </m:d>
                        </m:e>
                      </m:func>
                    </m:oMath>
                  </m:oMathPara>
                </a14:m>
                <a:endParaRPr lang="vi-VN" i="1" dirty="0">
                  <a:latin typeface="+mj-lt"/>
                </a:endParaRPr>
              </a:p>
            </p:txBody>
          </p:sp>
        </mc:Choice>
        <mc:Fallback xmlns="">
          <p:sp>
            <p:nvSpPr>
              <p:cNvPr id="7" name="TextBox 5">
                <a:extLst>
                  <a:ext uri="{FF2B5EF4-FFF2-40B4-BE49-F238E27FC236}">
                    <a16:creationId xmlns:a16="http://schemas.microsoft.com/office/drawing/2014/main" id="{BA4E9BD7-94CF-2662-FF90-7B8B88AFC7E9}"/>
                  </a:ext>
                </a:extLst>
              </p:cNvPr>
              <p:cNvSpPr txBox="1">
                <a:spLocks noRot="1" noChangeAspect="1" noMove="1" noResize="1" noEditPoints="1" noAdjustHandles="1" noChangeArrowheads="1" noChangeShapeType="1" noTextEdit="1"/>
              </p:cNvSpPr>
              <p:nvPr/>
            </p:nvSpPr>
            <p:spPr>
              <a:xfrm>
                <a:off x="1080136" y="2353945"/>
                <a:ext cx="4583246" cy="3186770"/>
              </a:xfrm>
              <a:prstGeom prst="rect">
                <a:avLst/>
              </a:prstGeom>
              <a:blipFill>
                <a:blip r:embed="rId2"/>
                <a:stretch>
                  <a:fillRect l="-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D3FF2D-AC08-8E93-C780-D0847EE73606}"/>
                  </a:ext>
                </a:extLst>
              </p:cNvPr>
              <p:cNvSpPr txBox="1"/>
              <p:nvPr/>
            </p:nvSpPr>
            <p:spPr>
              <a:xfrm>
                <a:off x="6341806" y="1815673"/>
                <a:ext cx="4583246" cy="3782061"/>
              </a:xfrm>
              <a:prstGeom prst="rect">
                <a:avLst/>
              </a:prstGeom>
              <a:noFill/>
            </p:spPr>
            <p:txBody>
              <a:bodyPr wrap="square" rtlCol="0">
                <a:spAutoFit/>
              </a:bodyPr>
              <a:lstStyle/>
              <a:p>
                <a:pPr marL="285750" indent="-285750">
                  <a:lnSpc>
                    <a:spcPct val="150000"/>
                  </a:lnSpc>
                  <a:buFontTx/>
                  <a:buChar char="-"/>
                </a:pPr>
                <a:r>
                  <a:rPr lang="vi-VN" dirty="0">
                    <a:latin typeface="+mj-lt"/>
                  </a:rPr>
                  <a:t>Sắp xếp các điểm theo mật độ giảm dần:</a:t>
                </a:r>
              </a:p>
              <a:p>
                <a:pPr>
                  <a:lnSpc>
                    <a:spcPct val="150000"/>
                  </a:lnSpc>
                </a:pPr>
                <a:r>
                  <a:rPr lang="vi-VN" dirty="0">
                    <a:latin typeface="+mj-lt"/>
                  </a:rPr>
                  <a:t>	C B G H D A F I J</a:t>
                </a:r>
              </a:p>
              <a:p>
                <a:pPr marL="285750" indent="-285750">
                  <a:lnSpc>
                    <a:spcPct val="150000"/>
                  </a:lnSpc>
                  <a:buFontTx/>
                  <a:buChar char="-"/>
                </a:pPr>
                <a:r>
                  <a:rPr lang="vi-VN" dirty="0">
                    <a:latin typeface="+mj-lt"/>
                  </a:rPr>
                  <a:t>Các điểm có mật độ lớn hơn A là:</a:t>
                </a:r>
                <a:br>
                  <a:rPr lang="vi-VN" dirty="0">
                    <a:latin typeface="+mj-lt"/>
                  </a:rPr>
                </a:br>
                <a:r>
                  <a:rPr lang="vi-VN" dirty="0">
                    <a:latin typeface="+mj-lt"/>
                  </a:rPr>
                  <a:t>	C B G H D</a:t>
                </a:r>
              </a:p>
              <a:p>
                <a:pPr marL="285750" indent="-285750">
                  <a:lnSpc>
                    <a:spcPct val="150000"/>
                  </a:lnSpc>
                  <a:buFontTx/>
                  <a:buChar char="-"/>
                </a:pPr>
                <a:r>
                  <a:rPr lang="vi-VN" dirty="0">
                    <a:latin typeface="+mj-lt"/>
                  </a:rPr>
                  <a:t>Điểm gần A nhất trong số các điểm trên là:</a:t>
                </a:r>
              </a:p>
              <a:p>
                <a:pPr>
                  <a:lnSpc>
                    <a:spcPct val="150000"/>
                  </a:lnSpc>
                </a:pPr>
                <a:r>
                  <a:rPr lang="vi-VN" dirty="0">
                    <a:latin typeface="+mj-lt"/>
                  </a:rPr>
                  <a:t>	B</a:t>
                </a:r>
              </a:p>
              <a:p>
                <a:pPr marL="285750" indent="-285750">
                  <a:lnSpc>
                    <a:spcPct val="150000"/>
                  </a:lnSpc>
                  <a:buFontTx/>
                  <a:buChar char="-"/>
                </a:pPr>
                <a:r>
                  <a:rPr lang="vi-VN" dirty="0">
                    <a:latin typeface="+mj-lt"/>
                  </a:rPr>
                  <a:t>Tương tự với các điểm còn lại</a:t>
                </a:r>
              </a:p>
              <a:p>
                <a:pPr>
                  <a:lnSpc>
                    <a:spcPct val="150000"/>
                  </a:lnSpc>
                </a:pPr>
                <a:r>
                  <a:rPr lang="vi-VN" dirty="0">
                    <a:latin typeface="+mj-lt"/>
                  </a:rPr>
                  <a:t>	...</a:t>
                </a:r>
              </a:p>
              <a:p>
                <a:pPr marL="285750" indent="-285750">
                  <a:lnSpc>
                    <a:spcPct val="150000"/>
                  </a:lnSpc>
                  <a:buFontTx/>
                  <a:buChar char="-"/>
                </a:pPr>
                <a:r>
                  <a:rPr lang="vi-VN" dirty="0">
                    <a:latin typeface="+mj-lt"/>
                  </a:rPr>
                  <a:t>Điểm có mật độ cao nhất C: </a:t>
                </a:r>
                <a14:m>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𝛿</m:t>
                        </m:r>
                      </m:e>
                      <m:sub>
                        <m:r>
                          <m:rPr>
                            <m:sty m:val="p"/>
                          </m:rPr>
                          <a:rPr lang="vi-VN" i="1">
                            <a:latin typeface="Cambria Math" panose="02040503050406030204" pitchFamily="18" charset="0"/>
                          </a:rPr>
                          <m:t>C</m:t>
                        </m:r>
                      </m:sub>
                    </m:sSub>
                  </m:oMath>
                </a14:m>
                <a:r>
                  <a:rPr lang="vi-VN" dirty="0">
                    <a:latin typeface="+mj-lt"/>
                  </a:rPr>
                  <a:t> = 5.3151</a:t>
                </a:r>
              </a:p>
            </p:txBody>
          </p:sp>
        </mc:Choice>
        <mc:Fallback xmlns="">
          <p:sp>
            <p:nvSpPr>
              <p:cNvPr id="8" name="TextBox 7">
                <a:extLst>
                  <a:ext uri="{FF2B5EF4-FFF2-40B4-BE49-F238E27FC236}">
                    <a16:creationId xmlns:a16="http://schemas.microsoft.com/office/drawing/2014/main" id="{5ED3FF2D-AC08-8E93-C780-D0847EE73606}"/>
                  </a:ext>
                </a:extLst>
              </p:cNvPr>
              <p:cNvSpPr txBox="1">
                <a:spLocks noRot="1" noChangeAspect="1" noMove="1" noResize="1" noEditPoints="1" noAdjustHandles="1" noChangeArrowheads="1" noChangeShapeType="1" noTextEdit="1"/>
              </p:cNvSpPr>
              <p:nvPr/>
            </p:nvSpPr>
            <p:spPr>
              <a:xfrm>
                <a:off x="6341806" y="1815673"/>
                <a:ext cx="4583246" cy="3782061"/>
              </a:xfrm>
              <a:prstGeom prst="rect">
                <a:avLst/>
              </a:prstGeom>
              <a:blipFill>
                <a:blip r:embed="rId3"/>
                <a:stretch>
                  <a:fillRect l="-798" b="-1774"/>
                </a:stretch>
              </a:blipFill>
            </p:spPr>
            <p:txBody>
              <a:bodyPr/>
              <a:lstStyle/>
              <a:p>
                <a:r>
                  <a:rPr lang="en-US">
                    <a:noFill/>
                  </a:rPr>
                  <a:t> </a:t>
                </a:r>
              </a:p>
            </p:txBody>
          </p:sp>
        </mc:Fallback>
      </mc:AlternateContent>
    </p:spTree>
    <p:extLst>
      <p:ext uri="{BB962C8B-B14F-4D97-AF65-F5344CB8AC3E}">
        <p14:creationId xmlns:p14="http://schemas.microsoft.com/office/powerpoint/2010/main" val="2425944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799C0D-EC13-43C1-7807-DEB6AABC208D}"/>
              </a:ext>
            </a:extLst>
          </p:cNvPr>
          <p:cNvSpPr>
            <a:spLocks noGrp="1"/>
          </p:cNvSpPr>
          <p:nvPr>
            <p:ph type="sldNum" sz="quarter" idx="12"/>
          </p:nvPr>
        </p:nvSpPr>
        <p:spPr/>
        <p:txBody>
          <a:bodyPr/>
          <a:lstStyle/>
          <a:p>
            <a:fld id="{9B618960-8005-486C-9A75-10CB2AAC16F9}" type="slidenum">
              <a:rPr lang="en-US" smtClean="0"/>
              <a:t>15</a:t>
            </a:fld>
            <a:endParaRPr lang="en-US"/>
          </a:p>
        </p:txBody>
      </p:sp>
      <p:sp>
        <p:nvSpPr>
          <p:cNvPr id="5" name="TextBox 3">
            <a:extLst>
              <a:ext uri="{FF2B5EF4-FFF2-40B4-BE49-F238E27FC236}">
                <a16:creationId xmlns:a16="http://schemas.microsoft.com/office/drawing/2014/main" id="{67DCEFD5-05A9-5EE6-0EF5-E7D622142651}"/>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30876347-0F54-5B3B-2AC9-49341CF067A9}"/>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C9195C1F-5F43-EFFA-FF21-67BBB80B64A4}"/>
                  </a:ext>
                </a:extLst>
              </p:cNvPr>
              <p:cNvSpPr txBox="1"/>
              <p:nvPr/>
            </p:nvSpPr>
            <p:spPr>
              <a:xfrm>
                <a:off x="1080136" y="2353945"/>
                <a:ext cx="4583246" cy="318677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altLang="vi-VN" dirty="0">
                    <a:latin typeface="+mj-lt"/>
                  </a:rPr>
                  <a:t>Bước 4: </a:t>
                </a:r>
                <a:r>
                  <a:rPr lang="vi-VN" dirty="0">
                    <a:latin typeface="+mj-lt"/>
                  </a:rPr>
                  <a:t>Tính khoảng cách tương đối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m:t>
                        </m:r>
                        <m:r>
                          <a:rPr lang="vi-VN" i="1">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i="1">
                        <a:latin typeface="Cambria Math" panose="02040503050406030204" pitchFamily="18" charset="0"/>
                      </a:rPr>
                      <m:t>)</m:t>
                    </m:r>
                  </m:oMath>
                </a14:m>
                <a:endParaRPr lang="vi-VN" dirty="0">
                  <a:latin typeface="+mj-lt"/>
                </a:endParaRPr>
              </a:p>
              <a:p>
                <a:pPr marL="285750" indent="-285750">
                  <a:lnSpc>
                    <a:spcPct val="150000"/>
                  </a:lnSpc>
                  <a:buFontTx/>
                  <a:buChar char="-"/>
                </a:pPr>
                <a:r>
                  <a:rPr lang="vi-VN" dirty="0">
                    <a:latin typeface="+mj-lt"/>
                  </a:rPr>
                  <a:t>Sau khi có mật độ:</a:t>
                </a:r>
              </a:p>
              <a:p>
                <a:pPr>
                  <a:lnSpc>
                    <a:spcPct val="150000"/>
                  </a:lnSpc>
                </a:pPr>
                <a14:m>
                  <m:oMathPara xmlns:m="http://schemas.openxmlformats.org/officeDocument/2006/math">
                    <m:oMathParaPr>
                      <m:jc m:val="centerGroup"/>
                    </m:oMathParaPr>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i="1">
                          <a:latin typeface="Cambria Math" panose="02040503050406030204" pitchFamily="18" charset="0"/>
                        </a:rPr>
                        <m:t>=</m:t>
                      </m:r>
                      <m:func>
                        <m:funcPr>
                          <m:ctrlPr>
                            <a:rPr lang="vi-VN" i="1">
                              <a:latin typeface="Cambria Math" panose="02040503050406030204" pitchFamily="18" charset="0"/>
                            </a:rPr>
                          </m:ctrlPr>
                        </m:funcPr>
                        <m:fName>
                          <m:limLow>
                            <m:limLowPr>
                              <m:ctrlPr>
                                <a:rPr lang="vi-VN" i="1">
                                  <a:latin typeface="Cambria Math" panose="02040503050406030204" pitchFamily="18" charset="0"/>
                                </a:rPr>
                              </m:ctrlPr>
                            </m:limLowPr>
                            <m:e>
                              <m:r>
                                <a:rPr lang="vi-VN" i="1">
                                  <a:latin typeface="Cambria Math" panose="02040503050406030204" pitchFamily="18" charset="0"/>
                                </a:rPr>
                                <m:t>𝑚𝑖𝑛</m:t>
                              </m:r>
                            </m:e>
                            <m:lim>
                              <m:r>
                                <a:rPr lang="vi-VN" i="1">
                                  <a:latin typeface="Cambria Math" panose="02040503050406030204" pitchFamily="18" charset="0"/>
                                </a:rPr>
                                <m:t>𝑗</m:t>
                              </m:r>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𝑗</m:t>
                                  </m:r>
                                </m:sub>
                              </m:sSub>
                              <m:r>
                                <a:rPr lang="vi-VN" i="1">
                                  <a:latin typeface="Cambria Math" panose="02040503050406030204" pitchFamily="18" charset="0"/>
                                </a:rPr>
                                <m:t>&gt;</m:t>
                              </m:r>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lim>
                          </m:limLow>
                        </m:fName>
                        <m:e>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e>
                          </m:d>
                        </m:e>
                      </m:func>
                    </m:oMath>
                  </m:oMathPara>
                </a14:m>
                <a:endParaRPr lang="vi-VN" i="1" dirty="0">
                  <a:latin typeface="+mj-lt"/>
                </a:endParaRPr>
              </a:p>
              <a:p>
                <a:pPr marL="285750" indent="-285750">
                  <a:lnSpc>
                    <a:spcPct val="200000"/>
                  </a:lnSpc>
                  <a:buFontTx/>
                  <a:buChar char="-"/>
                </a:pPr>
                <a:r>
                  <a:rPr lang="vi-VN" dirty="0">
                    <a:latin typeface="+mj-lt"/>
                  </a:rPr>
                  <a:t>Riêng điểm có mật độ lớn nhất:</a:t>
                </a:r>
              </a:p>
              <a:p>
                <a:pPr>
                  <a:lnSpc>
                    <a:spcPct val="150000"/>
                  </a:lnSpc>
                </a:pPr>
                <a14:m>
                  <m:oMathPara xmlns:m="http://schemas.openxmlformats.org/officeDocument/2006/math">
                    <m:oMathParaPr>
                      <m:jc m:val="centerGroup"/>
                    </m:oMathParaPr>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r>
                        <a:rPr lang="vi-VN" i="1">
                          <a:latin typeface="Cambria Math" panose="02040503050406030204" pitchFamily="18" charset="0"/>
                        </a:rPr>
                        <m:t>=</m:t>
                      </m:r>
                      <m:func>
                        <m:funcPr>
                          <m:ctrlPr>
                            <a:rPr lang="vi-VN" i="1">
                              <a:latin typeface="Cambria Math" panose="02040503050406030204" pitchFamily="18" charset="0"/>
                            </a:rPr>
                          </m:ctrlPr>
                        </m:funcPr>
                        <m:fName>
                          <m:limLow>
                            <m:limLowPr>
                              <m:ctrlPr>
                                <a:rPr lang="vi-VN" i="1">
                                  <a:latin typeface="Cambria Math" panose="02040503050406030204" pitchFamily="18" charset="0"/>
                                </a:rPr>
                              </m:ctrlPr>
                            </m:limLowPr>
                            <m:e>
                              <m:r>
                                <a:rPr lang="vi-VN" i="1">
                                  <a:latin typeface="Cambria Math" panose="02040503050406030204" pitchFamily="18" charset="0"/>
                                </a:rPr>
                                <m:t>𝑚𝑎𝑥</m:t>
                              </m:r>
                            </m:e>
                            <m:lim>
                              <m:r>
                                <a:rPr lang="vi-VN" i="1">
                                  <a:latin typeface="Cambria Math" panose="02040503050406030204" pitchFamily="18" charset="0"/>
                                </a:rPr>
                                <m:t>𝑗</m:t>
                              </m:r>
                            </m:lim>
                          </m:limLow>
                        </m:fName>
                        <m:e>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e>
                          </m:d>
                        </m:e>
                      </m:func>
                    </m:oMath>
                  </m:oMathPara>
                </a14:m>
                <a:endParaRPr lang="vi-VN" i="1" dirty="0">
                  <a:latin typeface="+mj-lt"/>
                </a:endParaRPr>
              </a:p>
            </p:txBody>
          </p:sp>
        </mc:Choice>
        <mc:Fallback xmlns="">
          <p:sp>
            <p:nvSpPr>
              <p:cNvPr id="7" name="TextBox 5">
                <a:extLst>
                  <a:ext uri="{FF2B5EF4-FFF2-40B4-BE49-F238E27FC236}">
                    <a16:creationId xmlns:a16="http://schemas.microsoft.com/office/drawing/2014/main" id="{C9195C1F-5F43-EFFA-FF21-67BBB80B64A4}"/>
                  </a:ext>
                </a:extLst>
              </p:cNvPr>
              <p:cNvSpPr txBox="1">
                <a:spLocks noRot="1" noChangeAspect="1" noMove="1" noResize="1" noEditPoints="1" noAdjustHandles="1" noChangeArrowheads="1" noChangeShapeType="1" noTextEdit="1"/>
              </p:cNvSpPr>
              <p:nvPr/>
            </p:nvSpPr>
            <p:spPr>
              <a:xfrm>
                <a:off x="1080136" y="2353945"/>
                <a:ext cx="4583246" cy="3186770"/>
              </a:xfrm>
              <a:prstGeom prst="rect">
                <a:avLst/>
              </a:prstGeom>
              <a:blipFill>
                <a:blip r:embed="rId2"/>
                <a:stretch>
                  <a:fillRect l="-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A30D770C-A245-0533-2C29-05CAAA29DCC4}"/>
                  </a:ext>
                </a:extLst>
              </p:cNvPr>
              <p:cNvGraphicFramePr>
                <a:graphicFrameLocks noGrp="1"/>
              </p:cNvGraphicFramePr>
              <p:nvPr>
                <p:extLst>
                  <p:ext uri="{D42A27DB-BD31-4B8C-83A1-F6EECF244321}">
                    <p14:modId xmlns:p14="http://schemas.microsoft.com/office/powerpoint/2010/main" val="620105462"/>
                  </p:ext>
                </p:extLst>
              </p:nvPr>
            </p:nvGraphicFramePr>
            <p:xfrm>
              <a:off x="6096000" y="1912666"/>
              <a:ext cx="4583247" cy="4023360"/>
            </p:xfrm>
            <a:graphic>
              <a:graphicData uri="http://schemas.openxmlformats.org/drawingml/2006/table">
                <a:tbl>
                  <a:tblPr firstRow="1" bandRow="1">
                    <a:tableStyleId>{5940675A-B579-460E-94D1-54222C63F5DA}</a:tableStyleId>
                  </a:tblPr>
                  <a:tblGrid>
                    <a:gridCol w="1527749">
                      <a:extLst>
                        <a:ext uri="{9D8B030D-6E8A-4147-A177-3AD203B41FA5}">
                          <a16:colId xmlns:a16="http://schemas.microsoft.com/office/drawing/2014/main" val="3527690506"/>
                        </a:ext>
                      </a:extLst>
                    </a:gridCol>
                    <a:gridCol w="1527749">
                      <a:extLst>
                        <a:ext uri="{9D8B030D-6E8A-4147-A177-3AD203B41FA5}">
                          <a16:colId xmlns:a16="http://schemas.microsoft.com/office/drawing/2014/main" val="2752869031"/>
                        </a:ext>
                      </a:extLst>
                    </a:gridCol>
                    <a:gridCol w="1527749">
                      <a:extLst>
                        <a:ext uri="{9D8B030D-6E8A-4147-A177-3AD203B41FA5}">
                          <a16:colId xmlns:a16="http://schemas.microsoft.com/office/drawing/2014/main" val="2757488392"/>
                        </a:ext>
                      </a:extLst>
                    </a:gridCol>
                  </a:tblGrid>
                  <a:tr h="280196">
                    <a:tc>
                      <a:txBody>
                        <a:bodyPr/>
                        <a:lstStyle/>
                        <a:p>
                          <a:pPr algn="ctr"/>
                          <a:r>
                            <a:rPr lang="vi-VN" dirty="0">
                              <a:latin typeface="+mj-lt"/>
                            </a:rPr>
                            <a:t>Điểm</a:t>
                          </a:r>
                          <a:endParaRPr lang="en-US" dirty="0">
                            <a:latin typeface="+mj-lt"/>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𝛿</m:t>
                                </m:r>
                              </m:oMath>
                            </m:oMathPara>
                          </a14:m>
                          <a:endParaRPr lang="en-US" dirty="0">
                            <a:latin typeface="+mj-lt"/>
                          </a:endParaRPr>
                        </a:p>
                      </a:txBody>
                      <a:tcPr/>
                    </a:tc>
                    <a:tc>
                      <a:txBody>
                        <a:bodyPr/>
                        <a:lstStyle/>
                        <a:p>
                          <a:pPr algn="ctr"/>
                          <a:r>
                            <a:rPr lang="vi-VN" dirty="0">
                              <a:latin typeface="+mj-lt"/>
                            </a:rPr>
                            <a:t>Gần nhất</a:t>
                          </a:r>
                          <a:endParaRPr lang="en-US" dirty="0">
                            <a:latin typeface="+mj-lt"/>
                          </a:endParaRPr>
                        </a:p>
                      </a:txBody>
                      <a:tcPr/>
                    </a:tc>
                    <a:extLst>
                      <a:ext uri="{0D108BD9-81ED-4DB2-BD59-A6C34878D82A}">
                        <a16:rowId xmlns:a16="http://schemas.microsoft.com/office/drawing/2014/main" val="3831055423"/>
                      </a:ext>
                    </a:extLst>
                  </a:tr>
                  <a:tr h="280196">
                    <a:tc>
                      <a:txBody>
                        <a:bodyPr/>
                        <a:lstStyle/>
                        <a:p>
                          <a:pPr algn="ctr"/>
                          <a:r>
                            <a:rPr lang="vi-VN" dirty="0">
                              <a:latin typeface="+mj-lt"/>
                            </a:rPr>
                            <a:t>A</a:t>
                          </a:r>
                          <a:endParaRPr lang="en-US" dirty="0">
                            <a:latin typeface="+mj-lt"/>
                          </a:endParaRPr>
                        </a:p>
                      </a:txBody>
                      <a:tcPr/>
                    </a:tc>
                    <a:tc>
                      <a:txBody>
                        <a:bodyPr/>
                        <a:lstStyle/>
                        <a:p>
                          <a:pPr algn="ctr"/>
                          <a:r>
                            <a:rPr lang="vi-VN" dirty="0">
                              <a:latin typeface="+mj-lt"/>
                            </a:rPr>
                            <a:t>0.2236</a:t>
                          </a:r>
                          <a:endParaRPr lang="en-US" dirty="0">
                            <a:latin typeface="+mj-lt"/>
                          </a:endParaRPr>
                        </a:p>
                      </a:txBody>
                      <a:tcPr/>
                    </a:tc>
                    <a:tc>
                      <a:txBody>
                        <a:bodyPr/>
                        <a:lstStyle/>
                        <a:p>
                          <a:pPr algn="ctr"/>
                          <a:r>
                            <a:rPr lang="vi-VN" dirty="0">
                              <a:latin typeface="+mj-lt"/>
                            </a:rPr>
                            <a:t>B</a:t>
                          </a:r>
                          <a:endParaRPr lang="en-US" dirty="0">
                            <a:latin typeface="+mj-lt"/>
                          </a:endParaRPr>
                        </a:p>
                      </a:txBody>
                      <a:tcPr/>
                    </a:tc>
                    <a:extLst>
                      <a:ext uri="{0D108BD9-81ED-4DB2-BD59-A6C34878D82A}">
                        <a16:rowId xmlns:a16="http://schemas.microsoft.com/office/drawing/2014/main" val="438384959"/>
                      </a:ext>
                    </a:extLst>
                  </a:tr>
                  <a:tr h="280196">
                    <a:tc>
                      <a:txBody>
                        <a:bodyPr/>
                        <a:lstStyle/>
                        <a:p>
                          <a:pPr algn="ctr"/>
                          <a:r>
                            <a:rPr lang="vi-VN" dirty="0">
                              <a:latin typeface="+mj-lt"/>
                            </a:rPr>
                            <a:t>B</a:t>
                          </a:r>
                          <a:endParaRPr lang="en-US" dirty="0">
                            <a:latin typeface="+mj-lt"/>
                          </a:endParaRPr>
                        </a:p>
                      </a:txBody>
                      <a:tcPr/>
                    </a:tc>
                    <a:tc>
                      <a:txBody>
                        <a:bodyPr/>
                        <a:lstStyle/>
                        <a:p>
                          <a:pPr algn="ctr"/>
                          <a:r>
                            <a:rPr lang="en-US" dirty="0">
                              <a:latin typeface="+mj-lt"/>
                            </a:rPr>
                            <a:t>0.1414</a:t>
                          </a:r>
                        </a:p>
                      </a:txBody>
                      <a:tcPr/>
                    </a:tc>
                    <a:tc>
                      <a:txBody>
                        <a:bodyPr/>
                        <a:lstStyle/>
                        <a:p>
                          <a:pPr algn="ctr"/>
                          <a:r>
                            <a:rPr lang="vi-VN" dirty="0">
                              <a:latin typeface="+mj-lt"/>
                            </a:rPr>
                            <a:t>C</a:t>
                          </a:r>
                          <a:endParaRPr lang="en-US" dirty="0">
                            <a:latin typeface="+mj-lt"/>
                          </a:endParaRPr>
                        </a:p>
                      </a:txBody>
                      <a:tcPr/>
                    </a:tc>
                    <a:extLst>
                      <a:ext uri="{0D108BD9-81ED-4DB2-BD59-A6C34878D82A}">
                        <a16:rowId xmlns:a16="http://schemas.microsoft.com/office/drawing/2014/main" val="3005582178"/>
                      </a:ext>
                    </a:extLst>
                  </a:tr>
                  <a:tr h="280196">
                    <a:tc>
                      <a:txBody>
                        <a:bodyPr/>
                        <a:lstStyle/>
                        <a:p>
                          <a:pPr algn="ctr"/>
                          <a:r>
                            <a:rPr lang="vi-VN" dirty="0">
                              <a:latin typeface="+mj-lt"/>
                            </a:rPr>
                            <a:t>C</a:t>
                          </a:r>
                          <a:endParaRPr lang="en-US" dirty="0">
                            <a:latin typeface="+mj-lt"/>
                          </a:endParaRPr>
                        </a:p>
                      </a:txBody>
                      <a:tcPr/>
                    </a:tc>
                    <a:tc>
                      <a:txBody>
                        <a:bodyPr/>
                        <a:lstStyle/>
                        <a:p>
                          <a:pPr algn="ctr"/>
                          <a:r>
                            <a:rPr lang="en-US" dirty="0">
                              <a:latin typeface="+mj-lt"/>
                            </a:rPr>
                            <a:t>5.3151</a:t>
                          </a:r>
                        </a:p>
                      </a:txBody>
                      <a:tcPr/>
                    </a:tc>
                    <a:tc>
                      <a:txBody>
                        <a:bodyPr/>
                        <a:lstStyle/>
                        <a:p>
                          <a:pPr algn="ctr"/>
                          <a:endParaRPr lang="en-US" dirty="0">
                            <a:latin typeface="+mj-lt"/>
                          </a:endParaRPr>
                        </a:p>
                      </a:txBody>
                      <a:tcPr/>
                    </a:tc>
                    <a:extLst>
                      <a:ext uri="{0D108BD9-81ED-4DB2-BD59-A6C34878D82A}">
                        <a16:rowId xmlns:a16="http://schemas.microsoft.com/office/drawing/2014/main" val="129927797"/>
                      </a:ext>
                    </a:extLst>
                  </a:tr>
                  <a:tr h="280196">
                    <a:tc>
                      <a:txBody>
                        <a:bodyPr/>
                        <a:lstStyle/>
                        <a:p>
                          <a:pPr algn="ctr"/>
                          <a:r>
                            <a:rPr lang="vi-VN" dirty="0">
                              <a:latin typeface="+mj-lt"/>
                            </a:rPr>
                            <a:t>D</a:t>
                          </a:r>
                          <a:endParaRPr lang="en-US" dirty="0">
                            <a:latin typeface="+mj-lt"/>
                          </a:endParaRPr>
                        </a:p>
                      </a:txBody>
                      <a:tcPr/>
                    </a:tc>
                    <a:tc>
                      <a:txBody>
                        <a:bodyPr/>
                        <a:lstStyle/>
                        <a:p>
                          <a:pPr algn="ctr"/>
                          <a:r>
                            <a:rPr lang="en-US" dirty="0">
                              <a:latin typeface="+mj-lt"/>
                            </a:rPr>
                            <a:t>0.2236</a:t>
                          </a:r>
                        </a:p>
                      </a:txBody>
                      <a:tcPr/>
                    </a:tc>
                    <a:tc>
                      <a:txBody>
                        <a:bodyPr/>
                        <a:lstStyle/>
                        <a:p>
                          <a:pPr algn="ctr"/>
                          <a:r>
                            <a:rPr lang="vi-VN" dirty="0">
                              <a:latin typeface="+mj-lt"/>
                            </a:rPr>
                            <a:t>B</a:t>
                          </a:r>
                          <a:endParaRPr lang="en-US" dirty="0">
                            <a:latin typeface="+mj-lt"/>
                          </a:endParaRPr>
                        </a:p>
                      </a:txBody>
                      <a:tcPr/>
                    </a:tc>
                    <a:extLst>
                      <a:ext uri="{0D108BD9-81ED-4DB2-BD59-A6C34878D82A}">
                        <a16:rowId xmlns:a16="http://schemas.microsoft.com/office/drawing/2014/main" val="1142013553"/>
                      </a:ext>
                    </a:extLst>
                  </a:tr>
                  <a:tr h="280196">
                    <a:tc>
                      <a:txBody>
                        <a:bodyPr/>
                        <a:lstStyle/>
                        <a:p>
                          <a:pPr algn="ctr"/>
                          <a:r>
                            <a:rPr lang="vi-VN" dirty="0">
                              <a:latin typeface="+mj-lt"/>
                            </a:rPr>
                            <a:t>E</a:t>
                          </a:r>
                          <a:endParaRPr lang="en-US" dirty="0">
                            <a:latin typeface="+mj-lt"/>
                          </a:endParaRPr>
                        </a:p>
                      </a:txBody>
                      <a:tcPr/>
                    </a:tc>
                    <a:tc>
                      <a:txBody>
                        <a:bodyPr/>
                        <a:lstStyle/>
                        <a:p>
                          <a:pPr algn="ctr"/>
                          <a:r>
                            <a:rPr lang="en-US" dirty="0">
                              <a:latin typeface="+mj-lt"/>
                            </a:rPr>
                            <a:t>0.8602</a:t>
                          </a:r>
                        </a:p>
                      </a:txBody>
                      <a:tcPr/>
                    </a:tc>
                    <a:tc>
                      <a:txBody>
                        <a:bodyPr/>
                        <a:lstStyle/>
                        <a:p>
                          <a:pPr algn="ctr"/>
                          <a:r>
                            <a:rPr lang="vi-VN" dirty="0">
                              <a:latin typeface="+mj-lt"/>
                            </a:rPr>
                            <a:t>D</a:t>
                          </a:r>
                          <a:endParaRPr lang="en-US" dirty="0">
                            <a:latin typeface="+mj-lt"/>
                          </a:endParaRPr>
                        </a:p>
                      </a:txBody>
                      <a:tcPr/>
                    </a:tc>
                    <a:extLst>
                      <a:ext uri="{0D108BD9-81ED-4DB2-BD59-A6C34878D82A}">
                        <a16:rowId xmlns:a16="http://schemas.microsoft.com/office/drawing/2014/main" val="493935136"/>
                      </a:ext>
                    </a:extLst>
                  </a:tr>
                  <a:tr h="280196">
                    <a:tc>
                      <a:txBody>
                        <a:bodyPr/>
                        <a:lstStyle/>
                        <a:p>
                          <a:pPr algn="ctr"/>
                          <a:r>
                            <a:rPr lang="vi-VN" dirty="0">
                              <a:latin typeface="+mj-lt"/>
                            </a:rPr>
                            <a:t>F</a:t>
                          </a:r>
                          <a:endParaRPr lang="en-US" dirty="0">
                            <a:latin typeface="+mj-lt"/>
                          </a:endParaRPr>
                        </a:p>
                      </a:txBody>
                      <a:tcPr/>
                    </a:tc>
                    <a:tc>
                      <a:txBody>
                        <a:bodyPr/>
                        <a:lstStyle/>
                        <a:p>
                          <a:pPr algn="ctr"/>
                          <a:r>
                            <a:rPr lang="en-US" dirty="0">
                              <a:latin typeface="+mj-lt"/>
                            </a:rPr>
                            <a:t>0.2236</a:t>
                          </a:r>
                        </a:p>
                      </a:txBody>
                      <a:tcPr/>
                    </a:tc>
                    <a:tc>
                      <a:txBody>
                        <a:bodyPr/>
                        <a:lstStyle/>
                        <a:p>
                          <a:pPr algn="ctr"/>
                          <a:r>
                            <a:rPr lang="vi-VN" dirty="0">
                              <a:latin typeface="+mj-lt"/>
                            </a:rPr>
                            <a:t>G</a:t>
                          </a:r>
                          <a:endParaRPr lang="en-US" dirty="0">
                            <a:latin typeface="+mj-lt"/>
                          </a:endParaRPr>
                        </a:p>
                      </a:txBody>
                      <a:tcPr/>
                    </a:tc>
                    <a:extLst>
                      <a:ext uri="{0D108BD9-81ED-4DB2-BD59-A6C34878D82A}">
                        <a16:rowId xmlns:a16="http://schemas.microsoft.com/office/drawing/2014/main" val="4033097234"/>
                      </a:ext>
                    </a:extLst>
                  </a:tr>
                  <a:tr h="280196">
                    <a:tc>
                      <a:txBody>
                        <a:bodyPr/>
                        <a:lstStyle/>
                        <a:p>
                          <a:pPr algn="ctr"/>
                          <a:r>
                            <a:rPr lang="vi-VN" dirty="0">
                              <a:latin typeface="+mj-lt"/>
                            </a:rPr>
                            <a:t>G</a:t>
                          </a:r>
                          <a:endParaRPr lang="en-US" dirty="0">
                            <a:latin typeface="+mj-lt"/>
                          </a:endParaRPr>
                        </a:p>
                      </a:txBody>
                      <a:tcPr/>
                    </a:tc>
                    <a:tc>
                      <a:txBody>
                        <a:bodyPr/>
                        <a:lstStyle/>
                        <a:p>
                          <a:pPr algn="ctr"/>
                          <a:r>
                            <a:rPr lang="en-US" dirty="0">
                              <a:latin typeface="+mj-lt"/>
                            </a:rPr>
                            <a:t>0.1414</a:t>
                          </a:r>
                        </a:p>
                      </a:txBody>
                      <a:tcPr/>
                    </a:tc>
                    <a:tc>
                      <a:txBody>
                        <a:bodyPr/>
                        <a:lstStyle/>
                        <a:p>
                          <a:pPr algn="ctr"/>
                          <a:r>
                            <a:rPr lang="vi-VN" dirty="0">
                              <a:latin typeface="+mj-lt"/>
                            </a:rPr>
                            <a:t>H</a:t>
                          </a:r>
                          <a:endParaRPr lang="en-US" dirty="0">
                            <a:latin typeface="+mj-lt"/>
                          </a:endParaRPr>
                        </a:p>
                      </a:txBody>
                      <a:tcPr/>
                    </a:tc>
                    <a:extLst>
                      <a:ext uri="{0D108BD9-81ED-4DB2-BD59-A6C34878D82A}">
                        <a16:rowId xmlns:a16="http://schemas.microsoft.com/office/drawing/2014/main" val="201802405"/>
                      </a:ext>
                    </a:extLst>
                  </a:tr>
                  <a:tr h="280196">
                    <a:tc>
                      <a:txBody>
                        <a:bodyPr/>
                        <a:lstStyle/>
                        <a:p>
                          <a:pPr algn="ctr"/>
                          <a:r>
                            <a:rPr lang="vi-VN" dirty="0">
                              <a:latin typeface="+mj-lt"/>
                            </a:rPr>
                            <a:t>H</a:t>
                          </a:r>
                          <a:endParaRPr lang="en-US" dirty="0">
                            <a:latin typeface="+mj-lt"/>
                          </a:endParaRPr>
                        </a:p>
                      </a:txBody>
                      <a:tcPr/>
                    </a:tc>
                    <a:tc>
                      <a:txBody>
                        <a:bodyPr/>
                        <a:lstStyle/>
                        <a:p>
                          <a:pPr algn="ctr"/>
                          <a:r>
                            <a:rPr lang="en-US" dirty="0">
                              <a:latin typeface="+mj-lt"/>
                            </a:rPr>
                            <a:t>4.2426</a:t>
                          </a:r>
                        </a:p>
                      </a:txBody>
                      <a:tcPr/>
                    </a:tc>
                    <a:tc>
                      <a:txBody>
                        <a:bodyPr/>
                        <a:lstStyle/>
                        <a:p>
                          <a:pPr algn="ctr"/>
                          <a:r>
                            <a:rPr lang="vi-VN" dirty="0">
                              <a:latin typeface="+mj-lt"/>
                            </a:rPr>
                            <a:t>C</a:t>
                          </a:r>
                          <a:endParaRPr lang="en-US" dirty="0">
                            <a:latin typeface="+mj-lt"/>
                          </a:endParaRPr>
                        </a:p>
                      </a:txBody>
                      <a:tcPr/>
                    </a:tc>
                    <a:extLst>
                      <a:ext uri="{0D108BD9-81ED-4DB2-BD59-A6C34878D82A}">
                        <a16:rowId xmlns:a16="http://schemas.microsoft.com/office/drawing/2014/main" val="2012899227"/>
                      </a:ext>
                    </a:extLst>
                  </a:tr>
                  <a:tr h="280196">
                    <a:tc>
                      <a:txBody>
                        <a:bodyPr/>
                        <a:lstStyle/>
                        <a:p>
                          <a:pPr algn="ctr"/>
                          <a:r>
                            <a:rPr lang="vi-VN" dirty="0">
                              <a:latin typeface="+mj-lt"/>
                            </a:rPr>
                            <a:t>I</a:t>
                          </a:r>
                          <a:endParaRPr lang="en-US" dirty="0">
                            <a:latin typeface="+mj-lt"/>
                          </a:endParaRPr>
                        </a:p>
                      </a:txBody>
                      <a:tcPr/>
                    </a:tc>
                    <a:tc>
                      <a:txBody>
                        <a:bodyPr/>
                        <a:lstStyle/>
                        <a:p>
                          <a:pPr algn="ctr"/>
                          <a:r>
                            <a:rPr lang="en-US" dirty="0">
                              <a:latin typeface="+mj-lt"/>
                            </a:rPr>
                            <a:t>0.2236</a:t>
                          </a:r>
                        </a:p>
                      </a:txBody>
                      <a:tcPr/>
                    </a:tc>
                    <a:tc>
                      <a:txBody>
                        <a:bodyPr/>
                        <a:lstStyle/>
                        <a:p>
                          <a:pPr algn="ctr"/>
                          <a:r>
                            <a:rPr lang="vi-VN" dirty="0">
                              <a:latin typeface="+mj-lt"/>
                            </a:rPr>
                            <a:t>G</a:t>
                          </a:r>
                          <a:endParaRPr lang="en-US" dirty="0">
                            <a:latin typeface="+mj-lt"/>
                          </a:endParaRPr>
                        </a:p>
                      </a:txBody>
                      <a:tcPr/>
                    </a:tc>
                    <a:extLst>
                      <a:ext uri="{0D108BD9-81ED-4DB2-BD59-A6C34878D82A}">
                        <a16:rowId xmlns:a16="http://schemas.microsoft.com/office/drawing/2014/main" val="335364097"/>
                      </a:ext>
                    </a:extLst>
                  </a:tr>
                  <a:tr h="280196">
                    <a:tc>
                      <a:txBody>
                        <a:bodyPr/>
                        <a:lstStyle/>
                        <a:p>
                          <a:pPr algn="ctr"/>
                          <a:r>
                            <a:rPr lang="vi-VN" dirty="0">
                              <a:latin typeface="+mj-lt"/>
                            </a:rPr>
                            <a:t>J</a:t>
                          </a:r>
                          <a:endParaRPr lang="en-US" dirty="0">
                            <a:latin typeface="+mj-lt"/>
                          </a:endParaRPr>
                        </a:p>
                      </a:txBody>
                      <a:tcPr/>
                    </a:tc>
                    <a:tc>
                      <a:txBody>
                        <a:bodyPr/>
                        <a:lstStyle/>
                        <a:p>
                          <a:pPr algn="ctr"/>
                          <a:r>
                            <a:rPr lang="en-US" dirty="0">
                              <a:latin typeface="+mj-lt"/>
                            </a:rPr>
                            <a:t>3.4713</a:t>
                          </a:r>
                        </a:p>
                      </a:txBody>
                      <a:tcPr/>
                    </a:tc>
                    <a:tc>
                      <a:txBody>
                        <a:bodyPr/>
                        <a:lstStyle/>
                        <a:p>
                          <a:pPr algn="ctr"/>
                          <a:r>
                            <a:rPr lang="vi-VN" dirty="0">
                              <a:latin typeface="+mj-lt"/>
                            </a:rPr>
                            <a:t>H</a:t>
                          </a:r>
                          <a:endParaRPr lang="en-US" dirty="0">
                            <a:latin typeface="+mj-lt"/>
                          </a:endParaRPr>
                        </a:p>
                      </a:txBody>
                      <a:tcPr/>
                    </a:tc>
                    <a:extLst>
                      <a:ext uri="{0D108BD9-81ED-4DB2-BD59-A6C34878D82A}">
                        <a16:rowId xmlns:a16="http://schemas.microsoft.com/office/drawing/2014/main" val="3525417719"/>
                      </a:ext>
                    </a:extLst>
                  </a:tr>
                </a:tbl>
              </a:graphicData>
            </a:graphic>
          </p:graphicFrame>
        </mc:Choice>
        <mc:Fallback xmlns="">
          <p:graphicFrame>
            <p:nvGraphicFramePr>
              <p:cNvPr id="8" name="Table 7">
                <a:extLst>
                  <a:ext uri="{FF2B5EF4-FFF2-40B4-BE49-F238E27FC236}">
                    <a16:creationId xmlns:a16="http://schemas.microsoft.com/office/drawing/2014/main" id="{A30D770C-A245-0533-2C29-05CAAA29DCC4}"/>
                  </a:ext>
                </a:extLst>
              </p:cNvPr>
              <p:cNvGraphicFramePr>
                <a:graphicFrameLocks noGrp="1"/>
              </p:cNvGraphicFramePr>
              <p:nvPr>
                <p:extLst>
                  <p:ext uri="{D42A27DB-BD31-4B8C-83A1-F6EECF244321}">
                    <p14:modId xmlns:p14="http://schemas.microsoft.com/office/powerpoint/2010/main" val="620105462"/>
                  </p:ext>
                </p:extLst>
              </p:nvPr>
            </p:nvGraphicFramePr>
            <p:xfrm>
              <a:off x="6096000" y="1912666"/>
              <a:ext cx="4583247" cy="4023360"/>
            </p:xfrm>
            <a:graphic>
              <a:graphicData uri="http://schemas.openxmlformats.org/drawingml/2006/table">
                <a:tbl>
                  <a:tblPr firstRow="1" bandRow="1">
                    <a:tableStyleId>{5940675A-B579-460E-94D1-54222C63F5DA}</a:tableStyleId>
                  </a:tblPr>
                  <a:tblGrid>
                    <a:gridCol w="1527749">
                      <a:extLst>
                        <a:ext uri="{9D8B030D-6E8A-4147-A177-3AD203B41FA5}">
                          <a16:colId xmlns:a16="http://schemas.microsoft.com/office/drawing/2014/main" val="3527690506"/>
                        </a:ext>
                      </a:extLst>
                    </a:gridCol>
                    <a:gridCol w="1527749">
                      <a:extLst>
                        <a:ext uri="{9D8B030D-6E8A-4147-A177-3AD203B41FA5}">
                          <a16:colId xmlns:a16="http://schemas.microsoft.com/office/drawing/2014/main" val="2752869031"/>
                        </a:ext>
                      </a:extLst>
                    </a:gridCol>
                    <a:gridCol w="1527749">
                      <a:extLst>
                        <a:ext uri="{9D8B030D-6E8A-4147-A177-3AD203B41FA5}">
                          <a16:colId xmlns:a16="http://schemas.microsoft.com/office/drawing/2014/main" val="2757488392"/>
                        </a:ext>
                      </a:extLst>
                    </a:gridCol>
                  </a:tblGrid>
                  <a:tr h="365760">
                    <a:tc>
                      <a:txBody>
                        <a:bodyPr/>
                        <a:lstStyle/>
                        <a:p>
                          <a:pPr algn="ctr"/>
                          <a:r>
                            <a:rPr lang="vi-VN" dirty="0">
                              <a:latin typeface="+mj-lt"/>
                            </a:rPr>
                            <a:t>Điểm</a:t>
                          </a:r>
                          <a:endParaRPr lang="en-US" dirty="0">
                            <a:latin typeface="+mj-lt"/>
                          </a:endParaRPr>
                        </a:p>
                      </a:txBody>
                      <a:tcPr/>
                    </a:tc>
                    <a:tc>
                      <a:txBody>
                        <a:bodyPr/>
                        <a:lstStyle/>
                        <a:p>
                          <a:endParaRPr lang="en-US"/>
                        </a:p>
                      </a:txBody>
                      <a:tcPr>
                        <a:blipFill>
                          <a:blip r:embed="rId3"/>
                          <a:stretch>
                            <a:fillRect l="-101200" t="-10000" r="-101200" b="-1028333"/>
                          </a:stretch>
                        </a:blipFill>
                      </a:tcPr>
                    </a:tc>
                    <a:tc>
                      <a:txBody>
                        <a:bodyPr/>
                        <a:lstStyle/>
                        <a:p>
                          <a:pPr algn="ctr"/>
                          <a:r>
                            <a:rPr lang="vi-VN" dirty="0">
                              <a:latin typeface="+mj-lt"/>
                            </a:rPr>
                            <a:t>Gần nhất</a:t>
                          </a:r>
                          <a:endParaRPr lang="en-US" dirty="0">
                            <a:latin typeface="+mj-lt"/>
                          </a:endParaRPr>
                        </a:p>
                      </a:txBody>
                      <a:tcPr/>
                    </a:tc>
                    <a:extLst>
                      <a:ext uri="{0D108BD9-81ED-4DB2-BD59-A6C34878D82A}">
                        <a16:rowId xmlns:a16="http://schemas.microsoft.com/office/drawing/2014/main" val="3831055423"/>
                      </a:ext>
                    </a:extLst>
                  </a:tr>
                  <a:tr h="365760">
                    <a:tc>
                      <a:txBody>
                        <a:bodyPr/>
                        <a:lstStyle/>
                        <a:p>
                          <a:pPr algn="ctr"/>
                          <a:r>
                            <a:rPr lang="vi-VN" dirty="0">
                              <a:latin typeface="+mj-lt"/>
                            </a:rPr>
                            <a:t>A</a:t>
                          </a:r>
                          <a:endParaRPr lang="en-US" dirty="0">
                            <a:latin typeface="+mj-lt"/>
                          </a:endParaRPr>
                        </a:p>
                      </a:txBody>
                      <a:tcPr/>
                    </a:tc>
                    <a:tc>
                      <a:txBody>
                        <a:bodyPr/>
                        <a:lstStyle/>
                        <a:p>
                          <a:pPr algn="ctr"/>
                          <a:r>
                            <a:rPr lang="vi-VN" dirty="0">
                              <a:latin typeface="+mj-lt"/>
                            </a:rPr>
                            <a:t>0.2236</a:t>
                          </a:r>
                          <a:endParaRPr lang="en-US" dirty="0">
                            <a:latin typeface="+mj-lt"/>
                          </a:endParaRPr>
                        </a:p>
                      </a:txBody>
                      <a:tcPr/>
                    </a:tc>
                    <a:tc>
                      <a:txBody>
                        <a:bodyPr/>
                        <a:lstStyle/>
                        <a:p>
                          <a:pPr algn="ctr"/>
                          <a:r>
                            <a:rPr lang="vi-VN" dirty="0">
                              <a:latin typeface="+mj-lt"/>
                            </a:rPr>
                            <a:t>B</a:t>
                          </a:r>
                          <a:endParaRPr lang="en-US" dirty="0">
                            <a:latin typeface="+mj-lt"/>
                          </a:endParaRPr>
                        </a:p>
                      </a:txBody>
                      <a:tcPr/>
                    </a:tc>
                    <a:extLst>
                      <a:ext uri="{0D108BD9-81ED-4DB2-BD59-A6C34878D82A}">
                        <a16:rowId xmlns:a16="http://schemas.microsoft.com/office/drawing/2014/main" val="438384959"/>
                      </a:ext>
                    </a:extLst>
                  </a:tr>
                  <a:tr h="365760">
                    <a:tc>
                      <a:txBody>
                        <a:bodyPr/>
                        <a:lstStyle/>
                        <a:p>
                          <a:pPr algn="ctr"/>
                          <a:r>
                            <a:rPr lang="vi-VN" dirty="0">
                              <a:latin typeface="+mj-lt"/>
                            </a:rPr>
                            <a:t>B</a:t>
                          </a:r>
                          <a:endParaRPr lang="en-US" dirty="0">
                            <a:latin typeface="+mj-lt"/>
                          </a:endParaRPr>
                        </a:p>
                      </a:txBody>
                      <a:tcPr/>
                    </a:tc>
                    <a:tc>
                      <a:txBody>
                        <a:bodyPr/>
                        <a:lstStyle/>
                        <a:p>
                          <a:pPr algn="ctr"/>
                          <a:r>
                            <a:rPr lang="en-US" dirty="0">
                              <a:latin typeface="+mj-lt"/>
                            </a:rPr>
                            <a:t>0.1414</a:t>
                          </a:r>
                        </a:p>
                      </a:txBody>
                      <a:tcPr/>
                    </a:tc>
                    <a:tc>
                      <a:txBody>
                        <a:bodyPr/>
                        <a:lstStyle/>
                        <a:p>
                          <a:pPr algn="ctr"/>
                          <a:r>
                            <a:rPr lang="vi-VN" dirty="0">
                              <a:latin typeface="+mj-lt"/>
                            </a:rPr>
                            <a:t>C</a:t>
                          </a:r>
                          <a:endParaRPr lang="en-US" dirty="0">
                            <a:latin typeface="+mj-lt"/>
                          </a:endParaRPr>
                        </a:p>
                      </a:txBody>
                      <a:tcPr/>
                    </a:tc>
                    <a:extLst>
                      <a:ext uri="{0D108BD9-81ED-4DB2-BD59-A6C34878D82A}">
                        <a16:rowId xmlns:a16="http://schemas.microsoft.com/office/drawing/2014/main" val="3005582178"/>
                      </a:ext>
                    </a:extLst>
                  </a:tr>
                  <a:tr h="365760">
                    <a:tc>
                      <a:txBody>
                        <a:bodyPr/>
                        <a:lstStyle/>
                        <a:p>
                          <a:pPr algn="ctr"/>
                          <a:r>
                            <a:rPr lang="vi-VN" dirty="0">
                              <a:latin typeface="+mj-lt"/>
                            </a:rPr>
                            <a:t>C</a:t>
                          </a:r>
                          <a:endParaRPr lang="en-US" dirty="0">
                            <a:latin typeface="+mj-lt"/>
                          </a:endParaRPr>
                        </a:p>
                      </a:txBody>
                      <a:tcPr/>
                    </a:tc>
                    <a:tc>
                      <a:txBody>
                        <a:bodyPr/>
                        <a:lstStyle/>
                        <a:p>
                          <a:pPr algn="ctr"/>
                          <a:r>
                            <a:rPr lang="en-US" dirty="0">
                              <a:latin typeface="+mj-lt"/>
                            </a:rPr>
                            <a:t>5.3151</a:t>
                          </a:r>
                        </a:p>
                      </a:txBody>
                      <a:tcPr/>
                    </a:tc>
                    <a:tc>
                      <a:txBody>
                        <a:bodyPr/>
                        <a:lstStyle/>
                        <a:p>
                          <a:pPr algn="ctr"/>
                          <a:endParaRPr lang="en-US" dirty="0">
                            <a:latin typeface="+mj-lt"/>
                          </a:endParaRPr>
                        </a:p>
                      </a:txBody>
                      <a:tcPr/>
                    </a:tc>
                    <a:extLst>
                      <a:ext uri="{0D108BD9-81ED-4DB2-BD59-A6C34878D82A}">
                        <a16:rowId xmlns:a16="http://schemas.microsoft.com/office/drawing/2014/main" val="129927797"/>
                      </a:ext>
                    </a:extLst>
                  </a:tr>
                  <a:tr h="365760">
                    <a:tc>
                      <a:txBody>
                        <a:bodyPr/>
                        <a:lstStyle/>
                        <a:p>
                          <a:pPr algn="ctr"/>
                          <a:r>
                            <a:rPr lang="vi-VN" dirty="0">
                              <a:latin typeface="+mj-lt"/>
                            </a:rPr>
                            <a:t>D</a:t>
                          </a:r>
                          <a:endParaRPr lang="en-US" dirty="0">
                            <a:latin typeface="+mj-lt"/>
                          </a:endParaRPr>
                        </a:p>
                      </a:txBody>
                      <a:tcPr/>
                    </a:tc>
                    <a:tc>
                      <a:txBody>
                        <a:bodyPr/>
                        <a:lstStyle/>
                        <a:p>
                          <a:pPr algn="ctr"/>
                          <a:r>
                            <a:rPr lang="en-US" dirty="0">
                              <a:latin typeface="+mj-lt"/>
                            </a:rPr>
                            <a:t>0.2236</a:t>
                          </a:r>
                        </a:p>
                      </a:txBody>
                      <a:tcPr/>
                    </a:tc>
                    <a:tc>
                      <a:txBody>
                        <a:bodyPr/>
                        <a:lstStyle/>
                        <a:p>
                          <a:pPr algn="ctr"/>
                          <a:r>
                            <a:rPr lang="vi-VN" dirty="0">
                              <a:latin typeface="+mj-lt"/>
                            </a:rPr>
                            <a:t>B</a:t>
                          </a:r>
                          <a:endParaRPr lang="en-US" dirty="0">
                            <a:latin typeface="+mj-lt"/>
                          </a:endParaRPr>
                        </a:p>
                      </a:txBody>
                      <a:tcPr/>
                    </a:tc>
                    <a:extLst>
                      <a:ext uri="{0D108BD9-81ED-4DB2-BD59-A6C34878D82A}">
                        <a16:rowId xmlns:a16="http://schemas.microsoft.com/office/drawing/2014/main" val="1142013553"/>
                      </a:ext>
                    </a:extLst>
                  </a:tr>
                  <a:tr h="365760">
                    <a:tc>
                      <a:txBody>
                        <a:bodyPr/>
                        <a:lstStyle/>
                        <a:p>
                          <a:pPr algn="ctr"/>
                          <a:r>
                            <a:rPr lang="vi-VN" dirty="0">
                              <a:latin typeface="+mj-lt"/>
                            </a:rPr>
                            <a:t>E</a:t>
                          </a:r>
                          <a:endParaRPr lang="en-US" dirty="0">
                            <a:latin typeface="+mj-lt"/>
                          </a:endParaRPr>
                        </a:p>
                      </a:txBody>
                      <a:tcPr/>
                    </a:tc>
                    <a:tc>
                      <a:txBody>
                        <a:bodyPr/>
                        <a:lstStyle/>
                        <a:p>
                          <a:pPr algn="ctr"/>
                          <a:r>
                            <a:rPr lang="en-US" dirty="0">
                              <a:latin typeface="+mj-lt"/>
                            </a:rPr>
                            <a:t>0.8602</a:t>
                          </a:r>
                        </a:p>
                      </a:txBody>
                      <a:tcPr/>
                    </a:tc>
                    <a:tc>
                      <a:txBody>
                        <a:bodyPr/>
                        <a:lstStyle/>
                        <a:p>
                          <a:pPr algn="ctr"/>
                          <a:r>
                            <a:rPr lang="vi-VN" dirty="0">
                              <a:latin typeface="+mj-lt"/>
                            </a:rPr>
                            <a:t>D</a:t>
                          </a:r>
                          <a:endParaRPr lang="en-US" dirty="0">
                            <a:latin typeface="+mj-lt"/>
                          </a:endParaRPr>
                        </a:p>
                      </a:txBody>
                      <a:tcPr/>
                    </a:tc>
                    <a:extLst>
                      <a:ext uri="{0D108BD9-81ED-4DB2-BD59-A6C34878D82A}">
                        <a16:rowId xmlns:a16="http://schemas.microsoft.com/office/drawing/2014/main" val="493935136"/>
                      </a:ext>
                    </a:extLst>
                  </a:tr>
                  <a:tr h="365760">
                    <a:tc>
                      <a:txBody>
                        <a:bodyPr/>
                        <a:lstStyle/>
                        <a:p>
                          <a:pPr algn="ctr"/>
                          <a:r>
                            <a:rPr lang="vi-VN" dirty="0">
                              <a:latin typeface="+mj-lt"/>
                            </a:rPr>
                            <a:t>F</a:t>
                          </a:r>
                          <a:endParaRPr lang="en-US" dirty="0">
                            <a:latin typeface="+mj-lt"/>
                          </a:endParaRPr>
                        </a:p>
                      </a:txBody>
                      <a:tcPr/>
                    </a:tc>
                    <a:tc>
                      <a:txBody>
                        <a:bodyPr/>
                        <a:lstStyle/>
                        <a:p>
                          <a:pPr algn="ctr"/>
                          <a:r>
                            <a:rPr lang="en-US" dirty="0">
                              <a:latin typeface="+mj-lt"/>
                            </a:rPr>
                            <a:t>0.2236</a:t>
                          </a:r>
                        </a:p>
                      </a:txBody>
                      <a:tcPr/>
                    </a:tc>
                    <a:tc>
                      <a:txBody>
                        <a:bodyPr/>
                        <a:lstStyle/>
                        <a:p>
                          <a:pPr algn="ctr"/>
                          <a:r>
                            <a:rPr lang="vi-VN" dirty="0">
                              <a:latin typeface="+mj-lt"/>
                            </a:rPr>
                            <a:t>G</a:t>
                          </a:r>
                          <a:endParaRPr lang="en-US" dirty="0">
                            <a:latin typeface="+mj-lt"/>
                          </a:endParaRPr>
                        </a:p>
                      </a:txBody>
                      <a:tcPr/>
                    </a:tc>
                    <a:extLst>
                      <a:ext uri="{0D108BD9-81ED-4DB2-BD59-A6C34878D82A}">
                        <a16:rowId xmlns:a16="http://schemas.microsoft.com/office/drawing/2014/main" val="4033097234"/>
                      </a:ext>
                    </a:extLst>
                  </a:tr>
                  <a:tr h="365760">
                    <a:tc>
                      <a:txBody>
                        <a:bodyPr/>
                        <a:lstStyle/>
                        <a:p>
                          <a:pPr algn="ctr"/>
                          <a:r>
                            <a:rPr lang="vi-VN" dirty="0">
                              <a:latin typeface="+mj-lt"/>
                            </a:rPr>
                            <a:t>G</a:t>
                          </a:r>
                          <a:endParaRPr lang="en-US" dirty="0">
                            <a:latin typeface="+mj-lt"/>
                          </a:endParaRPr>
                        </a:p>
                      </a:txBody>
                      <a:tcPr/>
                    </a:tc>
                    <a:tc>
                      <a:txBody>
                        <a:bodyPr/>
                        <a:lstStyle/>
                        <a:p>
                          <a:pPr algn="ctr"/>
                          <a:r>
                            <a:rPr lang="en-US" dirty="0">
                              <a:latin typeface="+mj-lt"/>
                            </a:rPr>
                            <a:t>0.1414</a:t>
                          </a:r>
                        </a:p>
                      </a:txBody>
                      <a:tcPr/>
                    </a:tc>
                    <a:tc>
                      <a:txBody>
                        <a:bodyPr/>
                        <a:lstStyle/>
                        <a:p>
                          <a:pPr algn="ctr"/>
                          <a:r>
                            <a:rPr lang="vi-VN" dirty="0">
                              <a:latin typeface="+mj-lt"/>
                            </a:rPr>
                            <a:t>H</a:t>
                          </a:r>
                          <a:endParaRPr lang="en-US" dirty="0">
                            <a:latin typeface="+mj-lt"/>
                          </a:endParaRPr>
                        </a:p>
                      </a:txBody>
                      <a:tcPr/>
                    </a:tc>
                    <a:extLst>
                      <a:ext uri="{0D108BD9-81ED-4DB2-BD59-A6C34878D82A}">
                        <a16:rowId xmlns:a16="http://schemas.microsoft.com/office/drawing/2014/main" val="201802405"/>
                      </a:ext>
                    </a:extLst>
                  </a:tr>
                  <a:tr h="365760">
                    <a:tc>
                      <a:txBody>
                        <a:bodyPr/>
                        <a:lstStyle/>
                        <a:p>
                          <a:pPr algn="ctr"/>
                          <a:r>
                            <a:rPr lang="vi-VN" dirty="0">
                              <a:latin typeface="+mj-lt"/>
                            </a:rPr>
                            <a:t>H</a:t>
                          </a:r>
                          <a:endParaRPr lang="en-US" dirty="0">
                            <a:latin typeface="+mj-lt"/>
                          </a:endParaRPr>
                        </a:p>
                      </a:txBody>
                      <a:tcPr/>
                    </a:tc>
                    <a:tc>
                      <a:txBody>
                        <a:bodyPr/>
                        <a:lstStyle/>
                        <a:p>
                          <a:pPr algn="ctr"/>
                          <a:r>
                            <a:rPr lang="en-US" dirty="0">
                              <a:latin typeface="+mj-lt"/>
                            </a:rPr>
                            <a:t>4.2426</a:t>
                          </a:r>
                        </a:p>
                      </a:txBody>
                      <a:tcPr/>
                    </a:tc>
                    <a:tc>
                      <a:txBody>
                        <a:bodyPr/>
                        <a:lstStyle/>
                        <a:p>
                          <a:pPr algn="ctr"/>
                          <a:r>
                            <a:rPr lang="vi-VN" dirty="0">
                              <a:latin typeface="+mj-lt"/>
                            </a:rPr>
                            <a:t>C</a:t>
                          </a:r>
                          <a:endParaRPr lang="en-US" dirty="0">
                            <a:latin typeface="+mj-lt"/>
                          </a:endParaRPr>
                        </a:p>
                      </a:txBody>
                      <a:tcPr/>
                    </a:tc>
                    <a:extLst>
                      <a:ext uri="{0D108BD9-81ED-4DB2-BD59-A6C34878D82A}">
                        <a16:rowId xmlns:a16="http://schemas.microsoft.com/office/drawing/2014/main" val="2012899227"/>
                      </a:ext>
                    </a:extLst>
                  </a:tr>
                  <a:tr h="365760">
                    <a:tc>
                      <a:txBody>
                        <a:bodyPr/>
                        <a:lstStyle/>
                        <a:p>
                          <a:pPr algn="ctr"/>
                          <a:r>
                            <a:rPr lang="vi-VN" dirty="0">
                              <a:latin typeface="+mj-lt"/>
                            </a:rPr>
                            <a:t>I</a:t>
                          </a:r>
                          <a:endParaRPr lang="en-US" dirty="0">
                            <a:latin typeface="+mj-lt"/>
                          </a:endParaRPr>
                        </a:p>
                      </a:txBody>
                      <a:tcPr/>
                    </a:tc>
                    <a:tc>
                      <a:txBody>
                        <a:bodyPr/>
                        <a:lstStyle/>
                        <a:p>
                          <a:pPr algn="ctr"/>
                          <a:r>
                            <a:rPr lang="en-US" dirty="0">
                              <a:latin typeface="+mj-lt"/>
                            </a:rPr>
                            <a:t>0.2236</a:t>
                          </a:r>
                        </a:p>
                      </a:txBody>
                      <a:tcPr/>
                    </a:tc>
                    <a:tc>
                      <a:txBody>
                        <a:bodyPr/>
                        <a:lstStyle/>
                        <a:p>
                          <a:pPr algn="ctr"/>
                          <a:r>
                            <a:rPr lang="vi-VN" dirty="0">
                              <a:latin typeface="+mj-lt"/>
                            </a:rPr>
                            <a:t>G</a:t>
                          </a:r>
                          <a:endParaRPr lang="en-US" dirty="0">
                            <a:latin typeface="+mj-lt"/>
                          </a:endParaRPr>
                        </a:p>
                      </a:txBody>
                      <a:tcPr/>
                    </a:tc>
                    <a:extLst>
                      <a:ext uri="{0D108BD9-81ED-4DB2-BD59-A6C34878D82A}">
                        <a16:rowId xmlns:a16="http://schemas.microsoft.com/office/drawing/2014/main" val="335364097"/>
                      </a:ext>
                    </a:extLst>
                  </a:tr>
                  <a:tr h="365760">
                    <a:tc>
                      <a:txBody>
                        <a:bodyPr/>
                        <a:lstStyle/>
                        <a:p>
                          <a:pPr algn="ctr"/>
                          <a:r>
                            <a:rPr lang="vi-VN" dirty="0">
                              <a:latin typeface="+mj-lt"/>
                            </a:rPr>
                            <a:t>J</a:t>
                          </a:r>
                          <a:endParaRPr lang="en-US" dirty="0">
                            <a:latin typeface="+mj-lt"/>
                          </a:endParaRPr>
                        </a:p>
                      </a:txBody>
                      <a:tcPr/>
                    </a:tc>
                    <a:tc>
                      <a:txBody>
                        <a:bodyPr/>
                        <a:lstStyle/>
                        <a:p>
                          <a:pPr algn="ctr"/>
                          <a:r>
                            <a:rPr lang="en-US" dirty="0">
                              <a:latin typeface="+mj-lt"/>
                            </a:rPr>
                            <a:t>3.4713</a:t>
                          </a:r>
                        </a:p>
                      </a:txBody>
                      <a:tcPr/>
                    </a:tc>
                    <a:tc>
                      <a:txBody>
                        <a:bodyPr/>
                        <a:lstStyle/>
                        <a:p>
                          <a:pPr algn="ctr"/>
                          <a:r>
                            <a:rPr lang="vi-VN" dirty="0">
                              <a:latin typeface="+mj-lt"/>
                            </a:rPr>
                            <a:t>H</a:t>
                          </a:r>
                          <a:endParaRPr lang="en-US" dirty="0">
                            <a:latin typeface="+mj-lt"/>
                          </a:endParaRPr>
                        </a:p>
                      </a:txBody>
                      <a:tcPr/>
                    </a:tc>
                    <a:extLst>
                      <a:ext uri="{0D108BD9-81ED-4DB2-BD59-A6C34878D82A}">
                        <a16:rowId xmlns:a16="http://schemas.microsoft.com/office/drawing/2014/main" val="3525417719"/>
                      </a:ext>
                    </a:extLst>
                  </a:tr>
                </a:tbl>
              </a:graphicData>
            </a:graphic>
          </p:graphicFrame>
        </mc:Fallback>
      </mc:AlternateContent>
    </p:spTree>
    <p:extLst>
      <p:ext uri="{BB962C8B-B14F-4D97-AF65-F5344CB8AC3E}">
        <p14:creationId xmlns:p14="http://schemas.microsoft.com/office/powerpoint/2010/main" val="3321148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C29CF9-D160-438C-963E-EE3DC128D214}"/>
              </a:ext>
            </a:extLst>
          </p:cNvPr>
          <p:cNvSpPr>
            <a:spLocks noGrp="1"/>
          </p:cNvSpPr>
          <p:nvPr>
            <p:ph type="sldNum" sz="quarter" idx="12"/>
          </p:nvPr>
        </p:nvSpPr>
        <p:spPr/>
        <p:txBody>
          <a:bodyPr/>
          <a:lstStyle/>
          <a:p>
            <a:fld id="{9B618960-8005-486C-9A75-10CB2AAC16F9}" type="slidenum">
              <a:rPr lang="en-US" smtClean="0"/>
              <a:t>16</a:t>
            </a:fld>
            <a:endParaRPr lang="en-US"/>
          </a:p>
        </p:txBody>
      </p:sp>
      <p:sp>
        <p:nvSpPr>
          <p:cNvPr id="5" name="TextBox 3">
            <a:extLst>
              <a:ext uri="{FF2B5EF4-FFF2-40B4-BE49-F238E27FC236}">
                <a16:creationId xmlns:a16="http://schemas.microsoft.com/office/drawing/2014/main" id="{9A6BA818-4921-A8A5-7D4A-310D05035E47}"/>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6DFB79F1-EB81-857C-9503-B6689AE908A9}"/>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CCFEEA0E-413A-5E61-88B0-BA56568E9149}"/>
                  </a:ext>
                </a:extLst>
              </p:cNvPr>
              <p:cNvSpPr txBox="1"/>
              <p:nvPr/>
            </p:nvSpPr>
            <p:spPr>
              <a:xfrm>
                <a:off x="1080135" y="2353945"/>
                <a:ext cx="4818135" cy="25355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altLang="vi-VN" dirty="0">
                    <a:latin typeface="+mj-lt"/>
                  </a:rPr>
                  <a:t>Bước 5: </a:t>
                </a:r>
                <a:r>
                  <a:rPr lang="vi-VN" dirty="0">
                    <a:latin typeface="+mj-lt"/>
                  </a:rPr>
                  <a:t>Xác định tâm cụm và gán nhãn</a:t>
                </a:r>
              </a:p>
              <a:p>
                <a:pPr marL="285750" indent="-285750" algn="just">
                  <a:lnSpc>
                    <a:spcPct val="150000"/>
                  </a:lnSpc>
                  <a:buFontTx/>
                  <a:buChar char="-"/>
                </a:pPr>
                <a:r>
                  <a:rPr lang="vi-VN" dirty="0">
                    <a:latin typeface="+mj-lt"/>
                  </a:rPr>
                  <a:t>Ngoại trừ tâm cụm, các điểm còn lại được gán nhãn cùng cụm với điểm có mật độ cao hơn gần nó nhất.</a:t>
                </a:r>
              </a:p>
              <a:p>
                <a:pPr marL="285750" indent="-285750" algn="just">
                  <a:lnSpc>
                    <a:spcPct val="150000"/>
                  </a:lnSpc>
                  <a:buFontTx/>
                  <a:buChar char="-"/>
                </a:pPr>
                <a:r>
                  <a:rPr lang="vi-VN" dirty="0">
                    <a:latin typeface="+mj-lt"/>
                  </a:rPr>
                  <a:t>Điểm vừa có </a:t>
                </a:r>
                <a14:m>
                  <m:oMath xmlns:m="http://schemas.openxmlformats.org/officeDocument/2006/math">
                    <m:r>
                      <a:rPr lang="vi-VN" i="1" smtClean="0">
                        <a:latin typeface="Cambria Math" panose="02040503050406030204" pitchFamily="18" charset="0"/>
                        <a:ea typeface="Cambria Math" panose="02040503050406030204" pitchFamily="18" charset="0"/>
                      </a:rPr>
                      <m:t>𝜌</m:t>
                    </m:r>
                  </m:oMath>
                </a14:m>
                <a:r>
                  <a:rPr lang="vi-VN" dirty="0">
                    <a:latin typeface="+mj-lt"/>
                  </a:rPr>
                  <a:t> và </a:t>
                </a:r>
                <a14:m>
                  <m:oMath xmlns:m="http://schemas.openxmlformats.org/officeDocument/2006/math">
                    <m:r>
                      <a:rPr lang="vi-VN" i="1" smtClean="0">
                        <a:latin typeface="Cambria Math" panose="02040503050406030204" pitchFamily="18" charset="0"/>
                        <a:ea typeface="Cambria Math" panose="02040503050406030204" pitchFamily="18" charset="0"/>
                      </a:rPr>
                      <m:t>𝛿</m:t>
                    </m:r>
                  </m:oMath>
                </a14:m>
                <a:r>
                  <a:rPr lang="vi-VN" dirty="0">
                    <a:latin typeface="+mj-lt"/>
                  </a:rPr>
                  <a:t> là C và H. Hai tâm C, H.</a:t>
                </a:r>
              </a:p>
            </p:txBody>
          </p:sp>
        </mc:Choice>
        <mc:Fallback xmlns="">
          <p:sp>
            <p:nvSpPr>
              <p:cNvPr id="7" name="TextBox 5">
                <a:extLst>
                  <a:ext uri="{FF2B5EF4-FFF2-40B4-BE49-F238E27FC236}">
                    <a16:creationId xmlns:a16="http://schemas.microsoft.com/office/drawing/2014/main" id="{CCFEEA0E-413A-5E61-88B0-BA56568E9149}"/>
                  </a:ext>
                </a:extLst>
              </p:cNvPr>
              <p:cNvSpPr txBox="1">
                <a:spLocks noRot="1" noChangeAspect="1" noMove="1" noResize="1" noEditPoints="1" noAdjustHandles="1" noChangeArrowheads="1" noChangeShapeType="1" noTextEdit="1"/>
              </p:cNvSpPr>
              <p:nvPr/>
            </p:nvSpPr>
            <p:spPr>
              <a:xfrm>
                <a:off x="1080135" y="2353945"/>
                <a:ext cx="4818135" cy="2535566"/>
              </a:xfrm>
              <a:prstGeom prst="rect">
                <a:avLst/>
              </a:prstGeom>
              <a:blipFill>
                <a:blip r:embed="rId2"/>
                <a:stretch>
                  <a:fillRect l="-1011" r="-1011" b="-2885"/>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04650604-426D-289C-B363-C2587083794F}"/>
              </a:ext>
            </a:extLst>
          </p:cNvPr>
          <p:cNvPicPr>
            <a:picLocks noChangeAspect="1"/>
          </p:cNvPicPr>
          <p:nvPr/>
        </p:nvPicPr>
        <p:blipFill>
          <a:blip r:embed="rId3"/>
          <a:stretch>
            <a:fillRect/>
          </a:stretch>
        </p:blipFill>
        <p:spPr>
          <a:xfrm>
            <a:off x="6390854" y="2359980"/>
            <a:ext cx="4228427" cy="3490020"/>
          </a:xfrm>
          <a:prstGeom prst="rect">
            <a:avLst/>
          </a:prstGeom>
        </p:spPr>
      </p:pic>
    </p:spTree>
    <p:extLst>
      <p:ext uri="{BB962C8B-B14F-4D97-AF65-F5344CB8AC3E}">
        <p14:creationId xmlns:p14="http://schemas.microsoft.com/office/powerpoint/2010/main" val="3822985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122B3-395E-529C-207D-782A4D4B211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55E5B3-DDD1-C255-4964-F71DBACB9DAD}"/>
              </a:ext>
            </a:extLst>
          </p:cNvPr>
          <p:cNvSpPr>
            <a:spLocks noGrp="1"/>
          </p:cNvSpPr>
          <p:nvPr>
            <p:ph type="sldNum" sz="quarter" idx="12"/>
          </p:nvPr>
        </p:nvSpPr>
        <p:spPr/>
        <p:txBody>
          <a:bodyPr/>
          <a:lstStyle/>
          <a:p>
            <a:fld id="{9B618960-8005-486C-9A75-10CB2AAC16F9}" type="slidenum">
              <a:rPr lang="en-US" smtClean="0"/>
              <a:t>17</a:t>
            </a:fld>
            <a:endParaRPr lang="en-US"/>
          </a:p>
        </p:txBody>
      </p:sp>
      <p:sp>
        <p:nvSpPr>
          <p:cNvPr id="5" name="TextBox 3">
            <a:extLst>
              <a:ext uri="{FF2B5EF4-FFF2-40B4-BE49-F238E27FC236}">
                <a16:creationId xmlns:a16="http://schemas.microsoft.com/office/drawing/2014/main" id="{A3ECA418-C130-49C5-3A68-A9B980E6FB8A}"/>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A2C86F4E-C0DB-9849-084A-CD6078A6AC77}"/>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646EC5F8-F71A-CFCB-0B49-DA25E30B0230}"/>
                  </a:ext>
                </a:extLst>
              </p:cNvPr>
              <p:cNvSpPr txBox="1"/>
              <p:nvPr/>
            </p:nvSpPr>
            <p:spPr>
              <a:xfrm>
                <a:off x="1080136" y="2353945"/>
                <a:ext cx="4209620" cy="336624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altLang="vi-VN" dirty="0">
                    <a:latin typeface="+mj-lt"/>
                  </a:rPr>
                  <a:t>Bước 5: </a:t>
                </a:r>
                <a:r>
                  <a:rPr lang="vi-VN" dirty="0">
                    <a:latin typeface="+mj-lt"/>
                  </a:rPr>
                  <a:t>Xác định tâm cụm và gán nhãn</a:t>
                </a:r>
              </a:p>
              <a:p>
                <a:pPr marL="285750" indent="-285750" algn="just">
                  <a:lnSpc>
                    <a:spcPct val="150000"/>
                  </a:lnSpc>
                  <a:buFontTx/>
                  <a:buChar char="-"/>
                </a:pPr>
                <a:r>
                  <a:rPr lang="vi-VN" dirty="0">
                    <a:latin typeface="+mj-lt"/>
                  </a:rPr>
                  <a:t>Gán nhãn:</a:t>
                </a:r>
              </a:p>
              <a:p>
                <a:pPr marL="285750" indent="-285750" algn="just">
                  <a:lnSpc>
                    <a:spcPct val="150000"/>
                  </a:lnSpc>
                  <a:buFontTx/>
                  <a:buChar char="-"/>
                </a:pPr>
                <a:r>
                  <a:rPr lang="vi-VN" dirty="0">
                    <a:latin typeface="+mj-lt"/>
                  </a:rPr>
                  <a:t>A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latin typeface="+mj-lt"/>
                  </a:rPr>
                  <a:t> B		B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a:t>
                </a:r>
              </a:p>
              <a:p>
                <a:pPr marL="285750" indent="-285750" algn="just">
                  <a:lnSpc>
                    <a:spcPct val="150000"/>
                  </a:lnSpc>
                  <a:buFontTx/>
                  <a:buChar char="-"/>
                </a:pPr>
                <a:r>
                  <a:rPr lang="vi-VN" dirty="0">
                    <a:latin typeface="+mj-lt"/>
                  </a:rPr>
                  <a:t>D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		D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a:t>
                </a:r>
              </a:p>
              <a:p>
                <a:pPr marL="285750" indent="-285750" algn="just">
                  <a:lnSpc>
                    <a:spcPct val="150000"/>
                  </a:lnSpc>
                  <a:buFontTx/>
                  <a:buChar char="-"/>
                </a:pPr>
                <a:r>
                  <a:rPr lang="vi-VN" dirty="0">
                    <a:latin typeface="+mj-lt"/>
                  </a:rPr>
                  <a:t>E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D		F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G</a:t>
                </a:r>
              </a:p>
              <a:p>
                <a:pPr marL="285750" indent="-285750" algn="just">
                  <a:lnSpc>
                    <a:spcPct val="150000"/>
                  </a:lnSpc>
                  <a:buFontTx/>
                  <a:buChar char="-"/>
                </a:pPr>
                <a:r>
                  <a:rPr lang="vi-VN" dirty="0">
                    <a:latin typeface="+mj-lt"/>
                  </a:rPr>
                  <a:t>G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H	H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a:t>
                </a:r>
              </a:p>
              <a:p>
                <a:pPr marL="285750" indent="-285750" algn="just">
                  <a:lnSpc>
                    <a:spcPct val="150000"/>
                  </a:lnSpc>
                  <a:buFontTx/>
                  <a:buChar char="-"/>
                </a:pPr>
                <a:r>
                  <a:rPr lang="vi-VN" dirty="0">
                    <a:latin typeface="+mj-lt"/>
                  </a:rPr>
                  <a:t>I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G		J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H</a:t>
                </a:r>
              </a:p>
            </p:txBody>
          </p:sp>
        </mc:Choice>
        <mc:Fallback xmlns="">
          <p:sp>
            <p:nvSpPr>
              <p:cNvPr id="7" name="TextBox 5">
                <a:extLst>
                  <a:ext uri="{FF2B5EF4-FFF2-40B4-BE49-F238E27FC236}">
                    <a16:creationId xmlns:a16="http://schemas.microsoft.com/office/drawing/2014/main" id="{646EC5F8-F71A-CFCB-0B49-DA25E30B0230}"/>
                  </a:ext>
                </a:extLst>
              </p:cNvPr>
              <p:cNvSpPr txBox="1">
                <a:spLocks noRot="1" noChangeAspect="1" noMove="1" noResize="1" noEditPoints="1" noAdjustHandles="1" noChangeArrowheads="1" noChangeShapeType="1" noTextEdit="1"/>
              </p:cNvSpPr>
              <p:nvPr/>
            </p:nvSpPr>
            <p:spPr>
              <a:xfrm>
                <a:off x="1080136" y="2353945"/>
                <a:ext cx="4209620" cy="3366243"/>
              </a:xfrm>
              <a:prstGeom prst="rect">
                <a:avLst/>
              </a:prstGeom>
              <a:blipFill>
                <a:blip r:embed="rId2"/>
                <a:stretch>
                  <a:fillRect l="-1158" b="-1993"/>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47966ED5-72A7-DEAE-0F8B-25EEF448A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0481" y="2188021"/>
            <a:ext cx="5541384" cy="3661979"/>
          </a:xfrm>
          <a:prstGeom prst="rect">
            <a:avLst/>
          </a:prstGeom>
        </p:spPr>
      </p:pic>
      <p:sp>
        <p:nvSpPr>
          <p:cNvPr id="13" name="TextBox 12">
            <a:extLst>
              <a:ext uri="{FF2B5EF4-FFF2-40B4-BE49-F238E27FC236}">
                <a16:creationId xmlns:a16="http://schemas.microsoft.com/office/drawing/2014/main" id="{5AA6BCE5-2126-F910-1AEB-13477A699E81}"/>
              </a:ext>
            </a:extLst>
          </p:cNvPr>
          <p:cNvSpPr txBox="1"/>
          <p:nvPr/>
        </p:nvSpPr>
        <p:spPr>
          <a:xfrm>
            <a:off x="5638800" y="2974258"/>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362358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40D895-3648-B102-8C81-5D9BFA58F4C1}"/>
              </a:ext>
            </a:extLst>
          </p:cNvPr>
          <p:cNvSpPr>
            <a:spLocks noGrp="1"/>
          </p:cNvSpPr>
          <p:nvPr>
            <p:ph type="sldNum" sz="quarter" idx="12"/>
          </p:nvPr>
        </p:nvSpPr>
        <p:spPr/>
        <p:txBody>
          <a:bodyPr/>
          <a:lstStyle/>
          <a:p>
            <a:fld id="{9B618960-8005-486C-9A75-10CB2AAC16F9}" type="slidenum">
              <a:rPr lang="en-US" smtClean="0"/>
              <a:t>18</a:t>
            </a:fld>
            <a:endParaRPr lang="en-US"/>
          </a:p>
        </p:txBody>
      </p:sp>
      <p:sp>
        <p:nvSpPr>
          <p:cNvPr id="5" name="TextBox 3">
            <a:extLst>
              <a:ext uri="{FF2B5EF4-FFF2-40B4-BE49-F238E27FC236}">
                <a16:creationId xmlns:a16="http://schemas.microsoft.com/office/drawing/2014/main" id="{249F65F2-8A7D-6547-D23C-F9024E7DAF1E}"/>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A5230345-F326-0C5D-9BAB-9AEBA87DF845}"/>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5982C2F2-66AE-B9DC-F83C-E8666FE73CEF}"/>
                  </a:ext>
                </a:extLst>
              </p:cNvPr>
              <p:cNvSpPr txBox="1"/>
              <p:nvPr/>
            </p:nvSpPr>
            <p:spPr>
              <a:xfrm>
                <a:off x="1079999" y="2417222"/>
                <a:ext cx="4209620" cy="336624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các bước</a:t>
                </a:r>
              </a:p>
              <a:p>
                <a:pPr algn="just">
                  <a:lnSpc>
                    <a:spcPct val="150000"/>
                  </a:lnSpc>
                </a:pPr>
                <a:r>
                  <a:rPr lang="vi-VN" altLang="vi-VN" dirty="0">
                    <a:latin typeface="+mj-lt"/>
                  </a:rPr>
                  <a:t>Bước 5: </a:t>
                </a:r>
                <a:r>
                  <a:rPr lang="vi-VN" dirty="0">
                    <a:latin typeface="+mj-lt"/>
                  </a:rPr>
                  <a:t>Xác định tâm cụm và gán nhãn</a:t>
                </a:r>
              </a:p>
              <a:p>
                <a:pPr marL="285750" indent="-285750" algn="just">
                  <a:lnSpc>
                    <a:spcPct val="150000"/>
                  </a:lnSpc>
                  <a:buFontTx/>
                  <a:buChar char="-"/>
                </a:pPr>
                <a:r>
                  <a:rPr lang="vi-VN" dirty="0">
                    <a:latin typeface="+mj-lt"/>
                  </a:rPr>
                  <a:t>Gán nhãn:</a:t>
                </a:r>
              </a:p>
              <a:p>
                <a:pPr marL="285750" indent="-285750" algn="just">
                  <a:lnSpc>
                    <a:spcPct val="150000"/>
                  </a:lnSpc>
                  <a:buFontTx/>
                  <a:buChar char="-"/>
                </a:pPr>
                <a:r>
                  <a:rPr lang="vi-VN" dirty="0">
                    <a:latin typeface="+mj-lt"/>
                  </a:rPr>
                  <a:t>A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latin typeface="+mj-lt"/>
                  </a:rPr>
                  <a:t> B		B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a:t>
                </a:r>
              </a:p>
              <a:p>
                <a:pPr marL="285750" indent="-285750" algn="just">
                  <a:lnSpc>
                    <a:spcPct val="150000"/>
                  </a:lnSpc>
                  <a:buFontTx/>
                  <a:buChar char="-"/>
                </a:pPr>
                <a:r>
                  <a:rPr lang="vi-VN" dirty="0">
                    <a:latin typeface="+mj-lt"/>
                  </a:rPr>
                  <a:t>D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		D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a:t>
                </a:r>
              </a:p>
              <a:p>
                <a:pPr marL="285750" indent="-285750" algn="just">
                  <a:lnSpc>
                    <a:spcPct val="150000"/>
                  </a:lnSpc>
                  <a:buFontTx/>
                  <a:buChar char="-"/>
                </a:pPr>
                <a:r>
                  <a:rPr lang="vi-VN" dirty="0">
                    <a:latin typeface="+mj-lt"/>
                  </a:rPr>
                  <a:t>E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D		F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G</a:t>
                </a:r>
              </a:p>
              <a:p>
                <a:pPr marL="285750" indent="-285750" algn="just">
                  <a:lnSpc>
                    <a:spcPct val="150000"/>
                  </a:lnSpc>
                  <a:buFontTx/>
                  <a:buChar char="-"/>
                </a:pPr>
                <a:r>
                  <a:rPr lang="vi-VN" dirty="0">
                    <a:latin typeface="+mj-lt"/>
                  </a:rPr>
                  <a:t>G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H	H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C</a:t>
                </a:r>
              </a:p>
              <a:p>
                <a:pPr marL="285750" indent="-285750" algn="just">
                  <a:lnSpc>
                    <a:spcPct val="150000"/>
                  </a:lnSpc>
                  <a:buFontTx/>
                  <a:buChar char="-"/>
                </a:pPr>
                <a:r>
                  <a:rPr lang="vi-VN" dirty="0">
                    <a:latin typeface="+mj-lt"/>
                  </a:rPr>
                  <a:t>I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G		J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H</a:t>
                </a:r>
              </a:p>
            </p:txBody>
          </p:sp>
        </mc:Choice>
        <mc:Fallback xmlns="">
          <p:sp>
            <p:nvSpPr>
              <p:cNvPr id="7" name="TextBox 5">
                <a:extLst>
                  <a:ext uri="{FF2B5EF4-FFF2-40B4-BE49-F238E27FC236}">
                    <a16:creationId xmlns:a16="http://schemas.microsoft.com/office/drawing/2014/main" id="{5982C2F2-66AE-B9DC-F83C-E8666FE73CEF}"/>
                  </a:ext>
                </a:extLst>
              </p:cNvPr>
              <p:cNvSpPr txBox="1">
                <a:spLocks noRot="1" noChangeAspect="1" noMove="1" noResize="1" noEditPoints="1" noAdjustHandles="1" noChangeArrowheads="1" noChangeShapeType="1" noTextEdit="1"/>
              </p:cNvSpPr>
              <p:nvPr/>
            </p:nvSpPr>
            <p:spPr>
              <a:xfrm>
                <a:off x="1079999" y="2417222"/>
                <a:ext cx="4209620" cy="3366243"/>
              </a:xfrm>
              <a:prstGeom prst="rect">
                <a:avLst/>
              </a:prstGeom>
              <a:blipFill>
                <a:blip r:embed="rId2"/>
                <a:stretch>
                  <a:fillRect l="-1158" b="-1993"/>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D856CE97-6193-E8A5-F259-735524E2F9EA}"/>
              </a:ext>
            </a:extLst>
          </p:cNvPr>
          <p:cNvGrpSpPr/>
          <p:nvPr/>
        </p:nvGrpSpPr>
        <p:grpSpPr>
          <a:xfrm>
            <a:off x="6723548" y="2090561"/>
            <a:ext cx="3774103" cy="3589469"/>
            <a:chOff x="6723548" y="2090561"/>
            <a:chExt cx="3774103" cy="3589469"/>
          </a:xfrm>
        </p:grpSpPr>
        <p:sp>
          <p:nvSpPr>
            <p:cNvPr id="8" name="TextBox 7">
              <a:extLst>
                <a:ext uri="{FF2B5EF4-FFF2-40B4-BE49-F238E27FC236}">
                  <a16:creationId xmlns:a16="http://schemas.microsoft.com/office/drawing/2014/main" id="{DC35E283-3C03-F382-8547-4F1BF2C163C5}"/>
                </a:ext>
              </a:extLst>
            </p:cNvPr>
            <p:cNvSpPr txBox="1"/>
            <p:nvPr/>
          </p:nvSpPr>
          <p:spPr>
            <a:xfrm>
              <a:off x="6723548" y="2090561"/>
              <a:ext cx="3774103" cy="369332"/>
            </a:xfrm>
            <a:prstGeom prst="rect">
              <a:avLst/>
            </a:prstGeom>
            <a:noFill/>
          </p:spPr>
          <p:txBody>
            <a:bodyPr wrap="square" rtlCol="0">
              <a:spAutoFit/>
            </a:bodyPr>
            <a:lstStyle/>
            <a:p>
              <a:pPr algn="ctr"/>
              <a:r>
                <a:rPr lang="vi-VN" dirty="0">
                  <a:latin typeface="+mj-lt"/>
                </a:rPr>
                <a:t>Kết quả phân cụm</a:t>
              </a:r>
              <a:endParaRPr lang="en-US" dirty="0">
                <a:latin typeface="+mj-lt"/>
              </a:endParaRPr>
            </a:p>
          </p:txBody>
        </p:sp>
        <p:pic>
          <p:nvPicPr>
            <p:cNvPr id="10" name="Picture 9">
              <a:extLst>
                <a:ext uri="{FF2B5EF4-FFF2-40B4-BE49-F238E27FC236}">
                  <a16:creationId xmlns:a16="http://schemas.microsoft.com/office/drawing/2014/main" id="{39350DC1-212E-6B19-B6E9-435B9FD2B022}"/>
                </a:ext>
              </a:extLst>
            </p:cNvPr>
            <p:cNvPicPr>
              <a:picLocks noChangeAspect="1"/>
            </p:cNvPicPr>
            <p:nvPr/>
          </p:nvPicPr>
          <p:blipFill>
            <a:blip r:embed="rId3"/>
            <a:stretch>
              <a:fillRect/>
            </a:stretch>
          </p:blipFill>
          <p:spPr>
            <a:xfrm>
              <a:off x="6851204" y="2520656"/>
              <a:ext cx="3518789" cy="3159374"/>
            </a:xfrm>
            <a:prstGeom prst="rect">
              <a:avLst/>
            </a:prstGeom>
          </p:spPr>
        </p:pic>
      </p:grpSp>
    </p:spTree>
    <p:extLst>
      <p:ext uri="{BB962C8B-B14F-4D97-AF65-F5344CB8AC3E}">
        <p14:creationId xmlns:p14="http://schemas.microsoft.com/office/powerpoint/2010/main" val="3981076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5AE5AD5-0A2F-93FB-54E7-5AD7F1BDCD8F}"/>
              </a:ext>
            </a:extLst>
          </p:cNvPr>
          <p:cNvSpPr>
            <a:spLocks noGrp="1"/>
          </p:cNvSpPr>
          <p:nvPr>
            <p:ph type="sldNum" sz="quarter" idx="12"/>
          </p:nvPr>
        </p:nvSpPr>
        <p:spPr/>
        <p:txBody>
          <a:bodyPr/>
          <a:lstStyle/>
          <a:p>
            <a:fld id="{9B618960-8005-486C-9A75-10CB2AAC16F9}" type="slidenum">
              <a:rPr lang="en-US" smtClean="0"/>
              <a:t>19</a:t>
            </a:fld>
            <a:endParaRPr lang="en-US" dirty="0"/>
          </a:p>
        </p:txBody>
      </p:sp>
      <p:sp>
        <p:nvSpPr>
          <p:cNvPr id="5" name="TextBox 3">
            <a:extLst>
              <a:ext uri="{FF2B5EF4-FFF2-40B4-BE49-F238E27FC236}">
                <a16:creationId xmlns:a16="http://schemas.microsoft.com/office/drawing/2014/main" id="{14884AA2-9126-9498-2C10-78D42BEF1BFA}"/>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B44F4992-ECDC-3F86-28E6-8CCBED2195DE}"/>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9" name="TextBox 5">
                <a:extLst>
                  <a:ext uri="{FF2B5EF4-FFF2-40B4-BE49-F238E27FC236}">
                    <a16:creationId xmlns:a16="http://schemas.microsoft.com/office/drawing/2014/main" id="{97CB0474-2BC6-8006-B7FE-7EF90E93ED50}"/>
                  </a:ext>
                </a:extLst>
              </p:cNvPr>
              <p:cNvSpPr txBox="1"/>
              <p:nvPr/>
            </p:nvSpPr>
            <p:spPr>
              <a:xfrm>
                <a:off x="1079999" y="2417222"/>
                <a:ext cx="4209620" cy="37820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Về quy tắc 2% trong CFSFDP</a:t>
                </a:r>
              </a:p>
              <a:p>
                <a:pPr marL="285750" indent="-285750" algn="just">
                  <a:lnSpc>
                    <a:spcPct val="150000"/>
                  </a:lnSpc>
                  <a:buFontTx/>
                  <a:buChar char="-"/>
                </a:pPr>
                <a:r>
                  <a:rPr lang="vi-VN" dirty="0">
                    <a:latin typeface="+mj-lt"/>
                  </a:rPr>
                  <a:t>Dựa vào kinh nghiệm của tác giả trong bài báo, cho rằng nên chọn giá trị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d</m:t>
                        </m:r>
                      </m:e>
                      <m:sub>
                        <m:r>
                          <m:rPr>
                            <m:sty m:val="p"/>
                          </m:rPr>
                          <a:rPr lang="vi-VN" i="1">
                            <a:latin typeface="Cambria Math" panose="02040503050406030204" pitchFamily="18" charset="0"/>
                          </a:rPr>
                          <m:t>c</m:t>
                        </m:r>
                      </m:sub>
                    </m:sSub>
                  </m:oMath>
                </a14:m>
                <a:r>
                  <a:rPr lang="vi-VN" dirty="0">
                    <a:latin typeface="+mj-lt"/>
                  </a:rPr>
                  <a:t> sao cho mật độ trung bình mỗi điểm có từ [1%, 2%] tổng số điểm.</a:t>
                </a:r>
              </a:p>
              <a:p>
                <a:pPr marL="285750" indent="-285750" algn="just">
                  <a:lnSpc>
                    <a:spcPct val="150000"/>
                  </a:lnSpc>
                  <a:buFontTx/>
                  <a:buChar char="-"/>
                </a:pPr>
                <a:r>
                  <a:rPr lang="vi-VN" dirty="0">
                    <a:latin typeface="+mj-lt"/>
                  </a:rPr>
                  <a:t>Có một cách thuận tiện là sử dụng số lượng khoảng cách của các cặp điểm nhân với 2% để mật độ trung bình mỗi điểm có 2% tổng số điểm</a:t>
                </a:r>
              </a:p>
            </p:txBody>
          </p:sp>
        </mc:Choice>
        <mc:Fallback xmlns="">
          <p:sp>
            <p:nvSpPr>
              <p:cNvPr id="9" name="TextBox 5">
                <a:extLst>
                  <a:ext uri="{FF2B5EF4-FFF2-40B4-BE49-F238E27FC236}">
                    <a16:creationId xmlns:a16="http://schemas.microsoft.com/office/drawing/2014/main" id="{97CB0474-2BC6-8006-B7FE-7EF90E93ED50}"/>
                  </a:ext>
                </a:extLst>
              </p:cNvPr>
              <p:cNvSpPr txBox="1">
                <a:spLocks noRot="1" noChangeAspect="1" noMove="1" noResize="1" noEditPoints="1" noAdjustHandles="1" noChangeArrowheads="1" noChangeShapeType="1" noTextEdit="1"/>
              </p:cNvSpPr>
              <p:nvPr/>
            </p:nvSpPr>
            <p:spPr>
              <a:xfrm>
                <a:off x="1079999" y="2417222"/>
                <a:ext cx="4209620" cy="3782061"/>
              </a:xfrm>
              <a:prstGeom prst="rect">
                <a:avLst/>
              </a:prstGeom>
              <a:blipFill>
                <a:blip r:embed="rId3"/>
                <a:stretch>
                  <a:fillRect l="-868" r="-1158" b="-1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56E3288-9E28-C436-B1C1-94159C5A409A}"/>
                  </a:ext>
                </a:extLst>
              </p:cNvPr>
              <p:cNvSpPr txBox="1"/>
              <p:nvPr/>
            </p:nvSpPr>
            <p:spPr>
              <a:xfrm>
                <a:off x="5673077" y="1728000"/>
                <a:ext cx="6214123" cy="4234236"/>
              </a:xfrm>
              <a:prstGeom prst="rect">
                <a:avLst/>
              </a:prstGeom>
              <a:noFill/>
            </p:spPr>
            <p:txBody>
              <a:bodyPr wrap="square" rtlCol="0">
                <a:spAutoFit/>
              </a:bodyPr>
              <a:lstStyle/>
              <a:p>
                <a:pPr>
                  <a:lnSpc>
                    <a:spcPct val="120000"/>
                  </a:lnSpc>
                </a:pPr>
                <a:r>
                  <a:rPr lang="vi-VN" dirty="0">
                    <a:latin typeface="+mj-lt"/>
                  </a:rPr>
                  <a:t>Nó được chứng minh như sau:</a:t>
                </a:r>
              </a:p>
              <a:p>
                <a:pPr>
                  <a:lnSpc>
                    <a:spcPct val="120000"/>
                  </a:lnSpc>
                </a:pPr>
                <a:r>
                  <a:rPr lang="vi-VN" dirty="0">
                    <a:latin typeface="+mj-lt"/>
                  </a:rPr>
                  <a:t>Tập dữ liệu có N điểm. Tổng số cặp khoảng cách là </a:t>
                </a:r>
                <a:r>
                  <a:rPr lang="vi-VN" i="1" dirty="0">
                    <a:latin typeface="+mj-lt"/>
                  </a:rPr>
                  <a:t>M = </a:t>
                </a:r>
                <a14:m>
                  <m:oMath xmlns:m="http://schemas.openxmlformats.org/officeDocument/2006/math">
                    <m:f>
                      <m:fPr>
                        <m:ctrlPr>
                          <a:rPr lang="vi-VN" i="1" smtClean="0">
                            <a:latin typeface="Cambria Math" panose="02040503050406030204" pitchFamily="18" charset="0"/>
                          </a:rPr>
                        </m:ctrlPr>
                      </m:fPr>
                      <m:num>
                        <m:r>
                          <a:rPr lang="vi-VN" i="1">
                            <a:latin typeface="Cambria Math" panose="02040503050406030204" pitchFamily="18" charset="0"/>
                          </a:rPr>
                          <m:t>𝑁</m:t>
                        </m:r>
                        <m:d>
                          <m:dPr>
                            <m:ctrlPr>
                              <a:rPr lang="vi-VN" i="1" smtClean="0">
                                <a:latin typeface="Cambria Math" panose="02040503050406030204" pitchFamily="18" charset="0"/>
                              </a:rPr>
                            </m:ctrlPr>
                          </m:dPr>
                          <m:e>
                            <m:r>
                              <a:rPr lang="vi-VN" i="1">
                                <a:latin typeface="Cambria Math" panose="02040503050406030204" pitchFamily="18" charset="0"/>
                              </a:rPr>
                              <m:t>𝑁</m:t>
                            </m:r>
                            <m:r>
                              <a:rPr lang="vi-VN" i="1">
                                <a:latin typeface="Cambria Math" panose="02040503050406030204" pitchFamily="18" charset="0"/>
                                <a:ea typeface="Cambria Math" panose="02040503050406030204" pitchFamily="18" charset="0"/>
                              </a:rPr>
                              <m:t>−</m:t>
                            </m:r>
                            <m:r>
                              <a:rPr lang="vi-VN" i="1" smtClean="0">
                                <a:latin typeface="Cambria Math" panose="02040503050406030204" pitchFamily="18" charset="0"/>
                                <a:ea typeface="Cambria Math" panose="02040503050406030204" pitchFamily="18" charset="0"/>
                              </a:rPr>
                              <m:t>1</m:t>
                            </m:r>
                          </m:e>
                        </m:d>
                      </m:num>
                      <m:den>
                        <m:r>
                          <a:rPr lang="vi-VN" i="1">
                            <a:latin typeface="Cambria Math" panose="02040503050406030204" pitchFamily="18" charset="0"/>
                          </a:rPr>
                          <m:t>2</m:t>
                        </m:r>
                      </m:den>
                    </m:f>
                  </m:oMath>
                </a14:m>
                <a:r>
                  <a:rPr lang="vi-VN" dirty="0">
                    <a:latin typeface="+mj-lt"/>
                  </a:rPr>
                  <a:t>.</a:t>
                </a:r>
              </a:p>
              <a:p>
                <a:pPr>
                  <a:lnSpc>
                    <a:spcPct val="120000"/>
                  </a:lnSpc>
                </a:pPr>
                <a:r>
                  <a:rPr lang="vi-VN" dirty="0">
                    <a:latin typeface="+mj-lt"/>
                  </a:rPr>
                  <a:t>Chọn </a:t>
                </a:r>
                <a14:m>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latin typeface="+mj-lt"/>
                  </a:rPr>
                  <a:t> sao cho số cặp thỏa mãn </a:t>
                </a:r>
                <a14:m>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𝑖𝑗</m:t>
                        </m:r>
                      </m:sub>
                    </m:sSub>
                    <m:r>
                      <a:rPr lang="vi-VN" i="1" smtClean="0">
                        <a:latin typeface="Cambria Math" panose="02040503050406030204" pitchFamily="18" charset="0"/>
                        <a:ea typeface="Cambria Math" panose="02040503050406030204" pitchFamily="18" charset="0"/>
                      </a:rPr>
                      <m:t>&lt;</m:t>
                    </m:r>
                    <m:sSub>
                      <m:sSubPr>
                        <m:ctrlPr>
                          <a:rPr lang="vi-VN" i="1" smtClean="0">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𝑐</m:t>
                        </m:r>
                      </m:sub>
                    </m:sSub>
                  </m:oMath>
                </a14:m>
                <a:r>
                  <a:rPr lang="vi-VN" dirty="0">
                    <a:latin typeface="+mj-lt"/>
                  </a:rPr>
                  <a:t> chiếm tỉ lệ </a:t>
                </a:r>
                <a14:m>
                  <m:oMath xmlns:m="http://schemas.openxmlformats.org/officeDocument/2006/math">
                    <m:r>
                      <a:rPr lang="vi-VN" i="1" smtClean="0">
                        <a:latin typeface="Cambria Math" panose="02040503050406030204" pitchFamily="18" charset="0"/>
                      </a:rPr>
                      <m:t>𝑝</m:t>
                    </m:r>
                  </m:oMath>
                </a14:m>
                <a:r>
                  <a:rPr lang="vi-VN" dirty="0">
                    <a:latin typeface="+mj-lt"/>
                  </a:rPr>
                  <a:t> (ví dụ </a:t>
                </a:r>
                <a14:m>
                  <m:oMath xmlns:m="http://schemas.openxmlformats.org/officeDocument/2006/math">
                    <m:r>
                      <a:rPr lang="vi-VN" i="1">
                        <a:latin typeface="Cambria Math" panose="02040503050406030204" pitchFamily="18" charset="0"/>
                      </a:rPr>
                      <m:t>𝑝</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0</m:t>
                    </m:r>
                  </m:oMath>
                </a14:m>
                <a:r>
                  <a:rPr lang="vi-VN" dirty="0">
                    <a:latin typeface="+mj-lt"/>
                  </a:rPr>
                  <a:t>.02).</a:t>
                </a:r>
              </a:p>
              <a:p>
                <a:pPr>
                  <a:lnSpc>
                    <a:spcPct val="120000"/>
                  </a:lnSpc>
                </a:pPr>
                <a:r>
                  <a:rPr lang="vi-VN" dirty="0">
                    <a:latin typeface="+mj-lt"/>
                  </a:rPr>
                  <a:t>Tổng số cặp thỏa mãn: </a:t>
                </a:r>
                <a:r>
                  <a:rPr lang="vi-VN" i="1" dirty="0">
                    <a:latin typeface="+mj-lt"/>
                  </a:rPr>
                  <a:t>Count = </a:t>
                </a:r>
                <a14:m>
                  <m:oMath xmlns:m="http://schemas.openxmlformats.org/officeDocument/2006/math">
                    <m:r>
                      <a:rPr lang="vi-VN" i="1">
                        <a:latin typeface="Cambria Math" panose="02040503050406030204" pitchFamily="18" charset="0"/>
                      </a:rPr>
                      <m:t>𝑝</m:t>
                    </m:r>
                    <m:r>
                      <a:rPr lang="vi-VN" i="1">
                        <a:latin typeface="Cambria Math" panose="02040503050406030204" pitchFamily="18" charset="0"/>
                        <a:ea typeface="Cambria Math" panose="02040503050406030204" pitchFamily="18" charset="0"/>
                      </a:rPr>
                      <m:t>×</m:t>
                    </m:r>
                  </m:oMath>
                </a14:m>
                <a:r>
                  <a:rPr lang="vi-VN" i="1" dirty="0">
                    <a:latin typeface="+mj-lt"/>
                  </a:rPr>
                  <a:t> </a:t>
                </a:r>
                <a14:m>
                  <m:oMath xmlns:m="http://schemas.openxmlformats.org/officeDocument/2006/math">
                    <m:f>
                      <m:fPr>
                        <m:ctrlPr>
                          <a:rPr lang="vi-VN" i="1">
                            <a:latin typeface="Cambria Math" panose="02040503050406030204" pitchFamily="18" charset="0"/>
                          </a:rPr>
                        </m:ctrlPr>
                      </m:fPr>
                      <m:num>
                        <m:r>
                          <a:rPr lang="vi-VN" i="1">
                            <a:latin typeface="Cambria Math" panose="02040503050406030204" pitchFamily="18" charset="0"/>
                          </a:rPr>
                          <m:t>𝑁</m:t>
                        </m:r>
                        <m:d>
                          <m:dPr>
                            <m:ctrlPr>
                              <a:rPr lang="vi-VN" i="1">
                                <a:latin typeface="Cambria Math" panose="02040503050406030204" pitchFamily="18" charset="0"/>
                              </a:rPr>
                            </m:ctrlPr>
                          </m:dPr>
                          <m:e>
                            <m:r>
                              <a:rPr lang="vi-VN" i="1">
                                <a:latin typeface="Cambria Math" panose="02040503050406030204" pitchFamily="18" charset="0"/>
                              </a:rPr>
                              <m:t>𝑁</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e>
                        </m:d>
                      </m:num>
                      <m:den>
                        <m:r>
                          <a:rPr lang="vi-VN" i="1">
                            <a:latin typeface="Cambria Math" panose="02040503050406030204" pitchFamily="18" charset="0"/>
                          </a:rPr>
                          <m:t>2</m:t>
                        </m:r>
                      </m:den>
                    </m:f>
                  </m:oMath>
                </a14:m>
                <a:r>
                  <a:rPr lang="vi-VN" dirty="0">
                    <a:latin typeface="+mj-lt"/>
                  </a:rPr>
                  <a:t>.</a:t>
                </a:r>
              </a:p>
              <a:p>
                <a:pPr>
                  <a:lnSpc>
                    <a:spcPct val="120000"/>
                  </a:lnSpc>
                </a:pPr>
                <a:r>
                  <a:rPr lang="vi-VN" dirty="0">
                    <a:latin typeface="+mj-lt"/>
                  </a:rPr>
                  <a:t>Mỗi cặp </a:t>
                </a:r>
                <a14:m>
                  <m:oMath xmlns:m="http://schemas.openxmlformats.org/officeDocument/2006/math">
                    <m:d>
                      <m:dPr>
                        <m:ctrlPr>
                          <a:rPr lang="vi-VN" i="1" smtClean="0">
                            <a:latin typeface="Cambria Math" panose="02040503050406030204" pitchFamily="18" charset="0"/>
                          </a:rPr>
                        </m:ctrlPr>
                      </m:dPr>
                      <m:e>
                        <m:r>
                          <a:rPr lang="vi-VN" i="1">
                            <a:latin typeface="Cambria Math" panose="02040503050406030204" pitchFamily="18" charset="0"/>
                          </a:rPr>
                          <m:t>𝑖</m:t>
                        </m:r>
                        <m:r>
                          <a:rPr lang="vi-VN" b="0" i="1" smtClean="0">
                            <a:latin typeface="Cambria Math" panose="02040503050406030204" pitchFamily="18" charset="0"/>
                          </a:rPr>
                          <m:t>,</m:t>
                        </m:r>
                        <m:r>
                          <a:rPr lang="vi-VN" i="1">
                            <a:latin typeface="Cambria Math" panose="02040503050406030204" pitchFamily="18" charset="0"/>
                          </a:rPr>
                          <m:t>𝑗</m:t>
                        </m:r>
                      </m:e>
                    </m:d>
                  </m:oMath>
                </a14:m>
                <a:r>
                  <a:rPr lang="vi-VN" dirty="0">
                    <a:latin typeface="+mj-lt"/>
                  </a:rPr>
                  <a:t> thỏa mãn sẽ đóng góp 1 đơn vị lân cận cho điểm </a:t>
                </a:r>
                <a14:m>
                  <m:oMath xmlns:m="http://schemas.openxmlformats.org/officeDocument/2006/math">
                    <m:r>
                      <a:rPr lang="vi-VN" i="1" dirty="0">
                        <a:latin typeface="Cambria Math" panose="02040503050406030204" pitchFamily="18" charset="0"/>
                      </a:rPr>
                      <m:t>𝑖</m:t>
                    </m:r>
                  </m:oMath>
                </a14:m>
                <a:r>
                  <a:rPr lang="vi-VN" dirty="0">
                    <a:latin typeface="+mj-lt"/>
                  </a:rPr>
                  <a:t> và 1 cho điểm </a:t>
                </a:r>
                <a14:m>
                  <m:oMath xmlns:m="http://schemas.openxmlformats.org/officeDocument/2006/math">
                    <m:r>
                      <a:rPr lang="vi-VN" i="1" dirty="0">
                        <a:latin typeface="Cambria Math" panose="02040503050406030204" pitchFamily="18" charset="0"/>
                      </a:rPr>
                      <m:t>𝑗</m:t>
                    </m:r>
                  </m:oMath>
                </a14:m>
                <a:r>
                  <a:rPr lang="vi-VN" dirty="0">
                    <a:latin typeface="+mj-lt"/>
                  </a:rPr>
                  <a:t>. Tổng số lân cận của toàn bộ hệ thống là:</a:t>
                </a:r>
                <a:br>
                  <a:rPr lang="vi-VN" dirty="0">
                    <a:latin typeface="+mj-lt"/>
                  </a:rPr>
                </a:br>
                <a:r>
                  <a:rPr lang="vi-VN" dirty="0">
                    <a:latin typeface="+mj-lt"/>
                  </a:rPr>
                  <a:t>2 </a:t>
                </a:r>
                <a14:m>
                  <m:oMath xmlns:m="http://schemas.openxmlformats.org/officeDocument/2006/math">
                    <m:r>
                      <a:rPr lang="vi-VN" i="1" smtClean="0">
                        <a:latin typeface="Cambria Math" panose="02040503050406030204" pitchFamily="18" charset="0"/>
                        <a:ea typeface="Cambria Math" panose="02040503050406030204" pitchFamily="18" charset="0"/>
                      </a:rPr>
                      <m:t>×</m:t>
                    </m:r>
                    <m:r>
                      <a:rPr lang="vi-VN" b="0" i="1" smtClean="0">
                        <a:latin typeface="Cambria Math" panose="02040503050406030204" pitchFamily="18" charset="0"/>
                        <a:ea typeface="Cambria Math" panose="02040503050406030204" pitchFamily="18" charset="0"/>
                      </a:rPr>
                      <m:t> </m:t>
                    </m:r>
                    <m:r>
                      <a:rPr lang="vi-VN" i="1">
                        <a:latin typeface="Cambria Math" panose="02040503050406030204" pitchFamily="18" charset="0"/>
                        <a:ea typeface="Cambria Math" panose="02040503050406030204" pitchFamily="18" charset="0"/>
                      </a:rPr>
                      <m:t>𝐶𝑜𝑢𝑛𝑡</m:t>
                    </m:r>
                  </m:oMath>
                </a14:m>
                <a:r>
                  <a:rPr lang="vi-VN" i="1" dirty="0">
                    <a:latin typeface="+mj-lt"/>
                  </a:rPr>
                  <a:t> = </a:t>
                </a:r>
                <a14:m>
                  <m:oMath xmlns:m="http://schemas.openxmlformats.org/officeDocument/2006/math">
                    <m:r>
                      <a:rPr lang="vi-VN" i="1">
                        <a:latin typeface="Cambria Math" panose="02040503050406030204" pitchFamily="18" charset="0"/>
                      </a:rPr>
                      <m:t>𝑝</m:t>
                    </m:r>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rPr>
                      <m:t>𝑁</m:t>
                    </m:r>
                    <m:d>
                      <m:dPr>
                        <m:ctrlPr>
                          <a:rPr lang="vi-VN" i="1">
                            <a:latin typeface="Cambria Math" panose="02040503050406030204" pitchFamily="18" charset="0"/>
                          </a:rPr>
                        </m:ctrlPr>
                      </m:dPr>
                      <m:e>
                        <m:r>
                          <a:rPr lang="vi-VN" i="1">
                            <a:latin typeface="Cambria Math" panose="02040503050406030204" pitchFamily="18" charset="0"/>
                          </a:rPr>
                          <m:t>𝑁</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e>
                    </m:d>
                  </m:oMath>
                </a14:m>
                <a:r>
                  <a:rPr lang="vi-VN" i="1" dirty="0">
                    <a:latin typeface="+mj-lt"/>
                  </a:rPr>
                  <a:t>.</a:t>
                </a:r>
              </a:p>
              <a:p>
                <a:pPr>
                  <a:lnSpc>
                    <a:spcPct val="120000"/>
                  </a:lnSpc>
                </a:pPr>
                <a:r>
                  <a:rPr lang="vi-VN" dirty="0">
                    <a:latin typeface="+mj-lt"/>
                  </a:rPr>
                  <a:t>Số lân cận trung bình mỗi điểm:</a:t>
                </a:r>
              </a:p>
              <a:p>
                <a:pPr>
                  <a:lnSpc>
                    <a:spcPct val="120000"/>
                  </a:lnSpc>
                </a:pPr>
                <a14:m>
                  <m:oMath xmlns:m="http://schemas.openxmlformats.org/officeDocument/2006/math">
                    <m:f>
                      <m:fPr>
                        <m:ctrlPr>
                          <a:rPr lang="vi-VN" i="1" smtClean="0">
                            <a:latin typeface="Cambria Math" panose="02040503050406030204" pitchFamily="18" charset="0"/>
                          </a:rPr>
                        </m:ctrlPr>
                      </m:fPr>
                      <m:num>
                        <m:r>
                          <a:rPr lang="vi-VN" i="1">
                            <a:latin typeface="Cambria Math" panose="02040503050406030204" pitchFamily="18" charset="0"/>
                          </a:rPr>
                          <m:t>𝑝</m:t>
                        </m:r>
                        <m:r>
                          <a:rPr lang="vi-VN" i="1">
                            <a:latin typeface="Cambria Math" panose="02040503050406030204" pitchFamily="18" charset="0"/>
                          </a:rPr>
                          <m:t> ×</m:t>
                        </m:r>
                        <m:r>
                          <a:rPr lang="vi-VN" i="1">
                            <a:latin typeface="Cambria Math" panose="02040503050406030204" pitchFamily="18" charset="0"/>
                          </a:rPr>
                          <m:t>𝑁</m:t>
                        </m:r>
                        <m:d>
                          <m:dPr>
                            <m:ctrlPr>
                              <a:rPr lang="vi-VN" i="1">
                                <a:latin typeface="Cambria Math" panose="02040503050406030204" pitchFamily="18" charset="0"/>
                              </a:rPr>
                            </m:ctrlPr>
                          </m:dPr>
                          <m:e>
                            <m:r>
                              <a:rPr lang="vi-VN" i="1">
                                <a:latin typeface="Cambria Math" panose="02040503050406030204" pitchFamily="18" charset="0"/>
                              </a:rPr>
                              <m:t>𝑁</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e>
                        </m:d>
                      </m:num>
                      <m:den>
                        <m:r>
                          <a:rPr lang="vi-VN" i="1">
                            <a:latin typeface="Cambria Math" panose="02040503050406030204" pitchFamily="18" charset="0"/>
                          </a:rPr>
                          <m:t>𝑁</m:t>
                        </m:r>
                      </m:den>
                    </m:f>
                    <m:r>
                      <a:rPr lang="vi-VN" i="1" smtClean="0">
                        <a:latin typeface="Cambria Math" panose="02040503050406030204" pitchFamily="18" charset="0"/>
                        <a:ea typeface="Cambria Math" panose="02040503050406030204" pitchFamily="18" charset="0"/>
                      </a:rPr>
                      <m:t>=</m:t>
                    </m:r>
                  </m:oMath>
                </a14:m>
                <a:r>
                  <a:rPr lang="vi-VN" i="1" dirty="0">
                    <a:latin typeface="+mj-lt"/>
                  </a:rPr>
                  <a:t> </a:t>
                </a:r>
                <a14:m>
                  <m:oMath xmlns:m="http://schemas.openxmlformats.org/officeDocument/2006/math">
                    <m:r>
                      <a:rPr lang="vi-VN" i="1">
                        <a:latin typeface="Cambria Math" panose="02040503050406030204" pitchFamily="18" charset="0"/>
                      </a:rPr>
                      <m:t>𝑝</m:t>
                    </m:r>
                    <m:r>
                      <a:rPr lang="vi-VN" i="1" smtClean="0">
                        <a:latin typeface="Cambria Math" panose="02040503050406030204" pitchFamily="18" charset="0"/>
                        <a:ea typeface="Cambria Math" panose="02040503050406030204" pitchFamily="18" charset="0"/>
                      </a:rPr>
                      <m:t>×</m:t>
                    </m:r>
                  </m:oMath>
                </a14:m>
                <a:r>
                  <a:rPr lang="vi-VN" i="1" dirty="0">
                    <a:latin typeface="+mj-lt"/>
                  </a:rPr>
                  <a:t> </a:t>
                </a:r>
                <a14:m>
                  <m:oMath xmlns:m="http://schemas.openxmlformats.org/officeDocument/2006/math">
                    <m:d>
                      <m:dPr>
                        <m:ctrlPr>
                          <a:rPr lang="vi-VN" i="1">
                            <a:latin typeface="Cambria Math" panose="02040503050406030204" pitchFamily="18" charset="0"/>
                          </a:rPr>
                        </m:ctrlPr>
                      </m:dPr>
                      <m:e>
                        <m:r>
                          <a:rPr lang="vi-VN" i="1">
                            <a:latin typeface="Cambria Math" panose="02040503050406030204" pitchFamily="18" charset="0"/>
                          </a:rPr>
                          <m:t>𝑁</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e>
                    </m:d>
                  </m:oMath>
                </a14:m>
                <a:r>
                  <a:rPr lang="vi-VN" i="1" dirty="0">
                    <a:latin typeface="+mj-lt"/>
                  </a:rPr>
                  <a:t>.</a:t>
                </a:r>
              </a:p>
              <a:p>
                <a:pPr>
                  <a:lnSpc>
                    <a:spcPct val="120000"/>
                  </a:lnSpc>
                </a:pPr>
                <a:r>
                  <a:rPr lang="vi-VN" dirty="0">
                    <a:latin typeface="+mj-lt"/>
                  </a:rPr>
                  <a:t>Với N lớn, </a:t>
                </a:r>
                <a14:m>
                  <m:oMath xmlns:m="http://schemas.openxmlformats.org/officeDocument/2006/math">
                    <m:r>
                      <a:rPr lang="vi-VN" i="1">
                        <a:latin typeface="Cambria Math" panose="02040503050406030204" pitchFamily="18" charset="0"/>
                      </a:rPr>
                      <m:t>𝑝</m:t>
                    </m:r>
                    <m:r>
                      <a:rPr lang="vi-VN" i="1">
                        <a:latin typeface="Cambria Math" panose="02040503050406030204" pitchFamily="18" charset="0"/>
                        <a:ea typeface="Cambria Math" panose="02040503050406030204" pitchFamily="18" charset="0"/>
                      </a:rPr>
                      <m:t>×</m:t>
                    </m:r>
                  </m:oMath>
                </a14:m>
                <a:r>
                  <a:rPr lang="vi-VN" i="1" dirty="0">
                    <a:latin typeface="+mj-lt"/>
                  </a:rPr>
                  <a:t> </a:t>
                </a:r>
                <a14:m>
                  <m:oMath xmlns:m="http://schemas.openxmlformats.org/officeDocument/2006/math">
                    <m:d>
                      <m:dPr>
                        <m:ctrlPr>
                          <a:rPr lang="vi-VN" i="1">
                            <a:latin typeface="Cambria Math" panose="02040503050406030204" pitchFamily="18" charset="0"/>
                          </a:rPr>
                        </m:ctrlPr>
                      </m:dPr>
                      <m:e>
                        <m:r>
                          <a:rPr lang="vi-VN" i="1">
                            <a:latin typeface="Cambria Math" panose="02040503050406030204" pitchFamily="18" charset="0"/>
                          </a:rPr>
                          <m:t>𝑁</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e>
                    </m:d>
                  </m:oMath>
                </a14:m>
                <a:r>
                  <a:rPr lang="vi-VN" i="1" dirty="0">
                    <a:latin typeface="+mj-lt"/>
                  </a:rPr>
                  <a:t> </a:t>
                </a:r>
                <a14:m>
                  <m:oMath xmlns:m="http://schemas.openxmlformats.org/officeDocument/2006/math">
                    <m:r>
                      <a:rPr lang="vi-VN" i="1" dirty="0" smtClean="0">
                        <a:latin typeface="Cambria Math" panose="02040503050406030204" pitchFamily="18" charset="0"/>
                        <a:ea typeface="Cambria Math" panose="02040503050406030204" pitchFamily="18" charset="0"/>
                      </a:rPr>
                      <m:t>≈</m:t>
                    </m:r>
                    <m:r>
                      <a:rPr lang="vi-VN" b="0" i="1" dirty="0" smtClean="0">
                        <a:latin typeface="Cambria Math" panose="02040503050406030204" pitchFamily="18" charset="0"/>
                        <a:ea typeface="Cambria Math" panose="02040503050406030204" pitchFamily="18" charset="0"/>
                      </a:rPr>
                      <m:t> </m:t>
                    </m:r>
                    <m:r>
                      <a:rPr lang="vi-VN" i="1">
                        <a:latin typeface="Cambria Math" panose="02040503050406030204" pitchFamily="18" charset="0"/>
                      </a:rPr>
                      <m:t>𝑝</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𝑁</m:t>
                    </m:r>
                  </m:oMath>
                </a14:m>
                <a:endParaRPr lang="vi-VN" i="1" dirty="0">
                  <a:latin typeface="+mj-lt"/>
                </a:endParaRPr>
              </a:p>
            </p:txBody>
          </p:sp>
        </mc:Choice>
        <mc:Fallback xmlns="">
          <p:sp>
            <p:nvSpPr>
              <p:cNvPr id="10" name="TextBox 9">
                <a:extLst>
                  <a:ext uri="{FF2B5EF4-FFF2-40B4-BE49-F238E27FC236}">
                    <a16:creationId xmlns:a16="http://schemas.microsoft.com/office/drawing/2014/main" id="{C56E3288-9E28-C436-B1C1-94159C5A409A}"/>
                  </a:ext>
                </a:extLst>
              </p:cNvPr>
              <p:cNvSpPr txBox="1">
                <a:spLocks noRot="1" noChangeAspect="1" noMove="1" noResize="1" noEditPoints="1" noAdjustHandles="1" noChangeArrowheads="1" noChangeShapeType="1" noTextEdit="1"/>
              </p:cNvSpPr>
              <p:nvPr/>
            </p:nvSpPr>
            <p:spPr>
              <a:xfrm>
                <a:off x="5673077" y="1728000"/>
                <a:ext cx="6214123" cy="4234236"/>
              </a:xfrm>
              <a:prstGeom prst="rect">
                <a:avLst/>
              </a:prstGeom>
              <a:blipFill>
                <a:blip r:embed="rId4"/>
                <a:stretch>
                  <a:fillRect l="-883" b="-1295"/>
                </a:stretch>
              </a:blipFill>
            </p:spPr>
            <p:txBody>
              <a:bodyPr/>
              <a:lstStyle/>
              <a:p>
                <a:r>
                  <a:rPr lang="en-US">
                    <a:noFill/>
                  </a:rPr>
                  <a:t> </a:t>
                </a:r>
              </a:p>
            </p:txBody>
          </p:sp>
        </mc:Fallback>
      </mc:AlternateContent>
    </p:spTree>
    <p:extLst>
      <p:ext uri="{BB962C8B-B14F-4D97-AF65-F5344CB8AC3E}">
        <p14:creationId xmlns:p14="http://schemas.microsoft.com/office/powerpoint/2010/main" val="1460598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5886C1-1F31-8C40-4885-E6EBED9788F7}"/>
              </a:ext>
            </a:extLst>
          </p:cNvPr>
          <p:cNvSpPr>
            <a:spLocks noGrp="1"/>
          </p:cNvSpPr>
          <p:nvPr>
            <p:ph type="sldNum" sz="quarter" idx="12"/>
          </p:nvPr>
        </p:nvSpPr>
        <p:spPr/>
        <p:txBody>
          <a:bodyPr/>
          <a:lstStyle/>
          <a:p>
            <a:fld id="{9B618960-8005-486C-9A75-10CB2AAC16F9}" type="slidenum">
              <a:rPr lang="en-US" smtClean="0"/>
              <a:t>20</a:t>
            </a:fld>
            <a:endParaRPr lang="en-US"/>
          </a:p>
        </p:txBody>
      </p:sp>
      <p:sp>
        <p:nvSpPr>
          <p:cNvPr id="5" name="TextBox 3">
            <a:extLst>
              <a:ext uri="{FF2B5EF4-FFF2-40B4-BE49-F238E27FC236}">
                <a16:creationId xmlns:a16="http://schemas.microsoft.com/office/drawing/2014/main" id="{C701DEE0-0621-8CA0-36D0-67BE2FF52054}"/>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D2497908-EB9A-F9E1-09BA-6F740B48AC59}"/>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p:sp>
        <p:nvSpPr>
          <p:cNvPr id="7" name="TextBox 5">
            <a:extLst>
              <a:ext uri="{FF2B5EF4-FFF2-40B4-BE49-F238E27FC236}">
                <a16:creationId xmlns:a16="http://schemas.microsoft.com/office/drawing/2014/main" id="{32F656BB-A4AD-069D-43D4-156A39F4D715}"/>
              </a:ext>
            </a:extLst>
          </p:cNvPr>
          <p:cNvSpPr txBox="1"/>
          <p:nvPr/>
        </p:nvSpPr>
        <p:spPr>
          <a:xfrm>
            <a:off x="1079999" y="2417222"/>
            <a:ext cx="5016001" cy="170989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Ưu điểm:</a:t>
            </a:r>
          </a:p>
          <a:p>
            <a:pPr marL="285750" lvl="0" indent="-285750" algn="just">
              <a:lnSpc>
                <a:spcPct val="150000"/>
              </a:lnSpc>
              <a:buFontTx/>
              <a:buChar char="-"/>
            </a:pPr>
            <a:r>
              <a:rPr lang="vi-VN" dirty="0">
                <a:latin typeface="+mj-lt"/>
              </a:rPr>
              <a:t>So với K-means, CFSFDP không yêu cầu giả định các cụm có hình dạng cầu và không cần khai báo trước số lượng cụm K.</a:t>
            </a:r>
            <a:endParaRPr lang="en-US" dirty="0">
              <a:latin typeface="+mj-lt"/>
            </a:endParaRPr>
          </a:p>
        </p:txBody>
      </p:sp>
    </p:spTree>
    <p:extLst>
      <p:ext uri="{BB962C8B-B14F-4D97-AF65-F5344CB8AC3E}">
        <p14:creationId xmlns:p14="http://schemas.microsoft.com/office/powerpoint/2010/main" val="58172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6D86B-7934-9294-0542-E120973DE9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1807F-A3F7-8C5A-1E76-C45FE2957804}"/>
              </a:ext>
            </a:extLst>
          </p:cNvPr>
          <p:cNvSpPr>
            <a:spLocks noGrp="1"/>
          </p:cNvSpPr>
          <p:nvPr>
            <p:ph type="sldNum" sz="quarter" idx="12"/>
          </p:nvPr>
        </p:nvSpPr>
        <p:spPr/>
        <p:txBody>
          <a:bodyPr/>
          <a:lstStyle/>
          <a:p>
            <a:fld id="{9B618960-8005-486C-9A75-10CB2AAC16F9}" type="slidenum">
              <a:rPr lang="en-US" smtClean="0"/>
              <a:t>21</a:t>
            </a:fld>
            <a:endParaRPr lang="en-US"/>
          </a:p>
        </p:txBody>
      </p:sp>
      <p:sp>
        <p:nvSpPr>
          <p:cNvPr id="5" name="TextBox 3">
            <a:extLst>
              <a:ext uri="{FF2B5EF4-FFF2-40B4-BE49-F238E27FC236}">
                <a16:creationId xmlns:a16="http://schemas.microsoft.com/office/drawing/2014/main" id="{A8CE1C78-9B96-C8AB-D763-1D4D0040296E}"/>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948F283A-45A3-C6FA-7648-F74AAA3FF754}"/>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p:sp>
        <p:nvSpPr>
          <p:cNvPr id="7" name="TextBox 5">
            <a:extLst>
              <a:ext uri="{FF2B5EF4-FFF2-40B4-BE49-F238E27FC236}">
                <a16:creationId xmlns:a16="http://schemas.microsoft.com/office/drawing/2014/main" id="{5DB50BF2-4F52-94B0-4AE0-ABCA09E4140E}"/>
              </a:ext>
            </a:extLst>
          </p:cNvPr>
          <p:cNvSpPr txBox="1"/>
          <p:nvPr/>
        </p:nvSpPr>
        <p:spPr>
          <a:xfrm>
            <a:off x="1079999" y="2417222"/>
            <a:ext cx="5016001" cy="295106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Ưu điểm:</a:t>
            </a:r>
          </a:p>
          <a:p>
            <a:pPr marL="285750" lvl="0" indent="-285750" algn="just">
              <a:lnSpc>
                <a:spcPct val="150000"/>
              </a:lnSpc>
              <a:buFontTx/>
              <a:buChar char="-"/>
            </a:pPr>
            <a:r>
              <a:rPr lang="vi-VN" dirty="0">
                <a:latin typeface="+mj-lt"/>
              </a:rPr>
              <a:t>So với K-means, CFSFDP không yêu cầu giả định các cụm có hình dạng cầu và không cần khai báo trước số lượng cụm K.</a:t>
            </a:r>
            <a:endParaRPr lang="en-US" dirty="0">
              <a:latin typeface="+mj-lt"/>
            </a:endParaRPr>
          </a:p>
          <a:p>
            <a:pPr marL="285750" indent="-285750" algn="just">
              <a:lnSpc>
                <a:spcPct val="150000"/>
              </a:lnSpc>
              <a:buFontTx/>
              <a:buChar char="-"/>
            </a:pPr>
            <a:r>
              <a:rPr lang="vi-VN" dirty="0">
                <a:latin typeface="+mj-lt"/>
              </a:rPr>
              <a:t>So với DBSCAN, CFSFDP không cần các vòng lặp phức tạp để kết nối các điểm lân cận mà xác định cấu trúc cụm thông qua các đỉnh mật độ.</a:t>
            </a:r>
          </a:p>
        </p:txBody>
      </p:sp>
    </p:spTree>
    <p:extLst>
      <p:ext uri="{BB962C8B-B14F-4D97-AF65-F5344CB8AC3E}">
        <p14:creationId xmlns:p14="http://schemas.microsoft.com/office/powerpoint/2010/main" val="1234428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6042-6E21-8D73-B74B-284CBB0F505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B07B47-7283-4EDD-D0CF-131E4E20E09A}"/>
              </a:ext>
            </a:extLst>
          </p:cNvPr>
          <p:cNvSpPr>
            <a:spLocks noGrp="1"/>
          </p:cNvSpPr>
          <p:nvPr>
            <p:ph type="sldNum" sz="quarter" idx="12"/>
          </p:nvPr>
        </p:nvSpPr>
        <p:spPr/>
        <p:txBody>
          <a:bodyPr/>
          <a:lstStyle/>
          <a:p>
            <a:fld id="{9B618960-8005-486C-9A75-10CB2AAC16F9}" type="slidenum">
              <a:rPr lang="en-US" smtClean="0"/>
              <a:t>22</a:t>
            </a:fld>
            <a:endParaRPr lang="en-US"/>
          </a:p>
        </p:txBody>
      </p:sp>
      <p:sp>
        <p:nvSpPr>
          <p:cNvPr id="5" name="TextBox 3">
            <a:extLst>
              <a:ext uri="{FF2B5EF4-FFF2-40B4-BE49-F238E27FC236}">
                <a16:creationId xmlns:a16="http://schemas.microsoft.com/office/drawing/2014/main" id="{024729D1-2858-1E0A-D907-EA6995305715}"/>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NỀN TẢNG CỦA THUẬT TOÁN CSDPPO</a:t>
            </a:r>
            <a:endParaRPr lang="en-US" sz="2000" dirty="0">
              <a:latin typeface="+mj-lt"/>
            </a:endParaRPr>
          </a:p>
        </p:txBody>
      </p:sp>
      <p:sp>
        <p:nvSpPr>
          <p:cNvPr id="6" name="TextBox 4">
            <a:extLst>
              <a:ext uri="{FF2B5EF4-FFF2-40B4-BE49-F238E27FC236}">
                <a16:creationId xmlns:a16="http://schemas.microsoft.com/office/drawing/2014/main" id="{834449EA-9258-0FC6-69CC-D1F1C82219D3}"/>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THUẬT TOÁN GỐC CFSFDP (DPC)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600ECAD4-2CC6-FD8B-CCD2-D4355B16BF08}"/>
                  </a:ext>
                </a:extLst>
              </p:cNvPr>
              <p:cNvSpPr txBox="1"/>
              <p:nvPr/>
            </p:nvSpPr>
            <p:spPr>
              <a:xfrm>
                <a:off x="1079998" y="2417222"/>
                <a:ext cx="10059949" cy="295074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Nhược điểm:</a:t>
                </a:r>
              </a:p>
              <a:p>
                <a:pPr marL="285750" indent="-285750" algn="just">
                  <a:lnSpc>
                    <a:spcPct val="150000"/>
                  </a:lnSpc>
                  <a:buFontTx/>
                  <a:buChar char="-"/>
                </a:pPr>
                <a:r>
                  <a:rPr lang="vi-VN" dirty="0">
                    <a:latin typeface="+mj-lt"/>
                  </a:rPr>
                  <a:t>Thuật toán gốc CFSFPD đề xuất tham số </a:t>
                </a:r>
                <a:r>
                  <a:rPr lang="en-US" i="1" dirty="0">
                    <a:latin typeface="+mj-lt"/>
                  </a:rPr>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en-US" i="1" dirty="0">
                    <a:latin typeface="+mj-lt"/>
                  </a:rPr>
                  <a:t>)</a:t>
                </a:r>
                <a:r>
                  <a:rPr lang="vi-VN" dirty="0">
                    <a:latin typeface="+mj-lt"/>
                  </a:rPr>
                  <a:t> dựa trên tỷ lệ lân cận trung bình trong khoảng [1%, 2%]. Tuy nhiên, đây là ngưỡng mang tính kinh nghiệm. CSDPPO cải tiến bằng cách coi </a:t>
                </a:r>
                <a:r>
                  <a:rPr lang="en-US" i="1" dirty="0">
                    <a:latin typeface="+mj-lt"/>
                  </a:rPr>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en-US" i="1" dirty="0">
                    <a:latin typeface="+mj-lt"/>
                  </a:rPr>
                  <a:t>) </a:t>
                </a:r>
                <a:r>
                  <a:rPr lang="vi-VN" dirty="0">
                    <a:latin typeface="+mj-lt"/>
                  </a:rPr>
                  <a:t>là một biến số tối ưu, tự động tìm điểm cực tiểu Entropy để xác định cấu trúc cụm mà không phụ thuộc vào việc lựa chọn thủ công trong khoảng [1%, 2%].</a:t>
                </a:r>
              </a:p>
              <a:p>
                <a:pPr marL="285750" indent="-285750" algn="just">
                  <a:lnSpc>
                    <a:spcPct val="150000"/>
                  </a:lnSpc>
                  <a:buFontTx/>
                  <a:buChar char="-"/>
                </a:pPr>
                <a:r>
                  <a:rPr lang="vi-VN" dirty="0">
                    <a:latin typeface="+mj-lt"/>
                  </a:rPr>
                  <a:t>Điểm yếu của CFSFDP không phải là việc quan sát biểu đồ, mà là việc người dùng phải tự tìm đường đến một biểu đồ đúng bằng cách thử sai tham số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vi-VN" dirty="0">
                    <a:latin typeface="+mj-lt"/>
                  </a:rPr>
                  <a:t>.</a:t>
                </a:r>
              </a:p>
            </p:txBody>
          </p:sp>
        </mc:Choice>
        <mc:Fallback xmlns="">
          <p:sp>
            <p:nvSpPr>
              <p:cNvPr id="7" name="TextBox 5">
                <a:extLst>
                  <a:ext uri="{FF2B5EF4-FFF2-40B4-BE49-F238E27FC236}">
                    <a16:creationId xmlns:a16="http://schemas.microsoft.com/office/drawing/2014/main" id="{600ECAD4-2CC6-FD8B-CCD2-D4355B16BF08}"/>
                  </a:ext>
                </a:extLst>
              </p:cNvPr>
              <p:cNvSpPr txBox="1">
                <a:spLocks noRot="1" noChangeAspect="1" noMove="1" noResize="1" noEditPoints="1" noAdjustHandles="1" noChangeArrowheads="1" noChangeShapeType="1" noTextEdit="1"/>
              </p:cNvSpPr>
              <p:nvPr/>
            </p:nvSpPr>
            <p:spPr>
              <a:xfrm>
                <a:off x="1079998" y="2417222"/>
                <a:ext cx="10059949" cy="2950744"/>
              </a:xfrm>
              <a:prstGeom prst="rect">
                <a:avLst/>
              </a:prstGeom>
              <a:blipFill>
                <a:blip r:embed="rId2"/>
                <a:stretch>
                  <a:fillRect l="-364" r="-545" b="-2479"/>
                </a:stretch>
              </a:blipFill>
            </p:spPr>
            <p:txBody>
              <a:bodyPr/>
              <a:lstStyle/>
              <a:p>
                <a:r>
                  <a:rPr lang="en-US">
                    <a:noFill/>
                  </a:rPr>
                  <a:t> </a:t>
                </a:r>
              </a:p>
            </p:txBody>
          </p:sp>
        </mc:Fallback>
      </mc:AlternateContent>
    </p:spTree>
    <p:extLst>
      <p:ext uri="{BB962C8B-B14F-4D97-AF65-F5344CB8AC3E}">
        <p14:creationId xmlns:p14="http://schemas.microsoft.com/office/powerpoint/2010/main" val="1336342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B21EE7-AB6C-3E94-19BB-7BD06F7B0977}"/>
              </a:ext>
            </a:extLst>
          </p:cNvPr>
          <p:cNvSpPr>
            <a:spLocks noGrp="1"/>
          </p:cNvSpPr>
          <p:nvPr>
            <p:ph type="sldNum" sz="quarter" idx="12"/>
          </p:nvPr>
        </p:nvSpPr>
        <p:spPr/>
        <p:txBody>
          <a:bodyPr/>
          <a:lstStyle/>
          <a:p>
            <a:fld id="{9B618960-8005-486C-9A75-10CB2AAC16F9}" type="slidenum">
              <a:rPr lang="en-US" smtClean="0"/>
              <a:t>23</a:t>
            </a:fld>
            <a:endParaRPr lang="en-US"/>
          </a:p>
        </p:txBody>
      </p:sp>
      <p:sp>
        <p:nvSpPr>
          <p:cNvPr id="5" name="TextBox 3">
            <a:extLst>
              <a:ext uri="{FF2B5EF4-FFF2-40B4-BE49-F238E27FC236}">
                <a16:creationId xmlns:a16="http://schemas.microsoft.com/office/drawing/2014/main" id="{63DEFA4F-E8AB-15E9-711C-414B7C72410B}"/>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5500C31E-4D4B-91C2-6F27-C84CD6E0C1F6}"/>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CÁC KHÁI NIỆM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6CF1B904-B4E2-D13E-FB20-9D96B15B8A7E}"/>
                  </a:ext>
                </a:extLst>
              </p:cNvPr>
              <p:cNvSpPr txBox="1"/>
              <p:nvPr/>
            </p:nvSpPr>
            <p:spPr>
              <a:xfrm>
                <a:off x="1079998" y="2417222"/>
                <a:ext cx="9479847" cy="295106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Entropy:</a:t>
                </a:r>
              </a:p>
              <a:p>
                <a:pPr marL="285750" lvl="0" indent="-285750" algn="just">
                  <a:lnSpc>
                    <a:spcPct val="150000"/>
                  </a:lnSpc>
                  <a:buFontTx/>
                  <a:buChar char="-"/>
                </a:pPr>
                <a:r>
                  <a:rPr lang="vi-VN" dirty="0">
                    <a:latin typeface="+mj-lt"/>
                  </a:rPr>
                  <a:t>Trong lý thuyết thông tin, Entropy là thước đo độ hỗn loạn hoặc độ bất định của một hệ thống.</a:t>
                </a:r>
                <a:endParaRPr lang="en-US" dirty="0">
                  <a:latin typeface="+mj-lt"/>
                </a:endParaRPr>
              </a:p>
              <a:p>
                <a:pPr marL="285750" lvl="0" indent="-285750" algn="just">
                  <a:lnSpc>
                    <a:spcPct val="150000"/>
                  </a:lnSpc>
                  <a:buFontTx/>
                  <a:buChar char="-"/>
                </a:pPr>
                <a:r>
                  <a:rPr lang="vi-VN" dirty="0">
                    <a:latin typeface="+mj-lt"/>
                  </a:rPr>
                  <a:t>Đối với thuật toán đỉnh mật độ, nếu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𝑑</m:t>
                        </m:r>
                      </m:e>
                      <m:sub>
                        <m:r>
                          <a:rPr lang="en-US" i="1" smtClean="0">
                            <a:latin typeface="Cambria Math" panose="02040503050406030204" pitchFamily="18" charset="0"/>
                          </a:rPr>
                          <m:t>𝑐</m:t>
                        </m:r>
                      </m:sub>
                    </m:sSub>
                  </m:oMath>
                </a14:m>
                <a:r>
                  <a:rPr lang="vi-VN" dirty="0">
                    <a:latin typeface="+mj-lt"/>
                  </a:rPr>
                  <a:t> được chọn sai, hệ thống sẽ hỗn loạn, các điểm có mật độ sàn sàn như nhau, không có sự phân hóa rõ rệt giữa tâm cụm và các điểm còn lại. Entropy lúc này sẽ cao.</a:t>
                </a:r>
                <a:endParaRPr lang="en-US" dirty="0">
                  <a:latin typeface="+mj-lt"/>
                </a:endParaRPr>
              </a:p>
              <a:p>
                <a:pPr marL="285750" indent="-285750" algn="just">
                  <a:lnSpc>
                    <a:spcPct val="150000"/>
                  </a:lnSpc>
                  <a:buFontTx/>
                  <a:buChar char="-"/>
                </a:pPr>
                <a:r>
                  <a:rPr lang="vi-VN" dirty="0">
                    <a:latin typeface="+mj-lt"/>
                  </a:rPr>
                  <a:t>Nếu </a:t>
                </a:r>
                <a14:m>
                  <m:oMath xmlns:m="http://schemas.openxmlformats.org/officeDocument/2006/math">
                    <m:sSub>
                      <m:sSubPr>
                        <m:ctrlPr>
                          <a:rPr lang="vi-VN"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𝑐</m:t>
                        </m:r>
                      </m:sub>
                    </m:sSub>
                  </m:oMath>
                </a14:m>
                <a:r>
                  <a:rPr lang="vi-VN" dirty="0">
                    <a:latin typeface="+mj-lt"/>
                  </a:rPr>
                  <a:t> được chọn đúng, hệ thống trở nên trật tự. Mật độ tập trung cực cao tại một số điểm (tâm cụm) và rất thấp ở những nơi khác. Sự tương phản này làm cho Entropy đạt giá trị cực tiểu.</a:t>
                </a:r>
              </a:p>
            </p:txBody>
          </p:sp>
        </mc:Choice>
        <mc:Fallback xmlns="">
          <p:sp>
            <p:nvSpPr>
              <p:cNvPr id="7" name="TextBox 5">
                <a:extLst>
                  <a:ext uri="{FF2B5EF4-FFF2-40B4-BE49-F238E27FC236}">
                    <a16:creationId xmlns:a16="http://schemas.microsoft.com/office/drawing/2014/main" id="{6CF1B904-B4E2-D13E-FB20-9D96B15B8A7E}"/>
                  </a:ext>
                </a:extLst>
              </p:cNvPr>
              <p:cNvSpPr txBox="1">
                <a:spLocks noRot="1" noChangeAspect="1" noMove="1" noResize="1" noEditPoints="1" noAdjustHandles="1" noChangeArrowheads="1" noChangeShapeType="1" noTextEdit="1"/>
              </p:cNvSpPr>
              <p:nvPr/>
            </p:nvSpPr>
            <p:spPr>
              <a:xfrm>
                <a:off x="1079998" y="2417222"/>
                <a:ext cx="9479847" cy="2951064"/>
              </a:xfrm>
              <a:prstGeom prst="rect">
                <a:avLst/>
              </a:prstGeom>
              <a:blipFill>
                <a:blip r:embed="rId2"/>
                <a:stretch>
                  <a:fillRect l="-386" r="-579" b="-2479"/>
                </a:stretch>
              </a:blipFill>
            </p:spPr>
            <p:txBody>
              <a:bodyPr/>
              <a:lstStyle/>
              <a:p>
                <a:r>
                  <a:rPr lang="en-US">
                    <a:noFill/>
                  </a:rPr>
                  <a:t> </a:t>
                </a:r>
              </a:p>
            </p:txBody>
          </p:sp>
        </mc:Fallback>
      </mc:AlternateContent>
    </p:spTree>
    <p:extLst>
      <p:ext uri="{BB962C8B-B14F-4D97-AF65-F5344CB8AC3E}">
        <p14:creationId xmlns:p14="http://schemas.microsoft.com/office/powerpoint/2010/main" val="2516626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887121-237D-EE7F-477E-55F9D7DC1737}"/>
              </a:ext>
            </a:extLst>
          </p:cNvPr>
          <p:cNvSpPr>
            <a:spLocks noGrp="1"/>
          </p:cNvSpPr>
          <p:nvPr>
            <p:ph type="sldNum" sz="quarter" idx="12"/>
          </p:nvPr>
        </p:nvSpPr>
        <p:spPr/>
        <p:txBody>
          <a:bodyPr/>
          <a:lstStyle/>
          <a:p>
            <a:fld id="{9B618960-8005-486C-9A75-10CB2AAC16F9}" type="slidenum">
              <a:rPr lang="en-US" smtClean="0"/>
              <a:t>24</a:t>
            </a:fld>
            <a:endParaRPr lang="en-US"/>
          </a:p>
        </p:txBody>
      </p:sp>
      <p:sp>
        <p:nvSpPr>
          <p:cNvPr id="5" name="TextBox 3">
            <a:extLst>
              <a:ext uri="{FF2B5EF4-FFF2-40B4-BE49-F238E27FC236}">
                <a16:creationId xmlns:a16="http://schemas.microsoft.com/office/drawing/2014/main" id="{0CF5B5C7-C1D6-CB5A-13FE-0EB4A8E61E63}"/>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482C4C72-DA3B-813F-6DDC-F9DACA2BD3A9}"/>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MỤC TIÊU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A25D6F88-E69F-0D87-7413-25D7AB5D79B6}"/>
                  </a:ext>
                </a:extLst>
              </p:cNvPr>
              <p:cNvSpPr txBox="1"/>
              <p:nvPr/>
            </p:nvSpPr>
            <p:spPr>
              <a:xfrm>
                <a:off x="1079998" y="2417222"/>
                <a:ext cx="9479847" cy="212006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Mục tiêu của CSDPPO:</a:t>
                </a:r>
              </a:p>
              <a:p>
                <a:pPr marL="285750" lvl="0" indent="-285750" algn="just">
                  <a:lnSpc>
                    <a:spcPct val="150000"/>
                  </a:lnSpc>
                  <a:buFontTx/>
                  <a:buChar char="-"/>
                </a:pPr>
                <a:r>
                  <a:rPr lang="vi-VN" dirty="0">
                    <a:latin typeface="+mj-lt"/>
                  </a:rPr>
                  <a:t>Thay thế việc chọn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vi-VN" dirty="0">
                    <a:latin typeface="+mj-lt"/>
                  </a:rPr>
                  <a:t> thủ công bằng một bài toán tối ưu hóa: Tìm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vi-VN" dirty="0">
                    <a:latin typeface="+mj-lt"/>
                  </a:rPr>
                  <a:t> để cực tiểu hóa hàm Entropy mật độ.</a:t>
                </a:r>
                <a:endParaRPr lang="en-US" dirty="0">
                  <a:latin typeface="+mj-lt"/>
                </a:endParaRPr>
              </a:p>
              <a:p>
                <a:pPr marL="285750" lvl="0" indent="-285750" algn="just">
                  <a:lnSpc>
                    <a:spcPct val="150000"/>
                  </a:lnSpc>
                  <a:buFontTx/>
                  <a:buChar char="-"/>
                </a:pPr>
                <a:r>
                  <a:rPr lang="vi-VN" dirty="0">
                    <a:latin typeface="+mj-lt"/>
                  </a:rPr>
                  <a:t>Khi Entropy nhỏ nhất, cấu trúc cụm xuất hiện rõ ràng nhất trên biểu đồ quyết định, giúp việc nhận diện tâm cụm trở nên khách quan và chính xác.</a:t>
                </a:r>
              </a:p>
            </p:txBody>
          </p:sp>
        </mc:Choice>
        <mc:Fallback xmlns="">
          <p:sp>
            <p:nvSpPr>
              <p:cNvPr id="7" name="TextBox 5">
                <a:extLst>
                  <a:ext uri="{FF2B5EF4-FFF2-40B4-BE49-F238E27FC236}">
                    <a16:creationId xmlns:a16="http://schemas.microsoft.com/office/drawing/2014/main" id="{A25D6F88-E69F-0D87-7413-25D7AB5D79B6}"/>
                  </a:ext>
                </a:extLst>
              </p:cNvPr>
              <p:cNvSpPr txBox="1">
                <a:spLocks noRot="1" noChangeAspect="1" noMove="1" noResize="1" noEditPoints="1" noAdjustHandles="1" noChangeArrowheads="1" noChangeShapeType="1" noTextEdit="1"/>
              </p:cNvSpPr>
              <p:nvPr/>
            </p:nvSpPr>
            <p:spPr>
              <a:xfrm>
                <a:off x="1079998" y="2417222"/>
                <a:ext cx="9479847" cy="2120068"/>
              </a:xfrm>
              <a:prstGeom prst="rect">
                <a:avLst/>
              </a:prstGeom>
              <a:blipFill>
                <a:blip r:embed="rId2"/>
                <a:stretch>
                  <a:fillRect l="-386" r="-579" b="-4035"/>
                </a:stretch>
              </a:blipFill>
            </p:spPr>
            <p:txBody>
              <a:bodyPr/>
              <a:lstStyle/>
              <a:p>
                <a:r>
                  <a:rPr lang="en-US">
                    <a:noFill/>
                  </a:rPr>
                  <a:t> </a:t>
                </a:r>
              </a:p>
            </p:txBody>
          </p:sp>
        </mc:Fallback>
      </mc:AlternateContent>
    </p:spTree>
    <p:extLst>
      <p:ext uri="{BB962C8B-B14F-4D97-AF65-F5344CB8AC3E}">
        <p14:creationId xmlns:p14="http://schemas.microsoft.com/office/powerpoint/2010/main" val="3332656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ABDBCE-C103-E3BC-F5E3-36D7F30F523B}"/>
              </a:ext>
            </a:extLst>
          </p:cNvPr>
          <p:cNvSpPr>
            <a:spLocks noGrp="1"/>
          </p:cNvSpPr>
          <p:nvPr>
            <p:ph type="sldNum" sz="quarter" idx="12"/>
          </p:nvPr>
        </p:nvSpPr>
        <p:spPr/>
        <p:txBody>
          <a:bodyPr/>
          <a:lstStyle/>
          <a:p>
            <a:fld id="{9B618960-8005-486C-9A75-10CB2AAC16F9}" type="slidenum">
              <a:rPr lang="en-US" smtClean="0"/>
              <a:t>25</a:t>
            </a:fld>
            <a:endParaRPr lang="en-US"/>
          </a:p>
        </p:txBody>
      </p:sp>
      <p:sp>
        <p:nvSpPr>
          <p:cNvPr id="5" name="TextBox 3">
            <a:extLst>
              <a:ext uri="{FF2B5EF4-FFF2-40B4-BE49-F238E27FC236}">
                <a16:creationId xmlns:a16="http://schemas.microsoft.com/office/drawing/2014/main" id="{3874A49B-5E61-6906-EF70-90B0AF7E963A}"/>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2B99FCB5-43CD-C3FC-9FB3-7239AFBFE944}"/>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CÔNG THỨC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8E4DEFFB-9104-7B41-DA7C-FEB1221D712E}"/>
                  </a:ext>
                </a:extLst>
              </p:cNvPr>
              <p:cNvSpPr txBox="1"/>
              <p:nvPr/>
            </p:nvSpPr>
            <p:spPr>
              <a:xfrm>
                <a:off x="1079998" y="2417222"/>
                <a:ext cx="9479847" cy="424936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Quy trình tối ưu hóa tham số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vi-VN" dirty="0">
                    <a:latin typeface="+mj-lt"/>
                  </a:rPr>
                  <a:t> tự động</a:t>
                </a:r>
              </a:p>
              <a:p>
                <a:pPr algn="just">
                  <a:lnSpc>
                    <a:spcPct val="150000"/>
                  </a:lnSpc>
                </a:pPr>
                <a:r>
                  <a:rPr lang="vi-VN" dirty="0">
                    <a:latin typeface="+mj-lt"/>
                  </a:rPr>
                  <a:t>Bước 1: Thiết lập dải thử nghiệm</a:t>
                </a:r>
              </a:p>
              <a:p>
                <a:pPr marL="285750" indent="-285750" algn="just">
                  <a:lnSpc>
                    <a:spcPct val="150000"/>
                  </a:lnSpc>
                  <a:buFontTx/>
                  <a:buChar char="-"/>
                </a:pPr>
                <a:r>
                  <a:rPr lang="vi-VN" dirty="0">
                    <a:latin typeface="+mj-lt"/>
                  </a:rPr>
                  <a:t>Thuật toán sẽ không chỉ thử một giá trị mà sẽ quét qua một dải tỷ lệ lân cận trung bình </a:t>
                </a:r>
                <a14:m>
                  <m:oMath xmlns:m="http://schemas.openxmlformats.org/officeDocument/2006/math">
                    <m:r>
                      <a:rPr lang="vi-VN" i="1">
                        <a:latin typeface="Cambria Math" panose="02040503050406030204" pitchFamily="18" charset="0"/>
                      </a:rPr>
                      <m:t>𝑝</m:t>
                    </m:r>
                  </m:oMath>
                </a14:m>
                <a:r>
                  <a:rPr lang="vi-VN" dirty="0">
                    <a:latin typeface="+mj-lt"/>
                  </a:rPr>
                  <a:t>, ví dụ từ 0.1% đến 10% (đây là dải bao phủ hầu hết các khả năng của các bộ dữ liệu thực tế).</a:t>
                </a:r>
              </a:p>
              <a:p>
                <a:pPr marL="285750" indent="-285750" algn="just">
                  <a:lnSpc>
                    <a:spcPct val="150000"/>
                  </a:lnSpc>
                  <a:buFontTx/>
                  <a:buChar char="-"/>
                </a:pPr>
                <a:r>
                  <a:rPr lang="vi-VN" dirty="0">
                    <a:latin typeface="+mj-lt"/>
                  </a:rPr>
                  <a:t>Với mỗi giá trị </a:t>
                </a:r>
                <a14:m>
                  <m:oMath xmlns:m="http://schemas.openxmlformats.org/officeDocument/2006/math">
                    <m:r>
                      <a:rPr lang="vi-VN" i="1">
                        <a:latin typeface="Cambria Math" panose="02040503050406030204" pitchFamily="18" charset="0"/>
                      </a:rPr>
                      <m:t>𝑝</m:t>
                    </m:r>
                  </m:oMath>
                </a14:m>
                <a:r>
                  <a:rPr lang="vi-VN" dirty="0">
                    <a:latin typeface="+mj-lt"/>
                  </a:rPr>
                  <a:t> trong dải này, ta xác định được một giá trị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vi-VN" dirty="0">
                    <a:latin typeface="+mj-lt"/>
                  </a:rPr>
                  <a:t> tương ứng.</a:t>
                </a:r>
              </a:p>
              <a:p>
                <a:pPr algn="just">
                  <a:lnSpc>
                    <a:spcPct val="150000"/>
                  </a:lnSpc>
                </a:pPr>
                <a:r>
                  <a:rPr lang="vi-VN" dirty="0">
                    <a:latin typeface="+mj-lt"/>
                  </a:rPr>
                  <a:t>Bước 2: Quá trình tính toán lặp và tìm cực tiểu</a:t>
                </a:r>
              </a:p>
              <a:p>
                <a:pPr marL="285750" indent="-285750" algn="just">
                  <a:lnSpc>
                    <a:spcPct val="150000"/>
                  </a:lnSpc>
                  <a:buFontTx/>
                  <a:buChar char="-"/>
                </a:pPr>
                <a:r>
                  <a:rPr lang="vi-VN" dirty="0">
                    <a:latin typeface="+mj-lt"/>
                  </a:rPr>
                  <a:t>Với mỗi </a:t>
                </a: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𝑐</m:t>
                        </m:r>
                      </m:sub>
                    </m:sSub>
                  </m:oMath>
                </a14:m>
                <a:r>
                  <a:rPr lang="vi-VN" dirty="0">
                    <a:latin typeface="+mj-lt"/>
                  </a:rPr>
                  <a:t> được lấy ra từ dải quét</a:t>
                </a:r>
              </a:p>
              <a:p>
                <a:pPr marL="742950" lvl="1" indent="-285750" algn="just">
                  <a:lnSpc>
                    <a:spcPct val="150000"/>
                  </a:lnSpc>
                  <a:buFont typeface="Courier New" panose="02070309020205020404" pitchFamily="49" charset="0"/>
                  <a:buChar char="o"/>
                </a:pPr>
                <a:r>
                  <a:rPr lang="vi-VN" dirty="0">
                    <a:latin typeface="+mj-lt"/>
                  </a:rPr>
                  <a:t>Tính mật độ cục bộ </a:t>
                </a:r>
                <a14:m>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oMath>
                </a14:m>
                <a:r>
                  <a:rPr lang="vi-VN" dirty="0">
                    <a:latin typeface="+mj-lt"/>
                  </a:rPr>
                  <a:t> cho tất cả các điểm</a:t>
                </a:r>
              </a:p>
              <a:p>
                <a:pPr marL="742950" lvl="1" indent="-285750" algn="just">
                  <a:lnSpc>
                    <a:spcPct val="150000"/>
                  </a:lnSpc>
                  <a:buFont typeface="Courier New" panose="02070309020205020404" pitchFamily="49" charset="0"/>
                  <a:buChar char="o"/>
                </a:pPr>
                <a:r>
                  <a:rPr lang="vi-VN" dirty="0">
                    <a:latin typeface="+mj-lt"/>
                  </a:rPr>
                  <a:t>Tính xác suất mật độ </a:t>
                </a:r>
                <a14:m>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𝑃</m:t>
                        </m:r>
                      </m:e>
                      <m:sub>
                        <m:r>
                          <a:rPr lang="vi-VN" i="1">
                            <a:latin typeface="Cambria Math" panose="02040503050406030204" pitchFamily="18" charset="0"/>
                          </a:rPr>
                          <m:t>𝑖</m:t>
                        </m:r>
                      </m:sub>
                    </m:sSub>
                  </m:oMath>
                </a14:m>
                <a:endParaRPr lang="vi-VN" i="1" dirty="0">
                  <a:latin typeface="+mj-lt"/>
                </a:endParaRPr>
              </a:p>
              <a:p>
                <a:pPr marL="742950" lvl="1" indent="-285750" algn="just">
                  <a:lnSpc>
                    <a:spcPct val="150000"/>
                  </a:lnSpc>
                  <a:buFont typeface="Courier New" panose="02070309020205020404" pitchFamily="49" charset="0"/>
                  <a:buChar char="o"/>
                </a:pPr>
                <a:r>
                  <a:rPr lang="vi-VN" dirty="0">
                    <a:latin typeface="+mj-lt"/>
                  </a:rPr>
                  <a:t>Tính giá trị Entropy </a:t>
                </a:r>
                <a14:m>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𝐻</m:t>
                        </m:r>
                      </m:e>
                      <m:sub>
                        <m:d>
                          <m:dPr>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e>
                        </m:d>
                      </m:sub>
                    </m:sSub>
                  </m:oMath>
                </a14:m>
                <a:endParaRPr lang="vi-VN" i="1" dirty="0">
                  <a:latin typeface="+mj-lt"/>
                </a:endParaRPr>
              </a:p>
            </p:txBody>
          </p:sp>
        </mc:Choice>
        <mc:Fallback xmlns="">
          <p:sp>
            <p:nvSpPr>
              <p:cNvPr id="7" name="TextBox 5">
                <a:extLst>
                  <a:ext uri="{FF2B5EF4-FFF2-40B4-BE49-F238E27FC236}">
                    <a16:creationId xmlns:a16="http://schemas.microsoft.com/office/drawing/2014/main" id="{8E4DEFFB-9104-7B41-DA7C-FEB1221D712E}"/>
                  </a:ext>
                </a:extLst>
              </p:cNvPr>
              <p:cNvSpPr txBox="1">
                <a:spLocks noRot="1" noChangeAspect="1" noMove="1" noResize="1" noEditPoints="1" noAdjustHandles="1" noChangeArrowheads="1" noChangeShapeType="1" noTextEdit="1"/>
              </p:cNvSpPr>
              <p:nvPr/>
            </p:nvSpPr>
            <p:spPr>
              <a:xfrm>
                <a:off x="1079998" y="2417222"/>
                <a:ext cx="9479847" cy="4249368"/>
              </a:xfrm>
              <a:prstGeom prst="rect">
                <a:avLst/>
              </a:prstGeom>
              <a:blipFill>
                <a:blip r:embed="rId2"/>
                <a:stretch>
                  <a:fillRect l="-514" r="-579" b="-717"/>
                </a:stretch>
              </a:blipFill>
            </p:spPr>
            <p:txBody>
              <a:bodyPr/>
              <a:lstStyle/>
              <a:p>
                <a:r>
                  <a:rPr lang="en-US">
                    <a:noFill/>
                  </a:rPr>
                  <a:t> </a:t>
                </a:r>
              </a:p>
            </p:txBody>
          </p:sp>
        </mc:Fallback>
      </mc:AlternateContent>
    </p:spTree>
    <p:extLst>
      <p:ext uri="{BB962C8B-B14F-4D97-AF65-F5344CB8AC3E}">
        <p14:creationId xmlns:p14="http://schemas.microsoft.com/office/powerpoint/2010/main" val="1553499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257AA2-BE66-3F49-8AD7-4C86CF8648D0}"/>
              </a:ext>
            </a:extLst>
          </p:cNvPr>
          <p:cNvSpPr>
            <a:spLocks noGrp="1"/>
          </p:cNvSpPr>
          <p:nvPr>
            <p:ph type="sldNum" sz="quarter" idx="12"/>
          </p:nvPr>
        </p:nvSpPr>
        <p:spPr/>
        <p:txBody>
          <a:bodyPr/>
          <a:lstStyle/>
          <a:p>
            <a:fld id="{9B618960-8005-486C-9A75-10CB2AAC16F9}" type="slidenum">
              <a:rPr lang="en-US" smtClean="0"/>
              <a:t>26</a:t>
            </a:fld>
            <a:endParaRPr lang="en-US"/>
          </a:p>
        </p:txBody>
      </p:sp>
      <p:sp>
        <p:nvSpPr>
          <p:cNvPr id="5" name="TextBox 3">
            <a:extLst>
              <a:ext uri="{FF2B5EF4-FFF2-40B4-BE49-F238E27FC236}">
                <a16:creationId xmlns:a16="http://schemas.microsoft.com/office/drawing/2014/main" id="{B486E08A-347D-93CA-1B4F-8FD9666DA57C}"/>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98AB6CBD-06AB-2EFF-F3FE-4905F34D60E0}"/>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CÔNG THỨC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1EA989A0-AFD5-0971-A648-2C392DF7EAA5}"/>
                  </a:ext>
                </a:extLst>
              </p:cNvPr>
              <p:cNvSpPr txBox="1"/>
              <p:nvPr/>
            </p:nvSpPr>
            <p:spPr>
              <a:xfrm>
                <a:off x="1079998" y="2417222"/>
                <a:ext cx="9479847" cy="374467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Công thức tính Entropy</a:t>
                </a:r>
              </a:p>
              <a:p>
                <a:pPr algn="just">
                  <a:lnSpc>
                    <a:spcPct val="150000"/>
                  </a:lnSpc>
                </a:pPr>
                <a:r>
                  <a:rPr lang="vi-VN" dirty="0">
                    <a:latin typeface="+mj-lt"/>
                  </a:rPr>
                  <a:t>1. Tính mật độ cục bộ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oMath>
                </a14:m>
                <a:r>
                  <a:rPr lang="vi-VN" dirty="0">
                    <a:latin typeface="+mj-lt"/>
                  </a:rPr>
                  <a:t> cho tất cả các điểm</a:t>
                </a:r>
              </a:p>
              <a:p>
                <a:pPr marL="285750" indent="-285750" algn="just">
                  <a:lnSpc>
                    <a:spcPct val="150000"/>
                  </a:lnSpc>
                  <a:buFontTx/>
                  <a:buChar char="-"/>
                </a:pPr>
                <a:r>
                  <a:rPr lang="vi-VN" dirty="0">
                    <a:latin typeface="+mj-lt"/>
                  </a:rPr>
                  <a:t>Dùng Gaussian kernel</a:t>
                </a:r>
              </a:p>
              <a:p>
                <a:pPr algn="just">
                  <a:lnSpc>
                    <a:spcPct val="150000"/>
                  </a:lnSpc>
                </a:pPr>
                <a:r>
                  <a:rPr lang="vi-VN"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𝑖</m:t>
                        </m:r>
                      </m:sub>
                    </m:sSub>
                    <m:r>
                      <a:rPr lang="vi-VN" i="1">
                        <a:latin typeface="Cambria Math" panose="02040503050406030204" pitchFamily="18" charset="0"/>
                      </a:rPr>
                      <m:t>=</m:t>
                    </m:r>
                    <m:nary>
                      <m:naryPr>
                        <m:chr m:val="∑"/>
                        <m:supHide m:val="on"/>
                        <m:ctrlPr>
                          <a:rPr lang="vi-VN" i="1">
                            <a:latin typeface="Cambria Math" panose="02040503050406030204" pitchFamily="18" charset="0"/>
                          </a:rPr>
                        </m:ctrlPr>
                      </m:naryPr>
                      <m:sub>
                        <m:r>
                          <m:rPr>
                            <m:brk m:alnAt="7"/>
                          </m:rPr>
                          <a:rPr lang="vi-VN" i="1">
                            <a:latin typeface="Cambria Math" panose="02040503050406030204" pitchFamily="18" charset="0"/>
                          </a:rPr>
                          <m:t>𝑗</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𝑖</m:t>
                        </m:r>
                      </m:sub>
                      <m:sup/>
                      <m:e>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𝑒</m:t>
                            </m:r>
                          </m:e>
                          <m:sup>
                            <m:sSup>
                              <m:sSupPr>
                                <m:ctrlPr>
                                  <a:rPr lang="vi-VN"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m:t>
                                </m:r>
                                <m:f>
                                  <m:fPr>
                                    <m:ctrlPr>
                                      <a:rPr lang="vi-VN" i="1">
                                        <a:latin typeface="Cambria Math" panose="02040503050406030204" pitchFamily="18" charset="0"/>
                                        <a:ea typeface="Cambria Math" panose="02040503050406030204" pitchFamily="18" charset="0"/>
                                      </a:rPr>
                                    </m:ctrlPr>
                                  </m:fPr>
                                  <m:num>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𝑖𝑗</m:t>
                                        </m:r>
                                      </m:sub>
                                    </m:sSub>
                                  </m:num>
                                  <m:den>
                                    <m:sSub>
                                      <m:sSubPr>
                                        <m:ctrlPr>
                                          <a:rPr lang="vi-VN"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𝑑</m:t>
                                        </m:r>
                                      </m:e>
                                      <m:sub>
                                        <m:r>
                                          <a:rPr lang="vi-VN" i="1">
                                            <a:latin typeface="Cambria Math" panose="02040503050406030204" pitchFamily="18" charset="0"/>
                                            <a:ea typeface="Cambria Math" panose="02040503050406030204" pitchFamily="18" charset="0"/>
                                          </a:rPr>
                                          <m:t>𝑐</m:t>
                                        </m:r>
                                      </m:sub>
                                    </m:sSub>
                                  </m:den>
                                </m:f>
                                <m:r>
                                  <a:rPr lang="vi-VN" i="1">
                                    <a:latin typeface="Cambria Math" panose="02040503050406030204" pitchFamily="18" charset="0"/>
                                    <a:ea typeface="Cambria Math" panose="02040503050406030204" pitchFamily="18" charset="0"/>
                                  </a:rPr>
                                  <m:t>)</m:t>
                                </m:r>
                              </m:e>
                              <m:sup>
                                <m:r>
                                  <a:rPr lang="vi-VN" i="1">
                                    <a:latin typeface="Cambria Math" panose="02040503050406030204" pitchFamily="18" charset="0"/>
                                    <a:ea typeface="Cambria Math" panose="02040503050406030204" pitchFamily="18" charset="0"/>
                                  </a:rPr>
                                  <m:t>2</m:t>
                                </m:r>
                              </m:sup>
                            </m:sSup>
                          </m:sup>
                        </m:sSup>
                      </m:e>
                    </m:nary>
                  </m:oMath>
                </a14:m>
                <a:r>
                  <a:rPr lang="vi-VN" dirty="0">
                    <a:latin typeface="+mj-lt"/>
                  </a:rPr>
                  <a:t> </a:t>
                </a:r>
              </a:p>
              <a:p>
                <a:pPr algn="just">
                  <a:lnSpc>
                    <a:spcPct val="150000"/>
                  </a:lnSpc>
                </a:pPr>
                <a:r>
                  <a:rPr lang="vi-VN" dirty="0">
                    <a:latin typeface="+mj-lt"/>
                  </a:rPr>
                  <a:t>2. Tính xác suất mật độ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𝑃</m:t>
                        </m:r>
                      </m:e>
                      <m:sub>
                        <m:r>
                          <a:rPr lang="vi-VN" i="1">
                            <a:latin typeface="Cambria Math" panose="02040503050406030204" pitchFamily="18" charset="0"/>
                          </a:rPr>
                          <m:t>𝑖</m:t>
                        </m:r>
                      </m:sub>
                    </m:sSub>
                  </m:oMath>
                </a14:m>
                <a:endParaRPr lang="vi-VN" i="1" dirty="0">
                  <a:latin typeface="+mj-l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𝑃</m:t>
                          </m:r>
                        </m:e>
                        <m:sub>
                          <m:r>
                            <a:rPr lang="vi-VN" i="1">
                              <a:latin typeface="Cambria Math" panose="02040503050406030204" pitchFamily="18" charset="0"/>
                            </a:rPr>
                            <m:t>𝑖</m:t>
                          </m:r>
                        </m:sub>
                      </m:sSub>
                      <m:r>
                        <a:rPr lang="vi-VN" i="1" smtClean="0">
                          <a:latin typeface="Cambria Math" panose="02040503050406030204" pitchFamily="18" charset="0"/>
                          <a:ea typeface="Cambria Math" panose="02040503050406030204" pitchFamily="18" charset="0"/>
                        </a:rPr>
                        <m:t>=</m:t>
                      </m:r>
                      <m:f>
                        <m:fPr>
                          <m:ctrlPr>
                            <a:rPr lang="vi-VN" i="1" smtClean="0">
                              <a:latin typeface="Cambria Math" panose="02040503050406030204" pitchFamily="18" charset="0"/>
                              <a:ea typeface="Cambria Math" panose="02040503050406030204" pitchFamily="18" charset="0"/>
                            </a:rPr>
                          </m:ctrlPr>
                        </m:fPr>
                        <m:num>
                          <m:sSub>
                            <m:sSubPr>
                              <m:ctrlPr>
                                <a:rPr lang="vi-VN" i="1" smtClean="0">
                                  <a:latin typeface="Cambria Math" panose="02040503050406030204" pitchFamily="18" charset="0"/>
                                  <a:ea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ea typeface="Cambria Math" panose="02040503050406030204" pitchFamily="18" charset="0"/>
                                </a:rPr>
                                <m:t>𝑖</m:t>
                              </m:r>
                            </m:sub>
                          </m:sSub>
                        </m:num>
                        <m:den>
                          <m:nary>
                            <m:naryPr>
                              <m:chr m:val="∑"/>
                              <m:ctrlPr>
                                <a:rPr lang="vi-VN" i="1" smtClean="0">
                                  <a:latin typeface="Cambria Math" panose="02040503050406030204" pitchFamily="18" charset="0"/>
                                  <a:ea typeface="Cambria Math" panose="02040503050406030204" pitchFamily="18" charset="0"/>
                                </a:rPr>
                              </m:ctrlPr>
                            </m:naryPr>
                            <m:sub>
                              <m:r>
                                <m:rPr>
                                  <m:brk m:alnAt="23"/>
                                </m:rPr>
                                <a:rPr lang="vi-VN" i="1">
                                  <a:latin typeface="Cambria Math" panose="02040503050406030204" pitchFamily="18" charset="0"/>
                                  <a:ea typeface="Cambria Math" panose="02040503050406030204" pitchFamily="18" charset="0"/>
                                </a:rPr>
                                <m:t>𝑗</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sub>
                            <m:sup>
                              <m:r>
                                <a:rPr lang="vi-VN" i="1">
                                  <a:latin typeface="Cambria Math" panose="02040503050406030204" pitchFamily="18" charset="0"/>
                                  <a:ea typeface="Cambria Math" panose="02040503050406030204" pitchFamily="18" charset="0"/>
                                </a:rPr>
                                <m:t>𝑁</m:t>
                              </m:r>
                            </m:sup>
                            <m:e>
                              <m:sSub>
                                <m:sSubPr>
                                  <m:ctrlPr>
                                    <a:rPr lang="vi-VN" i="1" smtClean="0">
                                      <a:latin typeface="Cambria Math" panose="02040503050406030204" pitchFamily="18" charset="0"/>
                                      <a:ea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ea typeface="Cambria Math" panose="02040503050406030204" pitchFamily="18" charset="0"/>
                                    </a:rPr>
                                    <m:t>𝑗</m:t>
                                  </m:r>
                                </m:sub>
                              </m:sSub>
                            </m:e>
                          </m:nary>
                        </m:den>
                      </m:f>
                    </m:oMath>
                  </m:oMathPara>
                </a14:m>
                <a:endParaRPr lang="vi-VN" i="1" dirty="0">
                  <a:latin typeface="+mj-lt"/>
                </a:endParaRPr>
              </a:p>
              <a:p>
                <a:pPr algn="just">
                  <a:lnSpc>
                    <a:spcPct val="150000"/>
                  </a:lnSpc>
                </a:pPr>
                <a:r>
                  <a:rPr lang="vi-VN" i="1" dirty="0">
                    <a:latin typeface="+mj-lt"/>
                  </a:rPr>
                  <a:t>-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𝑃</m:t>
                        </m:r>
                      </m:e>
                      <m:sub>
                        <m:r>
                          <a:rPr lang="vi-VN" i="1">
                            <a:latin typeface="Cambria Math" panose="02040503050406030204" pitchFamily="18" charset="0"/>
                          </a:rPr>
                          <m:t>𝑖</m:t>
                        </m:r>
                      </m:sub>
                    </m:sSub>
                  </m:oMath>
                </a14:m>
                <a:r>
                  <a:rPr lang="vi-VN" i="1" dirty="0">
                    <a:latin typeface="+mj-lt"/>
                  </a:rPr>
                  <a:t> c</a:t>
                </a:r>
                <a:r>
                  <a:rPr lang="vi-VN" dirty="0">
                    <a:latin typeface="+mj-lt"/>
                  </a:rPr>
                  <a:t>ho biết tỷ trọng mật độ của mỗi điểm i đóng góp vào tổng mật độ của toàn bộ hệ thống.</a:t>
                </a:r>
              </a:p>
            </p:txBody>
          </p:sp>
        </mc:Choice>
        <mc:Fallback xmlns="">
          <p:sp>
            <p:nvSpPr>
              <p:cNvPr id="7" name="TextBox 5">
                <a:extLst>
                  <a:ext uri="{FF2B5EF4-FFF2-40B4-BE49-F238E27FC236}">
                    <a16:creationId xmlns:a16="http://schemas.microsoft.com/office/drawing/2014/main" id="{1EA989A0-AFD5-0971-A648-2C392DF7EAA5}"/>
                  </a:ext>
                </a:extLst>
              </p:cNvPr>
              <p:cNvSpPr txBox="1">
                <a:spLocks noRot="1" noChangeAspect="1" noMove="1" noResize="1" noEditPoints="1" noAdjustHandles="1" noChangeArrowheads="1" noChangeShapeType="1" noTextEdit="1"/>
              </p:cNvSpPr>
              <p:nvPr/>
            </p:nvSpPr>
            <p:spPr>
              <a:xfrm>
                <a:off x="1079998" y="2417222"/>
                <a:ext cx="9479847" cy="3744679"/>
              </a:xfrm>
              <a:prstGeom prst="rect">
                <a:avLst/>
              </a:prstGeom>
              <a:blipFill>
                <a:blip r:embed="rId2"/>
                <a:stretch>
                  <a:fillRect l="-514" b="-1792"/>
                </a:stretch>
              </a:blipFill>
            </p:spPr>
            <p:txBody>
              <a:bodyPr/>
              <a:lstStyle/>
              <a:p>
                <a:r>
                  <a:rPr lang="en-US">
                    <a:noFill/>
                  </a:rPr>
                  <a:t> </a:t>
                </a:r>
              </a:p>
            </p:txBody>
          </p:sp>
        </mc:Fallback>
      </mc:AlternateContent>
    </p:spTree>
    <p:extLst>
      <p:ext uri="{BB962C8B-B14F-4D97-AF65-F5344CB8AC3E}">
        <p14:creationId xmlns:p14="http://schemas.microsoft.com/office/powerpoint/2010/main" val="407072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FECE0C-DCA6-6D04-06C1-66BD47F7465E}"/>
              </a:ext>
            </a:extLst>
          </p:cNvPr>
          <p:cNvSpPr>
            <a:spLocks noGrp="1"/>
          </p:cNvSpPr>
          <p:nvPr>
            <p:ph type="sldNum" sz="quarter" idx="12"/>
          </p:nvPr>
        </p:nvSpPr>
        <p:spPr/>
        <p:txBody>
          <a:bodyPr/>
          <a:lstStyle/>
          <a:p>
            <a:fld id="{9B618960-8005-486C-9A75-10CB2AAC16F9}" type="slidenum">
              <a:rPr lang="en-US" smtClean="0"/>
              <a:t>27</a:t>
            </a:fld>
            <a:endParaRPr lang="en-US"/>
          </a:p>
        </p:txBody>
      </p:sp>
      <p:sp>
        <p:nvSpPr>
          <p:cNvPr id="5" name="TextBox 3">
            <a:extLst>
              <a:ext uri="{FF2B5EF4-FFF2-40B4-BE49-F238E27FC236}">
                <a16:creationId xmlns:a16="http://schemas.microsoft.com/office/drawing/2014/main" id="{E702B9F8-D5D6-CC2F-6861-441218690552}"/>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8CDF2F8F-6DFE-5743-93E8-C946B2CF5D3B}"/>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CÔNG THỨC </a:t>
            </a:r>
            <a:endParaRPr lang="en-US" dirty="0">
              <a:latin typeface="+mj-lt"/>
            </a:endParaRPr>
          </a:p>
        </p:txBody>
      </p:sp>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1FB4A0D6-D1F0-A99F-5815-91B2B01525D0}"/>
                  </a:ext>
                </a:extLst>
              </p:cNvPr>
              <p:cNvSpPr txBox="1"/>
              <p:nvPr/>
            </p:nvSpPr>
            <p:spPr>
              <a:xfrm>
                <a:off x="1079998" y="2417222"/>
                <a:ext cx="9479847" cy="377962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Công thức tính Entropy</a:t>
                </a:r>
              </a:p>
              <a:p>
                <a:pPr algn="just">
                  <a:lnSpc>
                    <a:spcPct val="150000"/>
                  </a:lnSpc>
                </a:pPr>
                <a:r>
                  <a:rPr lang="vi-VN" dirty="0">
                    <a:latin typeface="+mj-lt"/>
                  </a:rPr>
                  <a:t>3. Công thức Entropy mật độ</a:t>
                </a:r>
              </a:p>
              <a:p>
                <a:pPr algn="just">
                  <a:lnSpc>
                    <a:spcPct val="150000"/>
                  </a:lnSpc>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𝐻</m:t>
                          </m:r>
                        </m:e>
                        <m:sub>
                          <m:d>
                            <m:dPr>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e>
                          </m:d>
                        </m:sub>
                      </m:sSub>
                      <m:r>
                        <a:rPr lang="vi-VN" i="1" dirty="0">
                          <a:latin typeface="Cambria Math" panose="02040503050406030204" pitchFamily="18" charset="0"/>
                          <a:ea typeface="Cambria Math" panose="02040503050406030204" pitchFamily="18" charset="0"/>
                        </a:rPr>
                        <m:t>=</m:t>
                      </m:r>
                      <m:r>
                        <a:rPr lang="vi-VN" i="1" dirty="0" smtClean="0">
                          <a:latin typeface="Cambria Math" panose="02040503050406030204" pitchFamily="18" charset="0"/>
                          <a:ea typeface="Cambria Math" panose="02040503050406030204" pitchFamily="18" charset="0"/>
                        </a:rPr>
                        <m:t>−</m:t>
                      </m:r>
                      <m:nary>
                        <m:naryPr>
                          <m:chr m:val="∑"/>
                          <m:ctrlPr>
                            <a:rPr lang="vi-VN" i="1" dirty="0" smtClean="0">
                              <a:latin typeface="Cambria Math" panose="02040503050406030204" pitchFamily="18" charset="0"/>
                              <a:ea typeface="Cambria Math" panose="02040503050406030204" pitchFamily="18" charset="0"/>
                            </a:rPr>
                          </m:ctrlPr>
                        </m:naryPr>
                        <m:sub>
                          <m:r>
                            <m:rPr>
                              <m:brk m:alnAt="23"/>
                            </m:rPr>
                            <a:rPr lang="vi-VN" i="1" dirty="0">
                              <a:latin typeface="Cambria Math" panose="02040503050406030204" pitchFamily="18" charset="0"/>
                              <a:ea typeface="Cambria Math" panose="02040503050406030204" pitchFamily="18" charset="0"/>
                            </a:rPr>
                            <m:t>𝑖</m:t>
                          </m:r>
                          <m:r>
                            <a:rPr lang="vi-VN" i="1" dirty="0">
                              <a:latin typeface="Cambria Math" panose="02040503050406030204" pitchFamily="18" charset="0"/>
                              <a:ea typeface="Cambria Math" panose="02040503050406030204" pitchFamily="18" charset="0"/>
                            </a:rPr>
                            <m:t>=</m:t>
                          </m:r>
                          <m:r>
                            <m:rPr>
                              <m:brk m:alnAt="23"/>
                            </m:rPr>
                            <a:rPr lang="vi-VN" i="1" dirty="0" smtClean="0">
                              <a:latin typeface="Cambria Math" panose="02040503050406030204" pitchFamily="18" charset="0"/>
                              <a:ea typeface="Cambria Math" panose="02040503050406030204" pitchFamily="18" charset="0"/>
                            </a:rPr>
                            <m:t>1</m:t>
                          </m:r>
                        </m:sub>
                        <m:sup>
                          <m:r>
                            <a:rPr lang="vi-VN" i="1" dirty="0">
                              <a:latin typeface="Cambria Math" panose="02040503050406030204" pitchFamily="18" charset="0"/>
                              <a:ea typeface="Cambria Math" panose="02040503050406030204" pitchFamily="18" charset="0"/>
                            </a:rPr>
                            <m:t>𝑁</m:t>
                          </m:r>
                        </m:sup>
                        <m:e>
                          <m:sSub>
                            <m:sSubPr>
                              <m:ctrlPr>
                                <a:rPr lang="vi-VN" i="1" dirty="0" smtClean="0">
                                  <a:latin typeface="Cambria Math" panose="02040503050406030204" pitchFamily="18" charset="0"/>
                                  <a:ea typeface="Cambria Math" panose="02040503050406030204" pitchFamily="18" charset="0"/>
                                </a:rPr>
                              </m:ctrlPr>
                            </m:sSubPr>
                            <m:e>
                              <m:r>
                                <a:rPr lang="vi-VN" i="1" dirty="0">
                                  <a:latin typeface="Cambria Math" panose="02040503050406030204" pitchFamily="18" charset="0"/>
                                  <a:ea typeface="Cambria Math" panose="02040503050406030204" pitchFamily="18" charset="0"/>
                                </a:rPr>
                                <m:t>𝑃</m:t>
                              </m:r>
                            </m:e>
                            <m:sub>
                              <m:r>
                                <a:rPr lang="vi-VN" i="1" dirty="0">
                                  <a:latin typeface="Cambria Math" panose="02040503050406030204" pitchFamily="18" charset="0"/>
                                  <a:ea typeface="Cambria Math" panose="02040503050406030204" pitchFamily="18" charset="0"/>
                                </a:rPr>
                                <m:t>𝑖</m:t>
                              </m:r>
                            </m:sub>
                          </m:sSub>
                          <m:r>
                            <a:rPr lang="vi-VN" i="1" dirty="0">
                              <a:latin typeface="Cambria Math" panose="02040503050406030204" pitchFamily="18" charset="0"/>
                              <a:ea typeface="Cambria Math" panose="02040503050406030204" pitchFamily="18" charset="0"/>
                            </a:rPr>
                            <m:t>𝑙𝑛</m:t>
                          </m:r>
                          <m:r>
                            <a:rPr lang="vi-VN" b="0" i="1" dirty="0" smtClean="0">
                              <a:latin typeface="Cambria Math" panose="02040503050406030204" pitchFamily="18" charset="0"/>
                              <a:ea typeface="Cambria Math" panose="02040503050406030204" pitchFamily="18" charset="0"/>
                            </a:rPr>
                            <m:t>(</m:t>
                          </m:r>
                          <m:sSub>
                            <m:sSubPr>
                              <m:ctrlPr>
                                <a:rPr lang="vi-VN" i="1" dirty="0">
                                  <a:latin typeface="Cambria Math" panose="02040503050406030204" pitchFamily="18" charset="0"/>
                                  <a:ea typeface="Cambria Math" panose="02040503050406030204" pitchFamily="18" charset="0"/>
                                </a:rPr>
                              </m:ctrlPr>
                            </m:sSubPr>
                            <m:e>
                              <m:r>
                                <a:rPr lang="vi-VN" i="1" dirty="0">
                                  <a:latin typeface="Cambria Math" panose="02040503050406030204" pitchFamily="18" charset="0"/>
                                  <a:ea typeface="Cambria Math" panose="02040503050406030204" pitchFamily="18" charset="0"/>
                                </a:rPr>
                                <m:t>𝑃</m:t>
                              </m:r>
                            </m:e>
                            <m:sub>
                              <m:r>
                                <a:rPr lang="vi-VN" i="1" dirty="0">
                                  <a:latin typeface="Cambria Math" panose="02040503050406030204" pitchFamily="18" charset="0"/>
                                  <a:ea typeface="Cambria Math" panose="02040503050406030204" pitchFamily="18" charset="0"/>
                                </a:rPr>
                                <m:t>𝑖</m:t>
                              </m:r>
                            </m:sub>
                          </m:sSub>
                          <m:r>
                            <a:rPr lang="vi-VN" b="0" i="1" dirty="0" smtClean="0">
                              <a:latin typeface="Cambria Math" panose="02040503050406030204" pitchFamily="18" charset="0"/>
                              <a:ea typeface="Cambria Math" panose="02040503050406030204" pitchFamily="18" charset="0"/>
                            </a:rPr>
                            <m:t>)</m:t>
                          </m:r>
                        </m:e>
                      </m:nary>
                    </m:oMath>
                  </m:oMathPara>
                </a14:m>
                <a:endParaRPr lang="vi-VN" i="1" dirty="0">
                  <a:latin typeface="+mj-lt"/>
                </a:endParaRPr>
              </a:p>
              <a:p>
                <a:pPr marL="285750" indent="-285750" algn="just">
                  <a:lnSpc>
                    <a:spcPct val="150000"/>
                  </a:lnSpc>
                  <a:buFontTx/>
                  <a:buChar char="-"/>
                </a:pPr>
                <a:r>
                  <a:rPr lang="vi-VN" dirty="0">
                    <a:latin typeface="+mj-lt"/>
                  </a:rPr>
                  <a:t>Giá trị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latin typeface="+mj-lt"/>
                  </a:rPr>
                  <a:t> được chọn là giá trị làm cho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𝐻</m:t>
                        </m:r>
                      </m:e>
                      <m:sub>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e>
                        </m:d>
                      </m:sub>
                    </m:sSub>
                    <m:r>
                      <a:rPr lang="vi-VN" i="1">
                        <a:latin typeface="Cambria Math" panose="02040503050406030204" pitchFamily="18" charset="0"/>
                      </a:rPr>
                      <m:t> </m:t>
                    </m:r>
                  </m:oMath>
                </a14:m>
                <a:r>
                  <a:rPr lang="vi-VN" dirty="0">
                    <a:latin typeface="+mj-lt"/>
                  </a:rPr>
                  <a:t>nhỏ nhất:</a:t>
                </a:r>
              </a:p>
              <a:p>
                <a:pPr algn="just">
                  <a:lnSpc>
                    <a:spcPct val="150000"/>
                  </a:lnSpc>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𝑎𝑟𝑔</m:t>
                      </m:r>
                      <m:r>
                        <a:rPr lang="vi-VN" b="0" i="1" smtClean="0">
                          <a:latin typeface="Cambria Math" panose="02040503050406030204" pitchFamily="18" charset="0"/>
                          <a:ea typeface="Cambria Math" panose="02040503050406030204" pitchFamily="18" charset="0"/>
                        </a:rPr>
                        <m:t> </m:t>
                      </m:r>
                      <m:r>
                        <a:rPr lang="vi-VN" i="1">
                          <a:latin typeface="Cambria Math" panose="02040503050406030204" pitchFamily="18" charset="0"/>
                          <a:ea typeface="Cambria Math" panose="02040503050406030204" pitchFamily="18" charset="0"/>
                        </a:rPr>
                        <m:t>𝑚𝑖𝑛</m:t>
                      </m:r>
                      <m:sSub>
                        <m:sSubPr>
                          <m:ctrlPr>
                            <a:rPr lang="vi-VN" i="1">
                              <a:latin typeface="Cambria Math" panose="02040503050406030204" pitchFamily="18" charset="0"/>
                            </a:rPr>
                          </m:ctrlPr>
                        </m:sSubPr>
                        <m:e>
                          <m:r>
                            <a:rPr lang="vi-VN" i="1">
                              <a:latin typeface="Cambria Math" panose="02040503050406030204" pitchFamily="18" charset="0"/>
                            </a:rPr>
                            <m:t>𝐻</m:t>
                          </m:r>
                        </m:e>
                        <m:sub>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e>
                          </m:d>
                        </m:sub>
                      </m:sSub>
                    </m:oMath>
                  </m:oMathPara>
                </a14:m>
                <a:endParaRPr lang="vi-VN" i="1" dirty="0">
                  <a:latin typeface="+mj-lt"/>
                </a:endParaRPr>
              </a:p>
              <a:p>
                <a:pPr algn="just">
                  <a:lnSpc>
                    <a:spcPct val="150000"/>
                  </a:lnSpc>
                </a:pPr>
                <a:r>
                  <a:rPr lang="vi-VN" dirty="0">
                    <a:latin typeface="+mj-lt"/>
                  </a:rPr>
                  <a:t>- Tại điểm này, các đỉnh mật độ được đẩy lên cao nhất so với các điểm xung quanh, tạo ra sự phân hóa thông tin rõ rệt nhất.</a:t>
                </a:r>
              </a:p>
            </p:txBody>
          </p:sp>
        </mc:Choice>
        <mc:Fallback xmlns="">
          <p:sp>
            <p:nvSpPr>
              <p:cNvPr id="7" name="TextBox 5">
                <a:extLst>
                  <a:ext uri="{FF2B5EF4-FFF2-40B4-BE49-F238E27FC236}">
                    <a16:creationId xmlns:a16="http://schemas.microsoft.com/office/drawing/2014/main" id="{1FB4A0D6-D1F0-A99F-5815-91B2B01525D0}"/>
                  </a:ext>
                </a:extLst>
              </p:cNvPr>
              <p:cNvSpPr txBox="1">
                <a:spLocks noRot="1" noChangeAspect="1" noMove="1" noResize="1" noEditPoints="1" noAdjustHandles="1" noChangeArrowheads="1" noChangeShapeType="1" noTextEdit="1"/>
              </p:cNvSpPr>
              <p:nvPr/>
            </p:nvSpPr>
            <p:spPr>
              <a:xfrm>
                <a:off x="1079998" y="2417222"/>
                <a:ext cx="9479847" cy="3779624"/>
              </a:xfrm>
              <a:prstGeom prst="rect">
                <a:avLst/>
              </a:prstGeom>
              <a:blipFill>
                <a:blip r:embed="rId2"/>
                <a:stretch>
                  <a:fillRect l="-514" r="-579" b="-1774"/>
                </a:stretch>
              </a:blipFill>
            </p:spPr>
            <p:txBody>
              <a:bodyPr/>
              <a:lstStyle/>
              <a:p>
                <a:r>
                  <a:rPr lang="en-US">
                    <a:noFill/>
                  </a:rPr>
                  <a:t> </a:t>
                </a:r>
              </a:p>
            </p:txBody>
          </p:sp>
        </mc:Fallback>
      </mc:AlternateContent>
    </p:spTree>
    <p:extLst>
      <p:ext uri="{BB962C8B-B14F-4D97-AF65-F5344CB8AC3E}">
        <p14:creationId xmlns:p14="http://schemas.microsoft.com/office/powerpoint/2010/main" val="3777323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E6B3D6-30E3-53FF-D06C-9859DEDAFE25}"/>
              </a:ext>
            </a:extLst>
          </p:cNvPr>
          <p:cNvSpPr>
            <a:spLocks noGrp="1"/>
          </p:cNvSpPr>
          <p:nvPr>
            <p:ph type="sldNum" sz="quarter" idx="12"/>
          </p:nvPr>
        </p:nvSpPr>
        <p:spPr/>
        <p:txBody>
          <a:bodyPr/>
          <a:lstStyle/>
          <a:p>
            <a:fld id="{9B618960-8005-486C-9A75-10CB2AAC16F9}" type="slidenum">
              <a:rPr lang="en-US" smtClean="0"/>
              <a:t>28</a:t>
            </a:fld>
            <a:endParaRPr lang="en-US"/>
          </a:p>
        </p:txBody>
      </p:sp>
      <p:sp>
        <p:nvSpPr>
          <p:cNvPr id="5" name="TextBox 3">
            <a:extLst>
              <a:ext uri="{FF2B5EF4-FFF2-40B4-BE49-F238E27FC236}">
                <a16:creationId xmlns:a16="http://schemas.microsoft.com/office/drawing/2014/main" id="{109073E4-B4B4-66B7-89A3-1C0F0947D15B}"/>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04F2EA29-7498-5C34-E1A8-DCE106372D37}"/>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SỰ KHÁC BIỆT </a:t>
            </a:r>
            <a:endParaRPr lang="en-US" dirty="0">
              <a:latin typeface="+mj-lt"/>
            </a:endParaRPr>
          </a:p>
        </p:txBody>
      </p:sp>
      <mc:AlternateContent xmlns:mc="http://schemas.openxmlformats.org/markup-compatibility/2006" xmlns:a14="http://schemas.microsoft.com/office/drawing/2010/main">
        <mc:Choice Requires="a14">
          <p:sp>
            <p:nvSpPr>
              <p:cNvPr id="8" name="TextBox 5">
                <a:extLst>
                  <a:ext uri="{FF2B5EF4-FFF2-40B4-BE49-F238E27FC236}">
                    <a16:creationId xmlns:a16="http://schemas.microsoft.com/office/drawing/2014/main" id="{F3519CE7-A2ED-F64B-2608-4D093F89CA3B}"/>
                  </a:ext>
                </a:extLst>
              </p:cNvPr>
              <p:cNvSpPr txBox="1"/>
              <p:nvPr/>
            </p:nvSpPr>
            <p:spPr>
              <a:xfrm>
                <a:off x="1079999" y="2417222"/>
                <a:ext cx="9479847" cy="37820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Sự khác biệt giữa hai thuật toán CFSFDP và CSDPPO nằm ở bước 2, xác định giá trị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latin typeface="+mj-lt"/>
                  </a:rPr>
                  <a:t> </a:t>
                </a:r>
              </a:p>
              <a:p>
                <a:pPr marL="285750" indent="-285750" algn="just">
                  <a:lnSpc>
                    <a:spcPct val="150000"/>
                  </a:lnSpc>
                  <a:buFontTx/>
                  <a:buChar char="-"/>
                </a:pPr>
                <a:r>
                  <a:rPr lang="vi-VN" dirty="0">
                    <a:latin typeface="+mj-lt"/>
                  </a:rPr>
                  <a:t>Quy trình tìm kiếm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latin typeface="+mj-lt"/>
                  </a:rPr>
                  <a:t> trong CSDPPO là một tiến trình tự động hóa hoàn toàn. Thay vì dựa vào cảm tính để chọn một tỷ lệ cố định, thuật toán tiến hành thực hiện quét thông tin trên diện rộng.</a:t>
                </a:r>
              </a:p>
              <a:p>
                <a:pPr marL="285750" indent="-285750" algn="just">
                  <a:lnSpc>
                    <a:spcPct val="150000"/>
                  </a:lnSpc>
                  <a:buFontTx/>
                  <a:buChar char="-"/>
                </a:pPr>
                <a:r>
                  <a:rPr lang="vi-VN" dirty="0">
                    <a:latin typeface="+mj-lt"/>
                  </a:rPr>
                  <a:t>Điểm cực tiểu của hàm Entropy chính là điểm hội tụ lý tưởng, nơi cấu trúc dữ liệu được phơi bày rõ nét nhất, giúp loại bỏ hoàn toàn rủi ro việc chọn tham số sai của con người.</a:t>
                </a:r>
              </a:p>
              <a:p>
                <a:pPr marL="285750" indent="-285750" algn="just">
                  <a:lnSpc>
                    <a:spcPct val="150000"/>
                  </a:lnSpc>
                  <a:buFontTx/>
                  <a:buChar char="-"/>
                </a:pPr>
                <a:r>
                  <a:rPr lang="vi-VN" dirty="0">
                    <a:latin typeface="+mj-lt"/>
                  </a:rPr>
                  <a:t>Điểm yếu lớn của CFSFDP không nằm ở khả năng phân cụm, mà nằm ở sự phụ thuộc mạnh vào tham số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latin typeface="+mj-lt"/>
                  </a:rPr>
                  <a:t>. Điều này dẫn đến nhu cầu xây dựng các phương pháp tự động lựa chọn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latin typeface="+mj-lt"/>
                  </a:rPr>
                  <a:t>, sử dụng tối ưu entropy để xác định giá trị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𝑑</m:t>
                        </m:r>
                      </m:e>
                      <m:sub>
                        <m:r>
                          <a:rPr lang="vi-VN" i="1">
                            <a:latin typeface="Cambria Math" panose="02040503050406030204" pitchFamily="18" charset="0"/>
                          </a:rPr>
                          <m:t>𝑐</m:t>
                        </m:r>
                      </m:sub>
                    </m:sSub>
                  </m:oMath>
                </a14:m>
                <a:r>
                  <a:rPr lang="vi-VN" dirty="0">
                    <a:latin typeface="+mj-lt"/>
                  </a:rPr>
                  <a:t> phù hợp, nhằm giảm sự phụ thuộc vào kinh nghiệm người dùng và tăng tính ổn định của thuật toán.</a:t>
                </a:r>
              </a:p>
            </p:txBody>
          </p:sp>
        </mc:Choice>
        <mc:Fallback xmlns="">
          <p:sp>
            <p:nvSpPr>
              <p:cNvPr id="8" name="TextBox 5">
                <a:extLst>
                  <a:ext uri="{FF2B5EF4-FFF2-40B4-BE49-F238E27FC236}">
                    <a16:creationId xmlns:a16="http://schemas.microsoft.com/office/drawing/2014/main" id="{F3519CE7-A2ED-F64B-2608-4D093F89CA3B}"/>
                  </a:ext>
                </a:extLst>
              </p:cNvPr>
              <p:cNvSpPr txBox="1">
                <a:spLocks noRot="1" noChangeAspect="1" noMove="1" noResize="1" noEditPoints="1" noAdjustHandles="1" noChangeArrowheads="1" noChangeShapeType="1" noTextEdit="1"/>
              </p:cNvSpPr>
              <p:nvPr/>
            </p:nvSpPr>
            <p:spPr>
              <a:xfrm>
                <a:off x="1079999" y="2417222"/>
                <a:ext cx="9479847" cy="3782061"/>
              </a:xfrm>
              <a:prstGeom prst="rect">
                <a:avLst/>
              </a:prstGeom>
              <a:blipFill>
                <a:blip r:embed="rId2"/>
                <a:stretch>
                  <a:fillRect l="-386" r="-579" b="-1774"/>
                </a:stretch>
              </a:blipFill>
            </p:spPr>
            <p:txBody>
              <a:bodyPr/>
              <a:lstStyle/>
              <a:p>
                <a:r>
                  <a:rPr lang="en-US">
                    <a:noFill/>
                  </a:rPr>
                  <a:t> </a:t>
                </a:r>
              </a:p>
            </p:txBody>
          </p:sp>
        </mc:Fallback>
      </mc:AlternateContent>
    </p:spTree>
    <p:extLst>
      <p:ext uri="{BB962C8B-B14F-4D97-AF65-F5344CB8AC3E}">
        <p14:creationId xmlns:p14="http://schemas.microsoft.com/office/powerpoint/2010/main" val="194579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BA1B85-5105-BDFF-801B-712A89CEC9EC}"/>
              </a:ext>
            </a:extLst>
          </p:cNvPr>
          <p:cNvSpPr>
            <a:spLocks noGrp="1"/>
          </p:cNvSpPr>
          <p:nvPr>
            <p:ph type="sldNum" sz="quarter" idx="12"/>
          </p:nvPr>
        </p:nvSpPr>
        <p:spPr/>
        <p:txBody>
          <a:bodyPr/>
          <a:lstStyle/>
          <a:p>
            <a:fld id="{9B618960-8005-486C-9A75-10CB2AAC16F9}" type="slidenum">
              <a:rPr lang="en-US" smtClean="0"/>
              <a:t>29</a:t>
            </a:fld>
            <a:endParaRPr lang="en-US"/>
          </a:p>
        </p:txBody>
      </p:sp>
      <p:sp>
        <p:nvSpPr>
          <p:cNvPr id="5" name="TextBox 3">
            <a:extLst>
              <a:ext uri="{FF2B5EF4-FFF2-40B4-BE49-F238E27FC236}">
                <a16:creationId xmlns:a16="http://schemas.microsoft.com/office/drawing/2014/main" id="{6D3460E4-6B65-8CC9-3745-19432C2C9547}"/>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D6024069-196A-B3E6-9AFF-7D9E5418E381}"/>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THỰC NGHIỆM </a:t>
            </a:r>
            <a:endParaRPr lang="en-US" dirty="0">
              <a:latin typeface="+mj-lt"/>
            </a:endParaRPr>
          </a:p>
        </p:txBody>
      </p:sp>
      <p:sp>
        <p:nvSpPr>
          <p:cNvPr id="7" name="TextBox 5">
            <a:extLst>
              <a:ext uri="{FF2B5EF4-FFF2-40B4-BE49-F238E27FC236}">
                <a16:creationId xmlns:a16="http://schemas.microsoft.com/office/drawing/2014/main" id="{9EF97371-55AE-EA4C-3E9E-480C6823E19B}"/>
              </a:ext>
            </a:extLst>
          </p:cNvPr>
          <p:cNvSpPr txBox="1"/>
          <p:nvPr/>
        </p:nvSpPr>
        <p:spPr>
          <a:xfrm>
            <a:off x="1079999" y="2158791"/>
            <a:ext cx="3634386" cy="419755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Kết quả thực nghiệm</a:t>
            </a:r>
          </a:p>
          <a:p>
            <a:pPr marL="285750" indent="-285750" algn="just">
              <a:lnSpc>
                <a:spcPct val="150000"/>
              </a:lnSpc>
              <a:buFontTx/>
              <a:buChar char="-"/>
            </a:pPr>
            <a:r>
              <a:rPr lang="vi-VN" dirty="0">
                <a:latin typeface="+mj-lt"/>
              </a:rPr>
              <a:t>Thực nghiệm mẫu dữ liệu R15 giữa 2 thuật toán.</a:t>
            </a:r>
          </a:p>
          <a:p>
            <a:pPr marL="285750" indent="-285750" algn="just">
              <a:lnSpc>
                <a:spcPct val="150000"/>
              </a:lnSpc>
              <a:buFontTx/>
              <a:buChar char="-"/>
            </a:pPr>
            <a:r>
              <a:rPr lang="vi-VN" dirty="0">
                <a:latin typeface="+mj-lt"/>
              </a:rPr>
              <a:t>Kết quả 2 Decision Graph của thuật toán CFSFDP (2 hình bên trên) tương ứng với mức 1% và 2% không quá khác biệt so với kết quả của CSDPPO (hình bên dưới).</a:t>
            </a:r>
            <a:endParaRPr lang="en-US" dirty="0">
              <a:latin typeface="+mj-lt"/>
            </a:endParaRPr>
          </a:p>
          <a:p>
            <a:pPr marL="285750" indent="-285750" algn="just">
              <a:lnSpc>
                <a:spcPct val="150000"/>
              </a:lnSpc>
              <a:buFontTx/>
              <a:buChar char="-"/>
            </a:pPr>
            <a:r>
              <a:rPr lang="vi-VN" dirty="0">
                <a:latin typeface="+mj-lt"/>
              </a:rPr>
              <a:t>Kết quả phân cụm giống nhau, chất lượng như nhau.</a:t>
            </a:r>
          </a:p>
        </p:txBody>
      </p:sp>
      <p:pic>
        <p:nvPicPr>
          <p:cNvPr id="9" name="Picture 8">
            <a:extLst>
              <a:ext uri="{FF2B5EF4-FFF2-40B4-BE49-F238E27FC236}">
                <a16:creationId xmlns:a16="http://schemas.microsoft.com/office/drawing/2014/main" id="{6F535046-6516-0D74-C85F-08E6EB2A4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8317" y="1645122"/>
            <a:ext cx="2834083" cy="2343477"/>
          </a:xfrm>
          <a:prstGeom prst="rect">
            <a:avLst/>
          </a:prstGeom>
        </p:spPr>
      </p:pic>
      <p:pic>
        <p:nvPicPr>
          <p:cNvPr id="11" name="Picture 10">
            <a:extLst>
              <a:ext uri="{FF2B5EF4-FFF2-40B4-BE49-F238E27FC236}">
                <a16:creationId xmlns:a16="http://schemas.microsoft.com/office/drawing/2014/main" id="{E4816E6F-2603-5613-429B-A71B0A945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3078" y="1598934"/>
            <a:ext cx="2824557" cy="2367293"/>
          </a:xfrm>
          <a:prstGeom prst="rect">
            <a:avLst/>
          </a:prstGeom>
        </p:spPr>
      </p:pic>
      <p:pic>
        <p:nvPicPr>
          <p:cNvPr id="13" name="Picture 12">
            <a:extLst>
              <a:ext uri="{FF2B5EF4-FFF2-40B4-BE49-F238E27FC236}">
                <a16:creationId xmlns:a16="http://schemas.microsoft.com/office/drawing/2014/main" id="{E8071652-0BF8-71DD-C980-5B004CC71A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896" y="4028382"/>
            <a:ext cx="2805504" cy="2586399"/>
          </a:xfrm>
          <a:prstGeom prst="rect">
            <a:avLst/>
          </a:prstGeom>
        </p:spPr>
      </p:pic>
      <p:pic>
        <p:nvPicPr>
          <p:cNvPr id="15" name="Picture 14">
            <a:extLst>
              <a:ext uri="{FF2B5EF4-FFF2-40B4-BE49-F238E27FC236}">
                <a16:creationId xmlns:a16="http://schemas.microsoft.com/office/drawing/2014/main" id="{6D59EA38-A45C-ADF2-15CA-83A7AA767E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82118" y="3988599"/>
            <a:ext cx="2886478" cy="2591162"/>
          </a:xfrm>
          <a:prstGeom prst="rect">
            <a:avLst/>
          </a:prstGeom>
        </p:spPr>
      </p:pic>
    </p:spTree>
    <p:extLst>
      <p:ext uri="{BB962C8B-B14F-4D97-AF65-F5344CB8AC3E}">
        <p14:creationId xmlns:p14="http://schemas.microsoft.com/office/powerpoint/2010/main" val="382317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E98CFB-74F9-6807-B8E8-A47471AE4069}"/>
              </a:ext>
            </a:extLst>
          </p:cNvPr>
          <p:cNvSpPr>
            <a:spLocks noGrp="1"/>
          </p:cNvSpPr>
          <p:nvPr>
            <p:ph type="sldNum" sz="quarter" idx="12"/>
          </p:nvPr>
        </p:nvSpPr>
        <p:spPr/>
        <p:txBody>
          <a:bodyPr/>
          <a:lstStyle/>
          <a:p>
            <a:fld id="{9B618960-8005-486C-9A75-10CB2AAC16F9}" type="slidenum">
              <a:rPr lang="en-US" smtClean="0"/>
              <a:t>30</a:t>
            </a:fld>
            <a:endParaRPr lang="en-US"/>
          </a:p>
        </p:txBody>
      </p:sp>
      <p:sp>
        <p:nvSpPr>
          <p:cNvPr id="5" name="TextBox 3">
            <a:extLst>
              <a:ext uri="{FF2B5EF4-FFF2-40B4-BE49-F238E27FC236}">
                <a16:creationId xmlns:a16="http://schemas.microsoft.com/office/drawing/2014/main" id="{3BCA979A-4A40-4C3A-BA03-A8A2F6ED6103}"/>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B9A930E2-69D7-612B-3CFB-7C561C796AEC}"/>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THỰC NGHIỆM </a:t>
            </a:r>
            <a:endParaRPr lang="en-US" dirty="0">
              <a:latin typeface="+mj-lt"/>
            </a:endParaRPr>
          </a:p>
        </p:txBody>
      </p:sp>
      <p:sp>
        <p:nvSpPr>
          <p:cNvPr id="7" name="TextBox 5">
            <a:extLst>
              <a:ext uri="{FF2B5EF4-FFF2-40B4-BE49-F238E27FC236}">
                <a16:creationId xmlns:a16="http://schemas.microsoft.com/office/drawing/2014/main" id="{4A4BF9DC-58C6-E932-1907-0D5024EED6B5}"/>
              </a:ext>
            </a:extLst>
          </p:cNvPr>
          <p:cNvSpPr txBox="1"/>
          <p:nvPr/>
        </p:nvSpPr>
        <p:spPr>
          <a:xfrm>
            <a:off x="1079997" y="2417222"/>
            <a:ext cx="4386737" cy="37820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Kết quả thực nghiệm</a:t>
            </a:r>
          </a:p>
          <a:p>
            <a:pPr marL="285750" indent="-285750" algn="just">
              <a:lnSpc>
                <a:spcPct val="150000"/>
              </a:lnSpc>
              <a:buFontTx/>
              <a:buChar char="-"/>
            </a:pPr>
            <a:r>
              <a:rPr lang="vi-VN" dirty="0">
                <a:latin typeface="+mj-lt"/>
              </a:rPr>
              <a:t>Thực nghiệm mẫu dữ liệu nhân tạo giữa 2 thuật toán.</a:t>
            </a:r>
          </a:p>
          <a:p>
            <a:pPr marL="285750" indent="-285750" algn="just">
              <a:lnSpc>
                <a:spcPct val="150000"/>
              </a:lnSpc>
              <a:buFontTx/>
              <a:buChar char="-"/>
            </a:pPr>
            <a:r>
              <a:rPr lang="vi-VN" dirty="0">
                <a:latin typeface="+mj-lt"/>
              </a:rPr>
              <a:t>CFSFDP sử dụng cut-off kernel để tính mật độ, CSDPPO sử dụng Gaussian kernel.</a:t>
            </a:r>
            <a:endParaRPr lang="en-US" dirty="0">
              <a:latin typeface="+mj-lt"/>
            </a:endParaRPr>
          </a:p>
          <a:p>
            <a:pPr marL="285750" indent="-285750" algn="just">
              <a:lnSpc>
                <a:spcPct val="150000"/>
              </a:lnSpc>
              <a:buFontTx/>
              <a:buChar char="-"/>
            </a:pPr>
            <a:r>
              <a:rPr lang="vi-VN" dirty="0">
                <a:latin typeface="+mj-lt"/>
              </a:rPr>
              <a:t>Kết quả cho thấy, đối với CFSFDP sử dụng cut-off, là 2 cụm. Còn CSDPPO sử dụng gaussian là 3 cụm.</a:t>
            </a:r>
          </a:p>
        </p:txBody>
      </p:sp>
      <p:pic>
        <p:nvPicPr>
          <p:cNvPr id="9" name="Picture 8">
            <a:extLst>
              <a:ext uri="{FF2B5EF4-FFF2-40B4-BE49-F238E27FC236}">
                <a16:creationId xmlns:a16="http://schemas.microsoft.com/office/drawing/2014/main" id="{008FD4E0-B01B-A730-ABD4-67A3C0063F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4831" y="1589451"/>
            <a:ext cx="2681662" cy="2233925"/>
          </a:xfrm>
          <a:prstGeom prst="rect">
            <a:avLst/>
          </a:prstGeom>
        </p:spPr>
      </p:pic>
      <p:pic>
        <p:nvPicPr>
          <p:cNvPr id="11" name="Picture 10">
            <a:extLst>
              <a:ext uri="{FF2B5EF4-FFF2-40B4-BE49-F238E27FC236}">
                <a16:creationId xmlns:a16="http://schemas.microsoft.com/office/drawing/2014/main" id="{B68341BF-8A9A-CB83-EE01-E25022146C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9998" y="1615757"/>
            <a:ext cx="2729294" cy="2257740"/>
          </a:xfrm>
          <a:prstGeom prst="rect">
            <a:avLst/>
          </a:prstGeom>
        </p:spPr>
      </p:pic>
      <p:pic>
        <p:nvPicPr>
          <p:cNvPr id="15" name="Picture 14">
            <a:extLst>
              <a:ext uri="{FF2B5EF4-FFF2-40B4-BE49-F238E27FC236}">
                <a16:creationId xmlns:a16="http://schemas.microsoft.com/office/drawing/2014/main" id="{F896A457-0545-A603-DE2C-55C4376B8A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656" y="3823376"/>
            <a:ext cx="2762636" cy="2629267"/>
          </a:xfrm>
          <a:prstGeom prst="rect">
            <a:avLst/>
          </a:prstGeom>
        </p:spPr>
      </p:pic>
      <p:pic>
        <p:nvPicPr>
          <p:cNvPr id="17" name="Picture 16">
            <a:extLst>
              <a:ext uri="{FF2B5EF4-FFF2-40B4-BE49-F238E27FC236}">
                <a16:creationId xmlns:a16="http://schemas.microsoft.com/office/drawing/2014/main" id="{F2EA8EB7-BB03-EDB9-8130-A01BB1917E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00529" y="3823376"/>
            <a:ext cx="2810267" cy="2619741"/>
          </a:xfrm>
          <a:prstGeom prst="rect">
            <a:avLst/>
          </a:prstGeom>
        </p:spPr>
      </p:pic>
    </p:spTree>
    <p:extLst>
      <p:ext uri="{BB962C8B-B14F-4D97-AF65-F5344CB8AC3E}">
        <p14:creationId xmlns:p14="http://schemas.microsoft.com/office/powerpoint/2010/main" val="1558698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A39AA3-755C-4D0B-70CA-162EB5520D8E}"/>
              </a:ext>
            </a:extLst>
          </p:cNvPr>
          <p:cNvSpPr>
            <a:spLocks noGrp="1"/>
          </p:cNvSpPr>
          <p:nvPr>
            <p:ph type="sldNum" sz="quarter" idx="12"/>
          </p:nvPr>
        </p:nvSpPr>
        <p:spPr/>
        <p:txBody>
          <a:bodyPr/>
          <a:lstStyle/>
          <a:p>
            <a:fld id="{9B618960-8005-486C-9A75-10CB2AAC16F9}" type="slidenum">
              <a:rPr lang="en-US" smtClean="0"/>
              <a:t>31</a:t>
            </a:fld>
            <a:endParaRPr lang="en-US"/>
          </a:p>
        </p:txBody>
      </p:sp>
      <p:sp>
        <p:nvSpPr>
          <p:cNvPr id="5" name="TextBox 3">
            <a:extLst>
              <a:ext uri="{FF2B5EF4-FFF2-40B4-BE49-F238E27FC236}">
                <a16:creationId xmlns:a16="http://schemas.microsoft.com/office/drawing/2014/main" id="{05580841-1D83-EB33-9FF9-1EC36B5EF860}"/>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CSDPPO</a:t>
            </a:r>
            <a:endParaRPr lang="en-US" sz="2000" dirty="0">
              <a:latin typeface="+mj-lt"/>
            </a:endParaRPr>
          </a:p>
        </p:txBody>
      </p:sp>
      <p:sp>
        <p:nvSpPr>
          <p:cNvPr id="6" name="TextBox 4">
            <a:extLst>
              <a:ext uri="{FF2B5EF4-FFF2-40B4-BE49-F238E27FC236}">
                <a16:creationId xmlns:a16="http://schemas.microsoft.com/office/drawing/2014/main" id="{E2FE8517-B353-9780-7FC3-74A05A3C0B64}"/>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THỰC NGHIỆM </a:t>
            </a:r>
            <a:endParaRPr lang="en-US" dirty="0">
              <a:latin typeface="+mj-lt"/>
            </a:endParaRPr>
          </a:p>
        </p:txBody>
      </p:sp>
      <p:sp>
        <p:nvSpPr>
          <p:cNvPr id="7" name="TextBox 5">
            <a:extLst>
              <a:ext uri="{FF2B5EF4-FFF2-40B4-BE49-F238E27FC236}">
                <a16:creationId xmlns:a16="http://schemas.microsoft.com/office/drawing/2014/main" id="{EF2BDA75-C6A5-9ADD-F8C9-9315322BB5DA}"/>
              </a:ext>
            </a:extLst>
          </p:cNvPr>
          <p:cNvSpPr txBox="1"/>
          <p:nvPr/>
        </p:nvSpPr>
        <p:spPr>
          <a:xfrm>
            <a:off x="1079999" y="2158791"/>
            <a:ext cx="10384414" cy="419755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Kết luận</a:t>
            </a:r>
          </a:p>
          <a:p>
            <a:pPr algn="just">
              <a:lnSpc>
                <a:spcPct val="150000"/>
              </a:lnSpc>
            </a:pPr>
            <a:r>
              <a:rPr lang="vi-VN" dirty="0">
                <a:latin typeface="+mj-lt"/>
              </a:rPr>
              <a:t>Trong bài báo CSDPPO, tác giả sử dụng hàm Gaussian để thay thế hàm cut-off trong quá trình tính toán mật độ cục bộ, đồng thời sử dụng entropy để tự động lựa chọn tham số dc. Trong khi đó, thuật toán CFSFDP gốc chủ yếu được mô tả bằng hàm cut-off, mặc dù trong một số trường hợp thực nghiệm, tác giả của CFSFDP cũng sử dụng Gaussian kernel để tính mật độ.</a:t>
            </a:r>
          </a:p>
          <a:p>
            <a:pPr algn="just">
              <a:lnSpc>
                <a:spcPct val="150000"/>
              </a:lnSpc>
            </a:pPr>
            <a:r>
              <a:rPr lang="vi-VN" dirty="0">
                <a:latin typeface="+mj-lt"/>
              </a:rPr>
              <a:t>Qua thực nghiệm cho thấy, khi cả CFSFDP và CSDPPO cùng sử dụng Gaussian kernel, kết quả phân cụm giữa hai phương pháp khá tương đồng. Điều này cho thấy một phần cải thiện có thể đến từ việc sử dụng Gaussian kernel thay cho cut-off kernel.</a:t>
            </a:r>
          </a:p>
          <a:p>
            <a:pPr algn="just">
              <a:lnSpc>
                <a:spcPct val="150000"/>
              </a:lnSpc>
            </a:pPr>
            <a:r>
              <a:rPr lang="vi-VN" dirty="0">
                <a:latin typeface="+mj-lt"/>
              </a:rPr>
              <a:t>Ngược lại, khi CFSFDP sử dụng cut-off kernel và CSDPPO sử dụng Gaussian kernel kết hợp tối ưu entropy, sự khác biệt giữa 2 phương pháp trở nên rõ ràng hơn</a:t>
            </a:r>
          </a:p>
        </p:txBody>
      </p:sp>
    </p:spTree>
    <p:extLst>
      <p:ext uri="{BB962C8B-B14F-4D97-AF65-F5344CB8AC3E}">
        <p14:creationId xmlns:p14="http://schemas.microsoft.com/office/powerpoint/2010/main" val="1455471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13B8AA-573E-DC08-42CC-AC6DD815A9EE}"/>
              </a:ext>
            </a:extLst>
          </p:cNvPr>
          <p:cNvSpPr>
            <a:spLocks noGrp="1"/>
          </p:cNvSpPr>
          <p:nvPr>
            <p:ph type="sldNum" sz="quarter" idx="12"/>
          </p:nvPr>
        </p:nvSpPr>
        <p:spPr/>
        <p:txBody>
          <a:bodyPr/>
          <a:lstStyle/>
          <a:p>
            <a:fld id="{9B618960-8005-486C-9A75-10CB2AAC16F9}" type="slidenum">
              <a:rPr lang="en-US" smtClean="0"/>
              <a:t>32</a:t>
            </a:fld>
            <a:endParaRPr lang="en-US" dirty="0"/>
          </a:p>
        </p:txBody>
      </p:sp>
      <p:sp>
        <p:nvSpPr>
          <p:cNvPr id="5" name="TextBox 3">
            <a:extLst>
              <a:ext uri="{FF2B5EF4-FFF2-40B4-BE49-F238E27FC236}">
                <a16:creationId xmlns:a16="http://schemas.microsoft.com/office/drawing/2014/main" id="{0C5B43D3-B5C3-05BE-7C37-6439040001FA}"/>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D3DA23A2-5E69-27F6-09A5-A589C092D374}"/>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MỤC TIÊU CẢI TIẾN </a:t>
            </a:r>
            <a:endParaRPr lang="en-US" dirty="0">
              <a:latin typeface="+mj-lt"/>
            </a:endParaRPr>
          </a:p>
        </p:txBody>
      </p:sp>
      <mc:AlternateContent xmlns:mc="http://schemas.openxmlformats.org/markup-compatibility/2006" xmlns:a14="http://schemas.microsoft.com/office/drawing/2010/main">
        <mc:Choice Requires="a14">
          <p:sp>
            <p:nvSpPr>
              <p:cNvPr id="11" name="TextBox 5">
                <a:extLst>
                  <a:ext uri="{FF2B5EF4-FFF2-40B4-BE49-F238E27FC236}">
                    <a16:creationId xmlns:a16="http://schemas.microsoft.com/office/drawing/2014/main" id="{0C7A0EB1-ADB2-5C05-C8D4-DF6E8466913F}"/>
                  </a:ext>
                </a:extLst>
              </p:cNvPr>
              <p:cNvSpPr txBox="1"/>
              <p:nvPr/>
            </p:nvSpPr>
            <p:spPr>
              <a:xfrm>
                <a:off x="1079998" y="2417222"/>
                <a:ext cx="5959899" cy="381553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Động lực cải tiến</a:t>
                </a:r>
              </a:p>
              <a:p>
                <a:pPr marL="285750" indent="-285750" algn="just">
                  <a:lnSpc>
                    <a:spcPct val="150000"/>
                  </a:lnSpc>
                  <a:buFontTx/>
                  <a:buChar char="-"/>
                </a:pPr>
                <a:r>
                  <a:rPr lang="vi-VN" dirty="0">
                    <a:latin typeface="+mj-lt"/>
                  </a:rPr>
                  <a:t>Trong các thuật toán CFSFDP truyền thống và CSDPPO, để tính </a:t>
                </a:r>
                <a14:m>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𝛿</m:t>
                        </m:r>
                      </m:e>
                      <m:sub>
                        <m:r>
                          <a:rPr lang="vi-VN" i="1">
                            <a:latin typeface="Cambria Math" panose="02040503050406030204" pitchFamily="18" charset="0"/>
                          </a:rPr>
                          <m:t>𝑖</m:t>
                        </m:r>
                      </m:sub>
                    </m:sSub>
                  </m:oMath>
                </a14:m>
                <a:r>
                  <a:rPr lang="vi-VN" dirty="0">
                    <a:latin typeface="+mj-lt"/>
                  </a:rPr>
                  <a:t> , ta phải tìm khoảng cách ngắn nhất từ điểm </a:t>
                </a:r>
                <a:r>
                  <a:rPr lang="vi-VN" i="1" dirty="0">
                    <a:latin typeface="+mj-lt"/>
                  </a:rPr>
                  <a:t>i</a:t>
                </a:r>
                <a:r>
                  <a:rPr lang="vi-VN" dirty="0">
                    <a:latin typeface="+mj-lt"/>
                  </a:rPr>
                  <a:t> đến tất cả các điểm </a:t>
                </a:r>
                <a:r>
                  <a:rPr lang="vi-VN" i="1" dirty="0">
                    <a:latin typeface="+mj-lt"/>
                  </a:rPr>
                  <a:t>j</a:t>
                </a:r>
                <a:r>
                  <a:rPr lang="vi-VN" dirty="0">
                    <a:latin typeface="+mj-lt"/>
                  </a:rPr>
                  <a:t> có </a:t>
                </a:r>
                <a14:m>
                  <m:oMath xmlns:m="http://schemas.openxmlformats.org/officeDocument/2006/math">
                    <m:sSub>
                      <m:sSubPr>
                        <m:ctrlPr>
                          <a:rPr lang="vi-VN" i="1" smtClean="0">
                            <a:latin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rPr>
                          <m:t>𝑗</m:t>
                        </m:r>
                      </m:sub>
                    </m:sSub>
                    <m:r>
                      <a:rPr lang="vi-VN" i="1" smtClean="0">
                        <a:latin typeface="Cambria Math" panose="02040503050406030204" pitchFamily="18" charset="0"/>
                        <a:ea typeface="Cambria Math" panose="02040503050406030204" pitchFamily="18" charset="0"/>
                      </a:rPr>
                      <m:t>&gt;</m:t>
                    </m:r>
                    <m:sSub>
                      <m:sSubPr>
                        <m:ctrlPr>
                          <a:rPr lang="vi-VN" i="1" smtClean="0">
                            <a:latin typeface="Cambria Math" panose="02040503050406030204" pitchFamily="18" charset="0"/>
                            <a:ea typeface="Cambria Math" panose="02040503050406030204" pitchFamily="18" charset="0"/>
                          </a:rPr>
                        </m:ctrlPr>
                      </m:sSubPr>
                      <m:e>
                        <m:r>
                          <a:rPr lang="vi-VN" i="1" smtClean="0">
                            <a:latin typeface="Cambria Math" panose="02040503050406030204" pitchFamily="18" charset="0"/>
                            <a:ea typeface="Cambria Math" panose="02040503050406030204" pitchFamily="18" charset="0"/>
                          </a:rPr>
                          <m:t>𝜌</m:t>
                        </m:r>
                      </m:e>
                      <m:sub>
                        <m:r>
                          <a:rPr lang="vi-VN" i="1">
                            <a:latin typeface="Cambria Math" panose="02040503050406030204" pitchFamily="18" charset="0"/>
                            <a:ea typeface="Cambria Math" panose="02040503050406030204" pitchFamily="18" charset="0"/>
                          </a:rPr>
                          <m:t>𝑖</m:t>
                        </m:r>
                      </m:sub>
                    </m:sSub>
                  </m:oMath>
                </a14:m>
                <a:r>
                  <a:rPr lang="vi-VN" i="1" dirty="0">
                    <a:latin typeface="+mj-lt"/>
                  </a:rPr>
                  <a:t>.</a:t>
                </a:r>
              </a:p>
              <a:p>
                <a:pPr marL="285750" indent="-285750" algn="just">
                  <a:lnSpc>
                    <a:spcPct val="150000"/>
                  </a:lnSpc>
                  <a:buFontTx/>
                  <a:buChar char="-"/>
                </a:pPr>
                <a:r>
                  <a:rPr lang="vi-VN" dirty="0">
                    <a:latin typeface="+mj-lt"/>
                  </a:rPr>
                  <a:t>Ở kịch bản xấu nhất, số lượng phép so sánh khoảng cách tiến gần đến N(N-1)/2. Với tập dữ liệu lớn (N &gt; 10.000), việc tính toán này trở nên bất khả thi về mặt thời gian.</a:t>
                </a:r>
              </a:p>
              <a:p>
                <a:pPr marL="285750" indent="-285750" algn="just">
                  <a:lnSpc>
                    <a:spcPct val="150000"/>
                  </a:lnSpc>
                  <a:buFontTx/>
                  <a:buChar char="-"/>
                </a:pPr>
                <a:r>
                  <a:rPr lang="vi-VN" dirty="0">
                    <a:latin typeface="+mj-lt"/>
                  </a:rPr>
                  <a:t>Phần lớn các phép so sánh này là thừa vì chúng ta chỉ quan tâm đến điểm có mật độ cao hơn ở vùng lân cận gần nhất.</a:t>
                </a:r>
              </a:p>
            </p:txBody>
          </p:sp>
        </mc:Choice>
        <mc:Fallback xmlns="">
          <p:sp>
            <p:nvSpPr>
              <p:cNvPr id="11" name="TextBox 5">
                <a:extLst>
                  <a:ext uri="{FF2B5EF4-FFF2-40B4-BE49-F238E27FC236}">
                    <a16:creationId xmlns:a16="http://schemas.microsoft.com/office/drawing/2014/main" id="{0C7A0EB1-ADB2-5C05-C8D4-DF6E8466913F}"/>
                  </a:ext>
                </a:extLst>
              </p:cNvPr>
              <p:cNvSpPr txBox="1">
                <a:spLocks noRot="1" noChangeAspect="1" noMove="1" noResize="1" noEditPoints="1" noAdjustHandles="1" noChangeArrowheads="1" noChangeShapeType="1" noTextEdit="1"/>
              </p:cNvSpPr>
              <p:nvPr/>
            </p:nvSpPr>
            <p:spPr>
              <a:xfrm>
                <a:off x="1079998" y="2417222"/>
                <a:ext cx="5959899" cy="3815532"/>
              </a:xfrm>
              <a:prstGeom prst="rect">
                <a:avLst/>
              </a:prstGeom>
              <a:blipFill>
                <a:blip r:embed="rId2"/>
                <a:stretch>
                  <a:fillRect l="-613" r="-920" b="-1760"/>
                </a:stretch>
              </a:blipFill>
            </p:spPr>
            <p:txBody>
              <a:bodyPr/>
              <a:lstStyle/>
              <a:p>
                <a:r>
                  <a:rPr lang="en-US">
                    <a:noFill/>
                  </a:rPr>
                  <a:t> </a:t>
                </a:r>
              </a:p>
            </p:txBody>
          </p:sp>
        </mc:Fallback>
      </mc:AlternateContent>
      <p:sp>
        <p:nvSpPr>
          <p:cNvPr id="9" name="Flowchart: Connector 8">
            <a:extLst>
              <a:ext uri="{FF2B5EF4-FFF2-40B4-BE49-F238E27FC236}">
                <a16:creationId xmlns:a16="http://schemas.microsoft.com/office/drawing/2014/main" id="{17E99DE1-558E-5B90-802B-26A0BC19DC51}"/>
              </a:ext>
            </a:extLst>
          </p:cNvPr>
          <p:cNvSpPr/>
          <p:nvPr/>
        </p:nvSpPr>
        <p:spPr>
          <a:xfrm>
            <a:off x="8505068" y="2344219"/>
            <a:ext cx="660312" cy="660312"/>
          </a:xfrm>
          <a:prstGeom prst="flowChartConnector">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A</a:t>
            </a:r>
            <a:endParaRPr lang="en-US" dirty="0"/>
          </a:p>
        </p:txBody>
      </p:sp>
      <p:sp>
        <p:nvSpPr>
          <p:cNvPr id="10" name="Flowchart: Connector 9">
            <a:extLst>
              <a:ext uri="{FF2B5EF4-FFF2-40B4-BE49-F238E27FC236}">
                <a16:creationId xmlns:a16="http://schemas.microsoft.com/office/drawing/2014/main" id="{FA0930D9-986A-7295-1205-F86DE8411FBA}"/>
              </a:ext>
            </a:extLst>
          </p:cNvPr>
          <p:cNvSpPr/>
          <p:nvPr/>
        </p:nvSpPr>
        <p:spPr>
          <a:xfrm>
            <a:off x="8505068" y="3165213"/>
            <a:ext cx="660312" cy="660312"/>
          </a:xfrm>
          <a:prstGeom prst="flowChartConnector">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B</a:t>
            </a:r>
            <a:endParaRPr lang="en-US" dirty="0"/>
          </a:p>
        </p:txBody>
      </p:sp>
      <p:sp>
        <p:nvSpPr>
          <p:cNvPr id="12" name="Flowchart: Connector 11">
            <a:extLst>
              <a:ext uri="{FF2B5EF4-FFF2-40B4-BE49-F238E27FC236}">
                <a16:creationId xmlns:a16="http://schemas.microsoft.com/office/drawing/2014/main" id="{F828F482-6A36-A75E-9922-644DF53C94C3}"/>
              </a:ext>
            </a:extLst>
          </p:cNvPr>
          <p:cNvSpPr/>
          <p:nvPr/>
        </p:nvSpPr>
        <p:spPr>
          <a:xfrm>
            <a:off x="8505068" y="3986207"/>
            <a:ext cx="660312" cy="660312"/>
          </a:xfrm>
          <a:prstGeom prst="flowChartConnector">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C</a:t>
            </a:r>
            <a:endParaRPr lang="en-US" dirty="0"/>
          </a:p>
        </p:txBody>
      </p:sp>
      <p:sp>
        <p:nvSpPr>
          <p:cNvPr id="13" name="Flowchart: Connector 12">
            <a:extLst>
              <a:ext uri="{FF2B5EF4-FFF2-40B4-BE49-F238E27FC236}">
                <a16:creationId xmlns:a16="http://schemas.microsoft.com/office/drawing/2014/main" id="{201CBB88-CDF5-6A93-2BA8-59FA2430F5F3}"/>
              </a:ext>
            </a:extLst>
          </p:cNvPr>
          <p:cNvSpPr/>
          <p:nvPr/>
        </p:nvSpPr>
        <p:spPr>
          <a:xfrm>
            <a:off x="8505068" y="4807201"/>
            <a:ext cx="660312" cy="660312"/>
          </a:xfrm>
          <a:prstGeom prst="flowChartConnector">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D</a:t>
            </a:r>
            <a:endParaRPr lang="en-US" dirty="0"/>
          </a:p>
        </p:txBody>
      </p:sp>
      <p:cxnSp>
        <p:nvCxnSpPr>
          <p:cNvPr id="18" name="Connector: Elbow 17">
            <a:extLst>
              <a:ext uri="{FF2B5EF4-FFF2-40B4-BE49-F238E27FC236}">
                <a16:creationId xmlns:a16="http://schemas.microsoft.com/office/drawing/2014/main" id="{5A160724-416E-D182-768A-CB3ABD4A4753}"/>
              </a:ext>
            </a:extLst>
          </p:cNvPr>
          <p:cNvCxnSpPr>
            <a:cxnSpLocks/>
            <a:stCxn id="13" idx="6"/>
            <a:endCxn id="12" idx="6"/>
          </p:cNvCxnSpPr>
          <p:nvPr/>
        </p:nvCxnSpPr>
        <p:spPr>
          <a:xfrm flipV="1">
            <a:off x="9165380" y="4316363"/>
            <a:ext cx="12700" cy="820994"/>
          </a:xfrm>
          <a:prstGeom prst="bentConnector3">
            <a:avLst>
              <a:gd name="adj1" fmla="val 5748386"/>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6EC4D79A-8A69-A683-DC17-A95B7DE79B09}"/>
              </a:ext>
            </a:extLst>
          </p:cNvPr>
          <p:cNvCxnSpPr>
            <a:cxnSpLocks/>
            <a:stCxn id="13" idx="6"/>
            <a:endCxn id="10" idx="6"/>
          </p:cNvCxnSpPr>
          <p:nvPr/>
        </p:nvCxnSpPr>
        <p:spPr>
          <a:xfrm flipV="1">
            <a:off x="9165380" y="3495369"/>
            <a:ext cx="12700" cy="1641988"/>
          </a:xfrm>
          <a:prstGeom prst="bentConnector3">
            <a:avLst>
              <a:gd name="adj1" fmla="val 992903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E22C1A3E-96A6-4890-6010-15CAE6EDAC04}"/>
              </a:ext>
            </a:extLst>
          </p:cNvPr>
          <p:cNvCxnSpPr>
            <a:cxnSpLocks/>
            <a:stCxn id="13" idx="6"/>
            <a:endCxn id="9" idx="6"/>
          </p:cNvCxnSpPr>
          <p:nvPr/>
        </p:nvCxnSpPr>
        <p:spPr>
          <a:xfrm flipV="1">
            <a:off x="9165380" y="2674375"/>
            <a:ext cx="12700" cy="2462982"/>
          </a:xfrm>
          <a:prstGeom prst="bentConnector3">
            <a:avLst>
              <a:gd name="adj1" fmla="val 1666451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4CAA1C9-A992-29BB-E408-D3E15DFCA016}"/>
              </a:ext>
            </a:extLst>
          </p:cNvPr>
          <p:cNvSpPr txBox="1"/>
          <p:nvPr/>
        </p:nvSpPr>
        <p:spPr>
          <a:xfrm>
            <a:off x="9178080" y="3847726"/>
            <a:ext cx="884903" cy="369332"/>
          </a:xfrm>
          <a:prstGeom prst="rect">
            <a:avLst/>
          </a:prstGeom>
          <a:noFill/>
        </p:spPr>
        <p:txBody>
          <a:bodyPr wrap="square" rtlCol="0">
            <a:spAutoFit/>
          </a:bodyPr>
          <a:lstStyle/>
          <a:p>
            <a:pPr algn="ctr"/>
            <a:r>
              <a:rPr lang="vi-VN" dirty="0"/>
              <a:t>d(D,C)</a:t>
            </a:r>
            <a:endParaRPr lang="en-US" dirty="0"/>
          </a:p>
        </p:txBody>
      </p:sp>
      <p:sp>
        <p:nvSpPr>
          <p:cNvPr id="33" name="TextBox 32">
            <a:extLst>
              <a:ext uri="{FF2B5EF4-FFF2-40B4-BE49-F238E27FC236}">
                <a16:creationId xmlns:a16="http://schemas.microsoft.com/office/drawing/2014/main" id="{9658A722-872C-8E8B-6843-15FF767AD66E}"/>
              </a:ext>
            </a:extLst>
          </p:cNvPr>
          <p:cNvSpPr txBox="1"/>
          <p:nvPr/>
        </p:nvSpPr>
        <p:spPr>
          <a:xfrm>
            <a:off x="9383240" y="3053978"/>
            <a:ext cx="884903" cy="369332"/>
          </a:xfrm>
          <a:prstGeom prst="rect">
            <a:avLst/>
          </a:prstGeom>
          <a:noFill/>
        </p:spPr>
        <p:txBody>
          <a:bodyPr wrap="square" rtlCol="0">
            <a:spAutoFit/>
          </a:bodyPr>
          <a:lstStyle/>
          <a:p>
            <a:pPr algn="ctr"/>
            <a:r>
              <a:rPr lang="vi-VN" dirty="0"/>
              <a:t>d(</a:t>
            </a:r>
            <a:r>
              <a:rPr lang="vi-VN"/>
              <a:t>D,B)</a:t>
            </a:r>
            <a:endParaRPr lang="en-US" dirty="0"/>
          </a:p>
        </p:txBody>
      </p:sp>
      <p:sp>
        <p:nvSpPr>
          <p:cNvPr id="34" name="TextBox 33">
            <a:extLst>
              <a:ext uri="{FF2B5EF4-FFF2-40B4-BE49-F238E27FC236}">
                <a16:creationId xmlns:a16="http://schemas.microsoft.com/office/drawing/2014/main" id="{FACFBB47-659E-736E-9043-F6D1E515145E}"/>
              </a:ext>
            </a:extLst>
          </p:cNvPr>
          <p:cNvSpPr txBox="1"/>
          <p:nvPr/>
        </p:nvSpPr>
        <p:spPr>
          <a:xfrm>
            <a:off x="9584468" y="2232556"/>
            <a:ext cx="884903" cy="369332"/>
          </a:xfrm>
          <a:prstGeom prst="rect">
            <a:avLst/>
          </a:prstGeom>
          <a:noFill/>
        </p:spPr>
        <p:txBody>
          <a:bodyPr wrap="square" rtlCol="0">
            <a:spAutoFit/>
          </a:bodyPr>
          <a:lstStyle/>
          <a:p>
            <a:pPr algn="ctr"/>
            <a:r>
              <a:rPr lang="vi-VN" dirty="0"/>
              <a:t>d(D,A)</a:t>
            </a:r>
            <a:endParaRPr lang="en-US" dirty="0"/>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900FA39-EA40-BB32-B591-61E94FF15781}"/>
                  </a:ext>
                </a:extLst>
              </p:cNvPr>
              <p:cNvSpPr txBox="1"/>
              <p:nvPr/>
            </p:nvSpPr>
            <p:spPr>
              <a:xfrm>
                <a:off x="8294405" y="5628195"/>
                <a:ext cx="3537155"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𝛿</m:t>
                        </m:r>
                      </m:e>
                      <m:sub>
                        <m:r>
                          <m:rPr>
                            <m:sty m:val="p"/>
                          </m:rPr>
                          <a:rPr lang="vi-VN" i="1">
                            <a:latin typeface="Cambria Math" panose="02040503050406030204" pitchFamily="18" charset="0"/>
                          </a:rPr>
                          <m:t>D</m:t>
                        </m:r>
                      </m:sub>
                    </m:sSub>
                    <m:r>
                      <a:rPr lang="vi-VN" b="0" i="1" smtClean="0">
                        <a:latin typeface="Cambria Math" panose="02040503050406030204" pitchFamily="18" charset="0"/>
                      </a:rPr>
                      <m:t>=</m:t>
                    </m:r>
                    <m:r>
                      <m:rPr>
                        <m:sty m:val="p"/>
                      </m:rPr>
                      <a:rPr lang="vi-VN" i="1">
                        <a:latin typeface="Cambria Math" panose="02040503050406030204" pitchFamily="18" charset="0"/>
                      </a:rPr>
                      <m:t>min</m:t>
                    </m:r>
                  </m:oMath>
                </a14:m>
                <a:r>
                  <a:rPr lang="vi-VN" dirty="0">
                    <a:latin typeface="Times New Roman" panose="02020603050405020304" pitchFamily="18" charset="0"/>
                    <a:cs typeface="Times New Roman" panose="02020603050405020304" pitchFamily="18" charset="0"/>
                  </a:rPr>
                  <a:t>(d(D,C), d(D,B), d(D,A))</a:t>
                </a:r>
                <a:endParaRPr lang="en-US" dirty="0">
                  <a:latin typeface="Times New Roman" panose="02020603050405020304" pitchFamily="18" charset="0"/>
                  <a:cs typeface="Times New Roman" panose="02020603050405020304" pitchFamily="18" charset="0"/>
                </a:endParaRPr>
              </a:p>
            </p:txBody>
          </p:sp>
        </mc:Choice>
        <mc:Fallback xmlns="">
          <p:sp>
            <p:nvSpPr>
              <p:cNvPr id="35" name="TextBox 34">
                <a:extLst>
                  <a:ext uri="{FF2B5EF4-FFF2-40B4-BE49-F238E27FC236}">
                    <a16:creationId xmlns:a16="http://schemas.microsoft.com/office/drawing/2014/main" id="{F900FA39-EA40-BB32-B591-61E94FF15781}"/>
                  </a:ext>
                </a:extLst>
              </p:cNvPr>
              <p:cNvSpPr txBox="1">
                <a:spLocks noRot="1" noChangeAspect="1" noMove="1" noResize="1" noEditPoints="1" noAdjustHandles="1" noChangeArrowheads="1" noChangeShapeType="1" noTextEdit="1"/>
              </p:cNvSpPr>
              <p:nvPr/>
            </p:nvSpPr>
            <p:spPr>
              <a:xfrm>
                <a:off x="8294405" y="5628195"/>
                <a:ext cx="3537155" cy="369332"/>
              </a:xfrm>
              <a:prstGeom prst="rect">
                <a:avLst/>
              </a:prstGeom>
              <a:blipFill>
                <a:blip r:embed="rId3"/>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6F5CFE0-F680-47A1-8EA9-AA95BDDC3D2E}"/>
                  </a:ext>
                </a:extLst>
              </p:cNvPr>
              <p:cNvSpPr txBox="1"/>
              <p:nvPr/>
            </p:nvSpPr>
            <p:spPr>
              <a:xfrm>
                <a:off x="7950200" y="1728000"/>
                <a:ext cx="3612535" cy="369332"/>
              </a:xfrm>
              <a:prstGeom prst="rect">
                <a:avLst/>
              </a:prstGeom>
              <a:noFill/>
            </p:spPr>
            <p:txBody>
              <a:bodyPr wrap="square" rtlCol="0">
                <a:spAutoFit/>
              </a:bodyPr>
              <a:lstStyle/>
              <a:p>
                <a:pPr algn="ctr"/>
                <a:r>
                  <a:rPr lang="vi-VN" dirty="0">
                    <a:latin typeface="Times New Roman" panose="02020603050405020304" pitchFamily="18" charset="0"/>
                    <a:cs typeface="Times New Roman" panose="02020603050405020304" pitchFamily="18" charset="0"/>
                  </a:rPr>
                  <a:t>Mật độ: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m:rPr>
                            <m:sty m:val="p"/>
                          </m:rPr>
                          <a:rPr lang="vi-VN" i="1">
                            <a:latin typeface="Cambria Math" panose="02040503050406030204" pitchFamily="18" charset="0"/>
                          </a:rPr>
                          <m:t>A</m:t>
                        </m:r>
                      </m:sub>
                    </m:sSub>
                    <m:r>
                      <a:rPr lang="en-US" i="1" smtClean="0">
                        <a:latin typeface="Cambria Math" panose="02040503050406030204" pitchFamily="18" charset="0"/>
                        <a:ea typeface="Cambria Math" panose="02040503050406030204" pitchFamily="18" charset="0"/>
                      </a:rPr>
                      <m:t>&gt;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m:rPr>
                            <m:sty m:val="p"/>
                          </m:rPr>
                          <a:rPr lang="vi-VN" i="1">
                            <a:latin typeface="Cambria Math" panose="02040503050406030204" pitchFamily="18" charset="0"/>
                            <a:ea typeface="Cambria Math" panose="02040503050406030204" pitchFamily="18" charset="0"/>
                          </a:rPr>
                          <m:t>B</m:t>
                        </m:r>
                      </m:sub>
                    </m:sSub>
                    <m:r>
                      <a:rPr lang="en-US" i="1" smtClean="0">
                        <a:latin typeface="Cambria Math" panose="02040503050406030204" pitchFamily="18" charset="0"/>
                        <a:ea typeface="Cambria Math" panose="02040503050406030204" pitchFamily="18" charset="0"/>
                      </a:rPr>
                      <m:t>&gt;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m:rPr>
                            <m:sty m:val="p"/>
                          </m:rPr>
                          <a:rPr lang="vi-VN" i="1">
                            <a:latin typeface="Cambria Math" panose="02040503050406030204" pitchFamily="18" charset="0"/>
                            <a:ea typeface="Cambria Math" panose="02040503050406030204" pitchFamily="18" charset="0"/>
                          </a:rPr>
                          <m:t>C</m:t>
                        </m:r>
                      </m:sub>
                    </m:sSub>
                    <m:r>
                      <a:rPr lang="en-US" i="1" smtClean="0">
                        <a:latin typeface="Cambria Math" panose="02040503050406030204" pitchFamily="18" charset="0"/>
                        <a:ea typeface="Cambria Math" panose="02040503050406030204" pitchFamily="18" charset="0"/>
                      </a:rPr>
                      <m:t>&gt;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m:rPr>
                            <m:sty m:val="p"/>
                          </m:rPr>
                          <a:rPr lang="vi-VN" i="1">
                            <a:latin typeface="Cambria Math" panose="02040503050406030204" pitchFamily="18" charset="0"/>
                            <a:ea typeface="Cambria Math" panose="02040503050406030204" pitchFamily="18" charset="0"/>
                          </a:rPr>
                          <m:t>D</m:t>
                        </m:r>
                      </m:sub>
                    </m:sSub>
                  </m:oMath>
                </a14:m>
                <a:endParaRPr lang="en-US" dirty="0">
                  <a:latin typeface="Times New Roman" panose="02020603050405020304" pitchFamily="18" charset="0"/>
                  <a:cs typeface="Times New Roman" panose="02020603050405020304" pitchFamily="18" charset="0"/>
                </a:endParaRPr>
              </a:p>
            </p:txBody>
          </p:sp>
        </mc:Choice>
        <mc:Fallback xmlns="">
          <p:sp>
            <p:nvSpPr>
              <p:cNvPr id="36" name="TextBox 35">
                <a:extLst>
                  <a:ext uri="{FF2B5EF4-FFF2-40B4-BE49-F238E27FC236}">
                    <a16:creationId xmlns:a16="http://schemas.microsoft.com/office/drawing/2014/main" id="{E6F5CFE0-F680-47A1-8EA9-AA95BDDC3D2E}"/>
                  </a:ext>
                </a:extLst>
              </p:cNvPr>
              <p:cNvSpPr txBox="1">
                <a:spLocks noRot="1" noChangeAspect="1" noMove="1" noResize="1" noEditPoints="1" noAdjustHandles="1" noChangeArrowheads="1" noChangeShapeType="1" noTextEdit="1"/>
              </p:cNvSpPr>
              <p:nvPr/>
            </p:nvSpPr>
            <p:spPr>
              <a:xfrm>
                <a:off x="7950200" y="1728000"/>
                <a:ext cx="3612535" cy="369332"/>
              </a:xfrm>
              <a:prstGeom prst="rect">
                <a:avLst/>
              </a:prstGeom>
              <a:blipFill>
                <a:blip r:embed="rId4"/>
                <a:stretch>
                  <a:fillRect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1446992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3D3FB-E235-C2E5-FEB5-6A6CF702F4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81EB85-CE9D-A43D-E6D5-62AC06DFCC47}"/>
              </a:ext>
            </a:extLst>
          </p:cNvPr>
          <p:cNvSpPr>
            <a:spLocks noGrp="1"/>
          </p:cNvSpPr>
          <p:nvPr>
            <p:ph type="sldNum" sz="quarter" idx="12"/>
          </p:nvPr>
        </p:nvSpPr>
        <p:spPr/>
        <p:txBody>
          <a:bodyPr/>
          <a:lstStyle/>
          <a:p>
            <a:fld id="{9B618960-8005-486C-9A75-10CB2AAC16F9}" type="slidenum">
              <a:rPr lang="en-US" smtClean="0"/>
              <a:t>33</a:t>
            </a:fld>
            <a:endParaRPr lang="en-US"/>
          </a:p>
        </p:txBody>
      </p:sp>
      <p:sp>
        <p:nvSpPr>
          <p:cNvPr id="5" name="TextBox 3">
            <a:extLst>
              <a:ext uri="{FF2B5EF4-FFF2-40B4-BE49-F238E27FC236}">
                <a16:creationId xmlns:a16="http://schemas.microsoft.com/office/drawing/2014/main" id="{32A4363A-4971-3563-6458-1C9C90675F33}"/>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6455A66E-CE87-DB0B-85EB-524246500421}"/>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MỤC TIÊU CẢI TIẾN </a:t>
            </a:r>
            <a:endParaRPr lang="en-US" dirty="0">
              <a:latin typeface="+mj-lt"/>
            </a:endParaRPr>
          </a:p>
        </p:txBody>
      </p:sp>
      <mc:AlternateContent xmlns:mc="http://schemas.openxmlformats.org/markup-compatibility/2006" xmlns:a14="http://schemas.microsoft.com/office/drawing/2010/main">
        <mc:Choice Requires="a14">
          <p:sp>
            <p:nvSpPr>
              <p:cNvPr id="11" name="TextBox 5">
                <a:extLst>
                  <a:ext uri="{FF2B5EF4-FFF2-40B4-BE49-F238E27FC236}">
                    <a16:creationId xmlns:a16="http://schemas.microsoft.com/office/drawing/2014/main" id="{3DA5C840-34BE-0A86-692E-0CDED8B56E70}"/>
                  </a:ext>
                </a:extLst>
              </p:cNvPr>
              <p:cNvSpPr txBox="1"/>
              <p:nvPr/>
            </p:nvSpPr>
            <p:spPr>
              <a:xfrm>
                <a:off x="1079999" y="2417222"/>
                <a:ext cx="9322530" cy="295106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Mục tiêu: Giảm số lượng các phép tính toán và giảm thời gian tính </a:t>
                </a:r>
                <a14:m>
                  <m:oMath xmlns:m="http://schemas.openxmlformats.org/officeDocument/2006/math">
                    <m:r>
                      <a:rPr lang="vi-VN" i="1" smtClean="0">
                        <a:latin typeface="Cambria Math" panose="02040503050406030204" pitchFamily="18" charset="0"/>
                        <a:ea typeface="Cambria Math" panose="02040503050406030204" pitchFamily="18" charset="0"/>
                      </a:rPr>
                      <m:t>𝛿</m:t>
                    </m:r>
                  </m:oMath>
                </a14:m>
                <a:r>
                  <a:rPr lang="vi-VN" dirty="0">
                    <a:latin typeface="+mj-lt"/>
                  </a:rPr>
                  <a:t> nhưng đồng thời bảo đảm chất lượng của kết quả phân cụm được giữ nguyên như thuật toán gốc.</a:t>
                </a:r>
              </a:p>
              <a:p>
                <a:pPr marL="285750" indent="-285750" algn="just">
                  <a:lnSpc>
                    <a:spcPct val="150000"/>
                  </a:lnSpc>
                  <a:buFont typeface="Wingdings" panose="05000000000000000000" pitchFamily="2" charset="2"/>
                  <a:buChar char="v"/>
                </a:pPr>
                <a:r>
                  <a:rPr lang="vi-VN" dirty="0">
                    <a:latin typeface="+mj-lt"/>
                  </a:rPr>
                  <a:t>Giải pháp: </a:t>
                </a:r>
              </a:p>
              <a:p>
                <a:pPr marL="285750" indent="-285750" algn="just">
                  <a:lnSpc>
                    <a:spcPct val="150000"/>
                  </a:lnSpc>
                  <a:buFontTx/>
                  <a:buChar char="-"/>
                </a:pPr>
                <a:r>
                  <a:rPr lang="vi-VN" dirty="0">
                    <a:latin typeface="+mj-lt"/>
                  </a:rPr>
                  <a:t>PGD (Pruned Grid Delta) được đề xuất để thu hẹp phạm vi tìm kiếm thông qua chia lưới không </a:t>
                </a:r>
                <a:r>
                  <a:rPr lang="en-US" dirty="0" err="1">
                    <a:latin typeface="Times New Roman" panose="02020603050405020304" pitchFamily="18" charset="0"/>
                    <a:cs typeface="Times New Roman" panose="02020603050405020304" pitchFamily="18" charset="0"/>
                  </a:rPr>
                  <a:t>gi</a:t>
                </a:r>
                <a:r>
                  <a:rPr lang="vi-VN" dirty="0">
                    <a:latin typeface="+mj-lt"/>
                  </a:rPr>
                  <a:t>an thích hợp.</a:t>
                </a:r>
              </a:p>
              <a:p>
                <a:pPr marL="285750" indent="-285750" algn="just">
                  <a:lnSpc>
                    <a:spcPct val="150000"/>
                  </a:lnSpc>
                  <a:buFontTx/>
                  <a:buChar char="-"/>
                </a:pPr>
                <a:r>
                  <a:rPr lang="vi-VN" dirty="0">
                    <a:latin typeface="+mj-lt"/>
                  </a:rPr>
                  <a:t>Thay vì tìm kiếm toàn cục, PGD chuyển sang tìm kiếm cục bộ mở rộng kết hợp với cơ chế cắt tỉa toán học chặt chẽ.</a:t>
                </a:r>
              </a:p>
            </p:txBody>
          </p:sp>
        </mc:Choice>
        <mc:Fallback xmlns="">
          <p:sp>
            <p:nvSpPr>
              <p:cNvPr id="11" name="TextBox 5">
                <a:extLst>
                  <a:ext uri="{FF2B5EF4-FFF2-40B4-BE49-F238E27FC236}">
                    <a16:creationId xmlns:a16="http://schemas.microsoft.com/office/drawing/2014/main" id="{3DA5C840-34BE-0A86-692E-0CDED8B56E70}"/>
                  </a:ext>
                </a:extLst>
              </p:cNvPr>
              <p:cNvSpPr txBox="1">
                <a:spLocks noRot="1" noChangeAspect="1" noMove="1" noResize="1" noEditPoints="1" noAdjustHandles="1" noChangeArrowheads="1" noChangeShapeType="1" noTextEdit="1"/>
              </p:cNvSpPr>
              <p:nvPr/>
            </p:nvSpPr>
            <p:spPr>
              <a:xfrm>
                <a:off x="1079999" y="2417222"/>
                <a:ext cx="9322530" cy="2951064"/>
              </a:xfrm>
              <a:prstGeom prst="rect">
                <a:avLst/>
              </a:prstGeom>
              <a:blipFill>
                <a:blip r:embed="rId2"/>
                <a:stretch>
                  <a:fillRect l="-392" r="-589" b="-2479"/>
                </a:stretch>
              </a:blipFill>
            </p:spPr>
            <p:txBody>
              <a:bodyPr/>
              <a:lstStyle/>
              <a:p>
                <a:r>
                  <a:rPr lang="en-US">
                    <a:noFill/>
                  </a:rPr>
                  <a:t> </a:t>
                </a:r>
              </a:p>
            </p:txBody>
          </p:sp>
        </mc:Fallback>
      </mc:AlternateContent>
    </p:spTree>
    <p:extLst>
      <p:ext uri="{BB962C8B-B14F-4D97-AF65-F5344CB8AC3E}">
        <p14:creationId xmlns:p14="http://schemas.microsoft.com/office/powerpoint/2010/main" val="2447319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45AD-62A8-47A8-CB62-90274CB05D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BAA092-E4C1-5132-A8DF-99FBA89D4EDD}"/>
              </a:ext>
            </a:extLst>
          </p:cNvPr>
          <p:cNvSpPr>
            <a:spLocks noGrp="1"/>
          </p:cNvSpPr>
          <p:nvPr>
            <p:ph type="sldNum" sz="quarter" idx="12"/>
          </p:nvPr>
        </p:nvSpPr>
        <p:spPr/>
        <p:txBody>
          <a:bodyPr/>
          <a:lstStyle/>
          <a:p>
            <a:fld id="{9B618960-8005-486C-9A75-10CB2AAC16F9}" type="slidenum">
              <a:rPr lang="en-US" smtClean="0"/>
              <a:t>34</a:t>
            </a:fld>
            <a:endParaRPr lang="en-US"/>
          </a:p>
        </p:txBody>
      </p:sp>
      <p:sp>
        <p:nvSpPr>
          <p:cNvPr id="5" name="TextBox 3">
            <a:extLst>
              <a:ext uri="{FF2B5EF4-FFF2-40B4-BE49-F238E27FC236}">
                <a16:creationId xmlns:a16="http://schemas.microsoft.com/office/drawing/2014/main" id="{0E63D9E2-A189-A6F8-CB2D-2DD60E7EEAD3}"/>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7CB9E02D-0FB7-6BDB-1856-BD9B31561CCF}"/>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3F1D15E6-F75E-1794-E19E-54B2890A4DAB}"/>
                  </a:ext>
                </a:extLst>
              </p:cNvPr>
              <p:cNvSpPr txBox="1"/>
              <p:nvPr/>
            </p:nvSpPr>
            <p:spPr>
              <a:xfrm>
                <a:off x="1079998" y="2097332"/>
                <a:ext cx="4563717" cy="37820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Global Bounding Box</a:t>
                </a:r>
              </a:p>
              <a:p>
                <a:pPr marL="285750" indent="-285750" algn="just">
                  <a:lnSpc>
                    <a:spcPct val="150000"/>
                  </a:lnSpc>
                  <a:buFontTx/>
                  <a:buChar char="-"/>
                </a:pPr>
                <a:r>
                  <a:rPr lang="vi-VN" dirty="0">
                    <a:latin typeface="+mj-lt"/>
                  </a:rPr>
                  <a:t>Để xây dựng được toàn bộ hệ thống ô lưới (Grid), bước đầu tiên và quan trọng nhất của thuật toán là phải xác định được khung giới hạn bao bọc toàn cục của tập dữ liệu.</a:t>
                </a:r>
              </a:p>
              <a:p>
                <a:pPr marL="285750" indent="-285750" algn="just">
                  <a:lnSpc>
                    <a:spcPct val="150000"/>
                  </a:lnSpc>
                  <a:buFontTx/>
                  <a:buChar char="-"/>
                </a:pPr>
                <a:r>
                  <a:rPr lang="vi-VN" dirty="0">
                    <a:latin typeface="+mj-lt"/>
                  </a:rPr>
                  <a:t>Bốn giá trị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max</m:t>
                        </m:r>
                      </m:sub>
                    </m:sSub>
                    <m:r>
                      <a:rPr lang="vi-VN" b="0" i="1" smtClean="0">
                        <a:latin typeface="Cambria Math" panose="02040503050406030204" pitchFamily="18" charset="0"/>
                      </a:rPr>
                      <m:t>,</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max</m:t>
                        </m:r>
                      </m:sub>
                    </m:sSub>
                  </m:oMath>
                </a14:m>
                <a:r>
                  <a:rPr lang="vi-VN" dirty="0">
                    <a:latin typeface="+mj-lt"/>
                  </a:rPr>
                  <a:t> của cả lưới chính là các đường biên ngoài cùng, tạo thành một hình chữ nhật lớn ôm trọn lấy tất cả các điểm dữ liệu đầu vào.</a:t>
                </a:r>
              </a:p>
            </p:txBody>
          </p:sp>
        </mc:Choice>
        <mc:Fallback xmlns="">
          <p:sp>
            <p:nvSpPr>
              <p:cNvPr id="3" name="TextBox 5">
                <a:extLst>
                  <a:ext uri="{FF2B5EF4-FFF2-40B4-BE49-F238E27FC236}">
                    <a16:creationId xmlns:a16="http://schemas.microsoft.com/office/drawing/2014/main" id="{3F1D15E6-F75E-1794-E19E-54B2890A4DAB}"/>
                  </a:ext>
                </a:extLst>
              </p:cNvPr>
              <p:cNvSpPr txBox="1">
                <a:spLocks noRot="1" noChangeAspect="1" noMove="1" noResize="1" noEditPoints="1" noAdjustHandles="1" noChangeArrowheads="1" noChangeShapeType="1" noTextEdit="1"/>
              </p:cNvSpPr>
              <p:nvPr/>
            </p:nvSpPr>
            <p:spPr>
              <a:xfrm>
                <a:off x="1079998" y="2097332"/>
                <a:ext cx="4563717" cy="3782061"/>
              </a:xfrm>
              <a:prstGeom prst="rect">
                <a:avLst/>
              </a:prstGeom>
              <a:blipFill>
                <a:blip r:embed="rId2"/>
                <a:stretch>
                  <a:fillRect l="-801" r="-1068" b="-1774"/>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FEEC7FAE-97A1-820E-A0A6-56F75F952BDB}"/>
              </a:ext>
            </a:extLst>
          </p:cNvPr>
          <p:cNvCxnSpPr>
            <a:cxnSpLocks/>
          </p:cNvCxnSpPr>
          <p:nvPr/>
        </p:nvCxnSpPr>
        <p:spPr>
          <a:xfrm>
            <a:off x="7256207" y="5633884"/>
            <a:ext cx="409759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5D1CD3C-3D65-2CFC-F9B9-CDCF26AA6062}"/>
              </a:ext>
            </a:extLst>
          </p:cNvPr>
          <p:cNvCxnSpPr>
            <a:cxnSpLocks/>
          </p:cNvCxnSpPr>
          <p:nvPr/>
        </p:nvCxnSpPr>
        <p:spPr>
          <a:xfrm flipV="1">
            <a:off x="7256207" y="2417222"/>
            <a:ext cx="0" cy="32249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F96A93B-B7E8-5EFB-7770-611536676656}"/>
              </a:ext>
            </a:extLst>
          </p:cNvPr>
          <p:cNvSpPr/>
          <p:nvPr/>
        </p:nvSpPr>
        <p:spPr>
          <a:xfrm>
            <a:off x="7563258" y="3223880"/>
            <a:ext cx="2930013" cy="2113935"/>
          </a:xfrm>
          <a:prstGeom prst="rect">
            <a:avLst/>
          </a:prstGeom>
          <a:solidFill>
            <a:schemeClr val="accent1">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D7DA02D6-9385-687D-2CDE-B99AEDEBB230}"/>
              </a:ext>
            </a:extLst>
          </p:cNvPr>
          <p:cNvSpPr txBox="1"/>
          <p:nvPr/>
        </p:nvSpPr>
        <p:spPr>
          <a:xfrm>
            <a:off x="6909618" y="2571110"/>
            <a:ext cx="226142" cy="307777"/>
          </a:xfrm>
          <a:prstGeom prst="rect">
            <a:avLst/>
          </a:prstGeom>
          <a:noFill/>
        </p:spPr>
        <p:txBody>
          <a:bodyPr wrap="square" rtlCol="0">
            <a:spAutoFit/>
          </a:bodyPr>
          <a:lstStyle/>
          <a:p>
            <a:pPr algn="ctr"/>
            <a:r>
              <a:rPr lang="vi-VN" sz="1400" dirty="0">
                <a:latin typeface="+mj-lt"/>
              </a:rPr>
              <a:t>y</a:t>
            </a:r>
            <a:endParaRPr lang="en-US" sz="1400" dirty="0">
              <a:latin typeface="+mj-lt"/>
            </a:endParaRPr>
          </a:p>
        </p:txBody>
      </p:sp>
      <p:sp>
        <p:nvSpPr>
          <p:cNvPr id="15" name="TextBox 14">
            <a:extLst>
              <a:ext uri="{FF2B5EF4-FFF2-40B4-BE49-F238E27FC236}">
                <a16:creationId xmlns:a16="http://schemas.microsoft.com/office/drawing/2014/main" id="{8A0285C7-4656-AD65-E3A7-C64E29F88403}"/>
              </a:ext>
            </a:extLst>
          </p:cNvPr>
          <p:cNvSpPr txBox="1"/>
          <p:nvPr/>
        </p:nvSpPr>
        <p:spPr>
          <a:xfrm>
            <a:off x="10998930" y="5661694"/>
            <a:ext cx="226142" cy="307777"/>
          </a:xfrm>
          <a:prstGeom prst="rect">
            <a:avLst/>
          </a:prstGeom>
          <a:noFill/>
        </p:spPr>
        <p:txBody>
          <a:bodyPr wrap="square" rtlCol="0">
            <a:spAutoFit/>
          </a:bodyPr>
          <a:lstStyle/>
          <a:p>
            <a:pPr algn="ctr"/>
            <a:r>
              <a:rPr lang="vi-VN" sz="1400" dirty="0">
                <a:latin typeface="+mj-lt"/>
              </a:rPr>
              <a:t>x</a:t>
            </a:r>
            <a:endParaRPr lang="en-US" sz="1400" dirty="0">
              <a:latin typeface="+mj-lt"/>
            </a:endParaRPr>
          </a:p>
        </p:txBody>
      </p:sp>
      <p:sp>
        <p:nvSpPr>
          <p:cNvPr id="17" name="Flowchart: Connector 16">
            <a:extLst>
              <a:ext uri="{FF2B5EF4-FFF2-40B4-BE49-F238E27FC236}">
                <a16:creationId xmlns:a16="http://schemas.microsoft.com/office/drawing/2014/main" id="{069839D0-0B86-EF9C-835F-AA6640780EBD}"/>
              </a:ext>
            </a:extLst>
          </p:cNvPr>
          <p:cNvSpPr/>
          <p:nvPr/>
        </p:nvSpPr>
        <p:spPr>
          <a:xfrm>
            <a:off x="7563258" y="4729316"/>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a:extLst>
              <a:ext uri="{FF2B5EF4-FFF2-40B4-BE49-F238E27FC236}">
                <a16:creationId xmlns:a16="http://schemas.microsoft.com/office/drawing/2014/main" id="{801CF70D-F8A8-86EB-F6E8-7131B83838B2}"/>
              </a:ext>
            </a:extLst>
          </p:cNvPr>
          <p:cNvSpPr/>
          <p:nvPr/>
        </p:nvSpPr>
        <p:spPr>
          <a:xfrm>
            <a:off x="7912406" y="5168241"/>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DAC3129B-6B45-97F3-6AC9-2EF772ED02C5}"/>
              </a:ext>
            </a:extLst>
          </p:cNvPr>
          <p:cNvSpPr/>
          <p:nvPr/>
        </p:nvSpPr>
        <p:spPr>
          <a:xfrm>
            <a:off x="10294168" y="3662515"/>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a:extLst>
              <a:ext uri="{FF2B5EF4-FFF2-40B4-BE49-F238E27FC236}">
                <a16:creationId xmlns:a16="http://schemas.microsoft.com/office/drawing/2014/main" id="{9D1961C3-6ED4-75B5-E248-A2EDBE468596}"/>
              </a:ext>
            </a:extLst>
          </p:cNvPr>
          <p:cNvSpPr/>
          <p:nvPr/>
        </p:nvSpPr>
        <p:spPr>
          <a:xfrm>
            <a:off x="9982200" y="3246897"/>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Connector 21">
            <a:extLst>
              <a:ext uri="{FF2B5EF4-FFF2-40B4-BE49-F238E27FC236}">
                <a16:creationId xmlns:a16="http://schemas.microsoft.com/office/drawing/2014/main" id="{72EB6FB8-7784-52C5-5D59-8539544DFC73}"/>
              </a:ext>
            </a:extLst>
          </p:cNvPr>
          <p:cNvSpPr/>
          <p:nvPr/>
        </p:nvSpPr>
        <p:spPr>
          <a:xfrm>
            <a:off x="9460883" y="4125061"/>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a:extLst>
              <a:ext uri="{FF2B5EF4-FFF2-40B4-BE49-F238E27FC236}">
                <a16:creationId xmlns:a16="http://schemas.microsoft.com/office/drawing/2014/main" id="{6FF69048-BD0A-B6B7-624C-0A03C9AB0726}"/>
              </a:ext>
            </a:extLst>
          </p:cNvPr>
          <p:cNvSpPr/>
          <p:nvPr/>
        </p:nvSpPr>
        <p:spPr>
          <a:xfrm>
            <a:off x="9028264" y="4465355"/>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a:extLst>
              <a:ext uri="{FF2B5EF4-FFF2-40B4-BE49-F238E27FC236}">
                <a16:creationId xmlns:a16="http://schemas.microsoft.com/office/drawing/2014/main" id="{A805250E-3528-FF68-17C4-EEFB995BFFEE}"/>
              </a:ext>
            </a:extLst>
          </p:cNvPr>
          <p:cNvSpPr/>
          <p:nvPr/>
        </p:nvSpPr>
        <p:spPr>
          <a:xfrm>
            <a:off x="8610600" y="4126149"/>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Connector 24">
            <a:extLst>
              <a:ext uri="{FF2B5EF4-FFF2-40B4-BE49-F238E27FC236}">
                <a16:creationId xmlns:a16="http://schemas.microsoft.com/office/drawing/2014/main" id="{4AD9E19A-A31E-01CB-F6F5-A09045C0D931}"/>
              </a:ext>
            </a:extLst>
          </p:cNvPr>
          <p:cNvSpPr/>
          <p:nvPr/>
        </p:nvSpPr>
        <p:spPr>
          <a:xfrm>
            <a:off x="8610600" y="3752399"/>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lowchart: Connector 25">
            <a:extLst>
              <a:ext uri="{FF2B5EF4-FFF2-40B4-BE49-F238E27FC236}">
                <a16:creationId xmlns:a16="http://schemas.microsoft.com/office/drawing/2014/main" id="{0EE0CA16-9E28-B34F-5A4D-60391FAAE98A}"/>
              </a:ext>
            </a:extLst>
          </p:cNvPr>
          <p:cNvSpPr/>
          <p:nvPr/>
        </p:nvSpPr>
        <p:spPr>
          <a:xfrm>
            <a:off x="9028264" y="3753566"/>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a:extLst>
              <a:ext uri="{FF2B5EF4-FFF2-40B4-BE49-F238E27FC236}">
                <a16:creationId xmlns:a16="http://schemas.microsoft.com/office/drawing/2014/main" id="{EC721EE1-74ED-23B6-5A53-12BF4193A6A8}"/>
              </a:ext>
            </a:extLst>
          </p:cNvPr>
          <p:cNvSpPr/>
          <p:nvPr/>
        </p:nvSpPr>
        <p:spPr>
          <a:xfrm>
            <a:off x="9033286" y="4126024"/>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2005761F-24A0-343E-42B6-5A1D6307FF8C}"/>
              </a:ext>
            </a:extLst>
          </p:cNvPr>
          <p:cNvCxnSpPr>
            <a:cxnSpLocks/>
          </p:cNvCxnSpPr>
          <p:nvPr/>
        </p:nvCxnSpPr>
        <p:spPr>
          <a:xfrm flipH="1">
            <a:off x="7255080" y="5337815"/>
            <a:ext cx="308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FC69A8D-7025-A381-46D2-54FCB2E0E9EC}"/>
              </a:ext>
            </a:extLst>
          </p:cNvPr>
          <p:cNvCxnSpPr>
            <a:cxnSpLocks/>
          </p:cNvCxnSpPr>
          <p:nvPr/>
        </p:nvCxnSpPr>
        <p:spPr>
          <a:xfrm flipH="1">
            <a:off x="7255080" y="3223880"/>
            <a:ext cx="308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7B4364D-1988-5312-9245-8DABA0FB38F3}"/>
              </a:ext>
            </a:extLst>
          </p:cNvPr>
          <p:cNvCxnSpPr>
            <a:cxnSpLocks/>
          </p:cNvCxnSpPr>
          <p:nvPr/>
        </p:nvCxnSpPr>
        <p:spPr>
          <a:xfrm>
            <a:off x="7563258" y="5337815"/>
            <a:ext cx="0" cy="304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132EC9E-9DF1-54B5-B015-2F102FB9D1A7}"/>
              </a:ext>
            </a:extLst>
          </p:cNvPr>
          <p:cNvCxnSpPr>
            <a:cxnSpLocks/>
          </p:cNvCxnSpPr>
          <p:nvPr/>
        </p:nvCxnSpPr>
        <p:spPr>
          <a:xfrm flipH="1">
            <a:off x="10486102" y="5337815"/>
            <a:ext cx="7169" cy="304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EB2F889-B0E6-75D4-BF9C-350DE78DDAB8}"/>
                  </a:ext>
                </a:extLst>
              </p:cNvPr>
              <p:cNvSpPr txBox="1"/>
              <p:nvPr/>
            </p:nvSpPr>
            <p:spPr>
              <a:xfrm>
                <a:off x="6548286" y="3030171"/>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47" name="TextBox 46">
                <a:extLst>
                  <a:ext uri="{FF2B5EF4-FFF2-40B4-BE49-F238E27FC236}">
                    <a16:creationId xmlns:a16="http://schemas.microsoft.com/office/drawing/2014/main" id="{0EB2F889-B0E6-75D4-BF9C-350DE78DDAB8}"/>
                  </a:ext>
                </a:extLst>
              </p:cNvPr>
              <p:cNvSpPr txBox="1">
                <a:spLocks noRot="1" noChangeAspect="1" noMove="1" noResize="1" noEditPoints="1" noAdjustHandles="1" noChangeArrowheads="1" noChangeShapeType="1" noTextEdit="1"/>
              </p:cNvSpPr>
              <p:nvPr/>
            </p:nvSpPr>
            <p:spPr>
              <a:xfrm>
                <a:off x="6548286" y="3030171"/>
                <a:ext cx="676536"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962F1B0-3AD3-4694-A682-DED3B1455BB5}"/>
                  </a:ext>
                </a:extLst>
              </p:cNvPr>
              <p:cNvSpPr txBox="1"/>
              <p:nvPr/>
            </p:nvSpPr>
            <p:spPr>
              <a:xfrm>
                <a:off x="6562852" y="5184227"/>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min</m:t>
                          </m:r>
                        </m:sub>
                      </m:sSub>
                    </m:oMath>
                  </m:oMathPara>
                </a14:m>
                <a:endParaRPr lang="en-US" sz="1400" dirty="0"/>
              </a:p>
            </p:txBody>
          </p:sp>
        </mc:Choice>
        <mc:Fallback xmlns="">
          <p:sp>
            <p:nvSpPr>
              <p:cNvPr id="48" name="TextBox 47">
                <a:extLst>
                  <a:ext uri="{FF2B5EF4-FFF2-40B4-BE49-F238E27FC236}">
                    <a16:creationId xmlns:a16="http://schemas.microsoft.com/office/drawing/2014/main" id="{B962F1B0-3AD3-4694-A682-DED3B1455BB5}"/>
                  </a:ext>
                </a:extLst>
              </p:cNvPr>
              <p:cNvSpPr txBox="1">
                <a:spLocks noRot="1" noChangeAspect="1" noMove="1" noResize="1" noEditPoints="1" noAdjustHandles="1" noChangeArrowheads="1" noChangeShapeType="1" noTextEdit="1"/>
              </p:cNvSpPr>
              <p:nvPr/>
            </p:nvSpPr>
            <p:spPr>
              <a:xfrm>
                <a:off x="6562852" y="5184227"/>
                <a:ext cx="676536"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D971A69-8185-D95B-E668-E5888667422B}"/>
                  </a:ext>
                </a:extLst>
              </p:cNvPr>
              <p:cNvSpPr txBox="1"/>
              <p:nvPr/>
            </p:nvSpPr>
            <p:spPr>
              <a:xfrm>
                <a:off x="7286026" y="5687340"/>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min</m:t>
                          </m:r>
                        </m:sub>
                      </m:sSub>
                    </m:oMath>
                  </m:oMathPara>
                </a14:m>
                <a:endParaRPr lang="en-US" sz="1400" dirty="0"/>
              </a:p>
            </p:txBody>
          </p:sp>
        </mc:Choice>
        <mc:Fallback xmlns="">
          <p:sp>
            <p:nvSpPr>
              <p:cNvPr id="49" name="TextBox 48">
                <a:extLst>
                  <a:ext uri="{FF2B5EF4-FFF2-40B4-BE49-F238E27FC236}">
                    <a16:creationId xmlns:a16="http://schemas.microsoft.com/office/drawing/2014/main" id="{FD971A69-8185-D95B-E668-E5888667422B}"/>
                  </a:ext>
                </a:extLst>
              </p:cNvPr>
              <p:cNvSpPr txBox="1">
                <a:spLocks noRot="1" noChangeAspect="1" noMove="1" noResize="1" noEditPoints="1" noAdjustHandles="1" noChangeArrowheads="1" noChangeShapeType="1" noTextEdit="1"/>
              </p:cNvSpPr>
              <p:nvPr/>
            </p:nvSpPr>
            <p:spPr>
              <a:xfrm>
                <a:off x="7286026" y="5687340"/>
                <a:ext cx="676536"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1DE0BA2F-9563-7471-EFE8-8891111E5CDD}"/>
                  </a:ext>
                </a:extLst>
              </p:cNvPr>
              <p:cNvSpPr txBox="1"/>
              <p:nvPr/>
            </p:nvSpPr>
            <p:spPr>
              <a:xfrm>
                <a:off x="10159926" y="5687143"/>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50" name="TextBox 49">
                <a:extLst>
                  <a:ext uri="{FF2B5EF4-FFF2-40B4-BE49-F238E27FC236}">
                    <a16:creationId xmlns:a16="http://schemas.microsoft.com/office/drawing/2014/main" id="{1DE0BA2F-9563-7471-EFE8-8891111E5CDD}"/>
                  </a:ext>
                </a:extLst>
              </p:cNvPr>
              <p:cNvSpPr txBox="1">
                <a:spLocks noRot="1" noChangeAspect="1" noMove="1" noResize="1" noEditPoints="1" noAdjustHandles="1" noChangeArrowheads="1" noChangeShapeType="1" noTextEdit="1"/>
              </p:cNvSpPr>
              <p:nvPr/>
            </p:nvSpPr>
            <p:spPr>
              <a:xfrm>
                <a:off x="10159926" y="5687143"/>
                <a:ext cx="676536" cy="307777"/>
              </a:xfrm>
              <a:prstGeom prst="rect">
                <a:avLst/>
              </a:prstGeom>
              <a:blipFill>
                <a:blip r:embed="rId6"/>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CB2E9DF9-352D-B50E-6B65-D843110A76C5}"/>
              </a:ext>
            </a:extLst>
          </p:cNvPr>
          <p:cNvSpPr txBox="1"/>
          <p:nvPr/>
        </p:nvSpPr>
        <p:spPr>
          <a:xfrm>
            <a:off x="7790591" y="2661109"/>
            <a:ext cx="2475346" cy="369332"/>
          </a:xfrm>
          <a:prstGeom prst="rect">
            <a:avLst/>
          </a:prstGeom>
          <a:noFill/>
        </p:spPr>
        <p:txBody>
          <a:bodyPr wrap="square" rtlCol="0">
            <a:spAutoFit/>
          </a:bodyPr>
          <a:lstStyle/>
          <a:p>
            <a:pPr algn="ctr"/>
            <a:r>
              <a:rPr lang="vi-VN" dirty="0">
                <a:latin typeface="+mj-lt"/>
              </a:rPr>
              <a:t>Global Bounding Box</a:t>
            </a:r>
            <a:endParaRPr lang="en-US" dirty="0">
              <a:latin typeface="+mj-lt"/>
            </a:endParaRPr>
          </a:p>
        </p:txBody>
      </p:sp>
    </p:spTree>
    <p:extLst>
      <p:ext uri="{BB962C8B-B14F-4D97-AF65-F5344CB8AC3E}">
        <p14:creationId xmlns:p14="http://schemas.microsoft.com/office/powerpoint/2010/main" val="934240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A2FBC-E144-D413-3C12-8FAFF908E1F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6A9544-070A-3ABE-DE9A-FF6376A35F5C}"/>
              </a:ext>
            </a:extLst>
          </p:cNvPr>
          <p:cNvSpPr>
            <a:spLocks noGrp="1"/>
          </p:cNvSpPr>
          <p:nvPr>
            <p:ph type="sldNum" sz="quarter" idx="12"/>
          </p:nvPr>
        </p:nvSpPr>
        <p:spPr/>
        <p:txBody>
          <a:bodyPr/>
          <a:lstStyle/>
          <a:p>
            <a:fld id="{9B618960-8005-486C-9A75-10CB2AAC16F9}" type="slidenum">
              <a:rPr lang="en-US" smtClean="0"/>
              <a:t>35</a:t>
            </a:fld>
            <a:endParaRPr lang="en-US"/>
          </a:p>
        </p:txBody>
      </p:sp>
      <p:sp>
        <p:nvSpPr>
          <p:cNvPr id="5" name="TextBox 3">
            <a:extLst>
              <a:ext uri="{FF2B5EF4-FFF2-40B4-BE49-F238E27FC236}">
                <a16:creationId xmlns:a16="http://schemas.microsoft.com/office/drawing/2014/main" id="{8E4BEB44-9485-0B04-FE2D-49E45360D8EE}"/>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591EEE9E-A550-DE15-0A40-ACEA6452F2A3}"/>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A2AEB37D-243F-4E8C-C687-21E23D6074F8}"/>
                  </a:ext>
                </a:extLst>
              </p:cNvPr>
              <p:cNvSpPr txBox="1"/>
              <p:nvPr/>
            </p:nvSpPr>
            <p:spPr>
              <a:xfrm>
                <a:off x="1084007" y="2094749"/>
                <a:ext cx="4563717" cy="378052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Global Bounding Box</a:t>
                </a:r>
              </a:p>
              <a:p>
                <a:pPr marL="285750" indent="-285750" algn="just">
                  <a:lnSpc>
                    <a:spcPct val="150000"/>
                  </a:lnSpc>
                  <a:buFontTx/>
                  <a:buChar char="-"/>
                </a:pPr>
                <a:r>
                  <a:rPr lang="vi-VN" dirty="0">
                    <a:latin typeface="+mj-lt"/>
                  </a:rPr>
                  <a:t>Thuật toán quét qua tọa độ của tất cả các điểm trong tập dữ liệu để tìm ra các giá trị cực trị.</a:t>
                </a:r>
              </a:p>
              <a:p>
                <a:pPr marL="285750" indent="-285750" algn="just">
                  <a:lnSpc>
                    <a:spcPct val="150000"/>
                  </a:lnSpc>
                  <a:buFontTx/>
                  <a:buChar char="-"/>
                </a:pPr>
                <a:r>
                  <a:rPr lang="vi-VN" dirty="0">
                    <a:latin typeface="+mj-lt"/>
                  </a:rPr>
                  <a:t>Ý nghĩa:</a:t>
                </a:r>
              </a:p>
              <a:p>
                <a:pPr marL="742950" lvl="1" indent="-285750" algn="just">
                  <a:lnSpc>
                    <a:spcPct val="150000"/>
                  </a:lnSpc>
                  <a:buFont typeface="Arial" panose="020B0604020202020204" pitchFamily="34" charset="0"/>
                  <a:buChar char="•"/>
                </a:pP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r>
                      <a:rPr lang="vi-VN" b="0" i="1" smtClean="0">
                        <a:latin typeface="Cambria Math" panose="02040503050406030204" pitchFamily="18" charset="0"/>
                      </a:rPr>
                      <m:t> </m:t>
                    </m:r>
                    <m:r>
                      <m:rPr>
                        <m:sty m:val="p"/>
                      </m:rPr>
                      <a:rPr lang="vi-VN" i="1">
                        <a:latin typeface="Cambria Math" panose="02040503050406030204" pitchFamily="18" charset="0"/>
                      </a:rPr>
                      <m:t>v</m:t>
                    </m:r>
                    <m:r>
                      <a:rPr lang="vi-VN" i="1">
                        <a:latin typeface="Cambria Math" panose="02040503050406030204" pitchFamily="18" charset="0"/>
                      </a:rPr>
                      <m:t>à</m:t>
                    </m:r>
                  </m:oMath>
                </a14:m>
                <a:r>
                  <a:rPr lang="vi-VN" dirty="0">
                    <a:latin typeface="+mj-lt"/>
                  </a:rPr>
                  <a:t> </a:t>
                </a:r>
                <a14:m>
                  <m:oMath xmlns:m="http://schemas.openxmlformats.org/officeDocument/2006/math">
                    <m:sSub>
                      <m:sSubPr>
                        <m:ctrlPr>
                          <a:rPr lang="vi-VN" i="1" dirty="0" smtClean="0">
                            <a:latin typeface="Cambria Math" panose="02040503050406030204" pitchFamily="18" charset="0"/>
                          </a:rPr>
                        </m:ctrlPr>
                      </m:sSubPr>
                      <m:e>
                        <m:r>
                          <m:rPr>
                            <m:sty m:val="p"/>
                          </m:rPr>
                          <a:rPr lang="vi-VN" i="1" dirty="0">
                            <a:latin typeface="Cambria Math" panose="02040503050406030204" pitchFamily="18" charset="0"/>
                          </a:rPr>
                          <m:t>x</m:t>
                        </m:r>
                      </m:e>
                      <m:sub>
                        <m:r>
                          <m:rPr>
                            <m:sty m:val="p"/>
                          </m:rPr>
                          <a:rPr lang="vi-VN" i="1" dirty="0">
                            <a:latin typeface="Cambria Math" panose="02040503050406030204" pitchFamily="18" charset="0"/>
                          </a:rPr>
                          <m:t>max</m:t>
                        </m:r>
                      </m:sub>
                    </m:sSub>
                  </m:oMath>
                </a14:m>
                <a:r>
                  <a:rPr lang="vi-VN" dirty="0">
                    <a:latin typeface="+mj-lt"/>
                  </a:rPr>
                  <a:t>: Xác định chiều rộng tối đa của vùng dữ liệu theo trục hoành.</a:t>
                </a:r>
              </a:p>
              <a:p>
                <a:pPr marL="742950" lvl="1" indent="-285750" algn="just">
                  <a:lnSpc>
                    <a:spcPct val="150000"/>
                  </a:lnSpc>
                  <a:buFont typeface="Arial" panose="020B0604020202020204" pitchFamily="34" charset="0"/>
                  <a:buChar char="•"/>
                </a:pPr>
                <a14:m>
                  <m:oMath xmlns:m="http://schemas.openxmlformats.org/officeDocument/2006/math">
                    <m:sSub>
                      <m:sSubPr>
                        <m:ctrlPr>
                          <a:rPr lang="vi-VN" i="1">
                            <a:latin typeface="Cambria Math" panose="02040503050406030204" pitchFamily="18" charset="0"/>
                          </a:rPr>
                        </m:ctrlPr>
                      </m:sSubPr>
                      <m:e>
                        <m:r>
                          <m:rPr>
                            <m:sty m:val="p"/>
                          </m:rPr>
                          <a:rPr lang="vi-VN" i="1" smtClean="0">
                            <a:latin typeface="Cambria Math" panose="02040503050406030204" pitchFamily="18" charset="0"/>
                          </a:rPr>
                          <m:t>y</m:t>
                        </m:r>
                      </m:e>
                      <m:sub>
                        <m:r>
                          <m:rPr>
                            <m:sty m:val="p"/>
                          </m:rPr>
                          <a:rPr lang="vi-VN" i="1" smtClean="0">
                            <a:latin typeface="Cambria Math" panose="02040503050406030204" pitchFamily="18" charset="0"/>
                          </a:rPr>
                          <m:t>min</m:t>
                        </m:r>
                      </m:sub>
                    </m:sSub>
                    <m:r>
                      <a:rPr lang="vi-VN" i="1">
                        <a:latin typeface="Cambria Math" panose="02040503050406030204" pitchFamily="18" charset="0"/>
                      </a:rPr>
                      <m:t> </m:t>
                    </m:r>
                    <m:r>
                      <m:rPr>
                        <m:sty m:val="p"/>
                      </m:rPr>
                      <a:rPr lang="vi-VN" i="1">
                        <a:latin typeface="Cambria Math" panose="02040503050406030204" pitchFamily="18" charset="0"/>
                      </a:rPr>
                      <m:t>v</m:t>
                    </m:r>
                    <m:r>
                      <a:rPr lang="vi-VN" i="1">
                        <a:latin typeface="Cambria Math" panose="02040503050406030204" pitchFamily="18" charset="0"/>
                      </a:rPr>
                      <m:t>à</m:t>
                    </m:r>
                  </m:oMath>
                </a14:m>
                <a:r>
                  <a:rPr lang="vi-VN" dirty="0">
                    <a:latin typeface="+mj-lt"/>
                  </a:rPr>
                  <a:t> </a:t>
                </a:r>
                <a14:m>
                  <m:oMath xmlns:m="http://schemas.openxmlformats.org/officeDocument/2006/math">
                    <m:sSub>
                      <m:sSubPr>
                        <m:ctrlPr>
                          <a:rPr lang="vi-VN" i="1" dirty="0">
                            <a:latin typeface="Cambria Math" panose="02040503050406030204" pitchFamily="18" charset="0"/>
                          </a:rPr>
                        </m:ctrlPr>
                      </m:sSubPr>
                      <m:e>
                        <m:r>
                          <m:rPr>
                            <m:sty m:val="p"/>
                          </m:rPr>
                          <a:rPr lang="vi-VN" i="1" dirty="0" smtClean="0">
                            <a:latin typeface="Cambria Math" panose="02040503050406030204" pitchFamily="18" charset="0"/>
                          </a:rPr>
                          <m:t>y</m:t>
                        </m:r>
                      </m:e>
                      <m:sub>
                        <m:r>
                          <m:rPr>
                            <m:sty m:val="p"/>
                          </m:rPr>
                          <a:rPr lang="vi-VN" i="1" dirty="0" smtClean="0">
                            <a:latin typeface="Cambria Math" panose="02040503050406030204" pitchFamily="18" charset="0"/>
                          </a:rPr>
                          <m:t>max</m:t>
                        </m:r>
                      </m:sub>
                    </m:sSub>
                  </m:oMath>
                </a14:m>
                <a:r>
                  <a:rPr lang="vi-VN" dirty="0">
                    <a:latin typeface="+mj-lt"/>
                  </a:rPr>
                  <a:t>: Xác định chiều cao tối đa của vùng dữ liệu theo trục tung.</a:t>
                </a:r>
              </a:p>
            </p:txBody>
          </p:sp>
        </mc:Choice>
        <mc:Fallback xmlns="">
          <p:sp>
            <p:nvSpPr>
              <p:cNvPr id="3" name="TextBox 5">
                <a:extLst>
                  <a:ext uri="{FF2B5EF4-FFF2-40B4-BE49-F238E27FC236}">
                    <a16:creationId xmlns:a16="http://schemas.microsoft.com/office/drawing/2014/main" id="{A2AEB37D-243F-4E8C-C687-21E23D6074F8}"/>
                  </a:ext>
                </a:extLst>
              </p:cNvPr>
              <p:cNvSpPr txBox="1">
                <a:spLocks noRot="1" noChangeAspect="1" noMove="1" noResize="1" noEditPoints="1" noAdjustHandles="1" noChangeArrowheads="1" noChangeShapeType="1" noTextEdit="1"/>
              </p:cNvSpPr>
              <p:nvPr/>
            </p:nvSpPr>
            <p:spPr>
              <a:xfrm>
                <a:off x="1084007" y="2094749"/>
                <a:ext cx="4563717" cy="3780522"/>
              </a:xfrm>
              <a:prstGeom prst="rect">
                <a:avLst/>
              </a:prstGeom>
              <a:blipFill>
                <a:blip r:embed="rId2"/>
                <a:stretch>
                  <a:fillRect l="-936" r="-1070" b="-1774"/>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DA1F6F26-FD1F-185B-1374-0FB8B97E8327}"/>
              </a:ext>
            </a:extLst>
          </p:cNvPr>
          <p:cNvCxnSpPr>
            <a:cxnSpLocks/>
          </p:cNvCxnSpPr>
          <p:nvPr/>
        </p:nvCxnSpPr>
        <p:spPr>
          <a:xfrm>
            <a:off x="7256207" y="5633884"/>
            <a:ext cx="409759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638ACE0-7DC4-D546-1240-719190931032}"/>
              </a:ext>
            </a:extLst>
          </p:cNvPr>
          <p:cNvCxnSpPr>
            <a:cxnSpLocks/>
          </p:cNvCxnSpPr>
          <p:nvPr/>
        </p:nvCxnSpPr>
        <p:spPr>
          <a:xfrm flipV="1">
            <a:off x="7256207" y="2417222"/>
            <a:ext cx="0" cy="32249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FD3E75D-102D-7420-ED4F-0658FADFC7F4}"/>
              </a:ext>
            </a:extLst>
          </p:cNvPr>
          <p:cNvSpPr/>
          <p:nvPr/>
        </p:nvSpPr>
        <p:spPr>
          <a:xfrm>
            <a:off x="7563258" y="3223880"/>
            <a:ext cx="2930013" cy="2113935"/>
          </a:xfrm>
          <a:prstGeom prst="rect">
            <a:avLst/>
          </a:prstGeom>
          <a:solidFill>
            <a:schemeClr val="accent1">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4EF55DA3-30CA-3FB0-66B0-4ECFC60F3D96}"/>
              </a:ext>
            </a:extLst>
          </p:cNvPr>
          <p:cNvSpPr txBox="1"/>
          <p:nvPr/>
        </p:nvSpPr>
        <p:spPr>
          <a:xfrm>
            <a:off x="6909618" y="2571110"/>
            <a:ext cx="226142" cy="307777"/>
          </a:xfrm>
          <a:prstGeom prst="rect">
            <a:avLst/>
          </a:prstGeom>
          <a:noFill/>
        </p:spPr>
        <p:txBody>
          <a:bodyPr wrap="square" rtlCol="0">
            <a:spAutoFit/>
          </a:bodyPr>
          <a:lstStyle/>
          <a:p>
            <a:pPr algn="ctr"/>
            <a:r>
              <a:rPr lang="vi-VN" sz="1400" dirty="0">
                <a:latin typeface="+mj-lt"/>
              </a:rPr>
              <a:t>y</a:t>
            </a:r>
            <a:endParaRPr lang="en-US" sz="1400" dirty="0">
              <a:latin typeface="+mj-lt"/>
            </a:endParaRPr>
          </a:p>
        </p:txBody>
      </p:sp>
      <p:sp>
        <p:nvSpPr>
          <p:cNvPr id="15" name="TextBox 14">
            <a:extLst>
              <a:ext uri="{FF2B5EF4-FFF2-40B4-BE49-F238E27FC236}">
                <a16:creationId xmlns:a16="http://schemas.microsoft.com/office/drawing/2014/main" id="{B987B9B2-D8A7-27D4-1C8A-767D12800978}"/>
              </a:ext>
            </a:extLst>
          </p:cNvPr>
          <p:cNvSpPr txBox="1"/>
          <p:nvPr/>
        </p:nvSpPr>
        <p:spPr>
          <a:xfrm>
            <a:off x="10998930" y="5661694"/>
            <a:ext cx="226142" cy="307777"/>
          </a:xfrm>
          <a:prstGeom prst="rect">
            <a:avLst/>
          </a:prstGeom>
          <a:noFill/>
        </p:spPr>
        <p:txBody>
          <a:bodyPr wrap="square" rtlCol="0">
            <a:spAutoFit/>
          </a:bodyPr>
          <a:lstStyle/>
          <a:p>
            <a:pPr algn="ctr"/>
            <a:r>
              <a:rPr lang="vi-VN" sz="1400" dirty="0">
                <a:latin typeface="+mj-lt"/>
              </a:rPr>
              <a:t>x</a:t>
            </a:r>
            <a:endParaRPr lang="en-US" sz="1400" dirty="0">
              <a:latin typeface="+mj-lt"/>
            </a:endParaRPr>
          </a:p>
        </p:txBody>
      </p:sp>
      <p:sp>
        <p:nvSpPr>
          <p:cNvPr id="17" name="Flowchart: Connector 16">
            <a:extLst>
              <a:ext uri="{FF2B5EF4-FFF2-40B4-BE49-F238E27FC236}">
                <a16:creationId xmlns:a16="http://schemas.microsoft.com/office/drawing/2014/main" id="{07E90FF7-4C76-FFB3-4912-F57F4CE637B5}"/>
              </a:ext>
            </a:extLst>
          </p:cNvPr>
          <p:cNvSpPr/>
          <p:nvPr/>
        </p:nvSpPr>
        <p:spPr>
          <a:xfrm>
            <a:off x="7563258" y="4729316"/>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a:extLst>
              <a:ext uri="{FF2B5EF4-FFF2-40B4-BE49-F238E27FC236}">
                <a16:creationId xmlns:a16="http://schemas.microsoft.com/office/drawing/2014/main" id="{B4F367AB-76B9-390B-43EC-EB96E75384CE}"/>
              </a:ext>
            </a:extLst>
          </p:cNvPr>
          <p:cNvSpPr/>
          <p:nvPr/>
        </p:nvSpPr>
        <p:spPr>
          <a:xfrm>
            <a:off x="7912406" y="5168241"/>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8E6C1B9D-C9F4-311E-AF5D-5A8B7EEA428E}"/>
              </a:ext>
            </a:extLst>
          </p:cNvPr>
          <p:cNvSpPr/>
          <p:nvPr/>
        </p:nvSpPr>
        <p:spPr>
          <a:xfrm>
            <a:off x="10294168" y="3662515"/>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a:extLst>
              <a:ext uri="{FF2B5EF4-FFF2-40B4-BE49-F238E27FC236}">
                <a16:creationId xmlns:a16="http://schemas.microsoft.com/office/drawing/2014/main" id="{B03AE5C1-F7FA-0EF9-9BD6-D9496FA4C773}"/>
              </a:ext>
            </a:extLst>
          </p:cNvPr>
          <p:cNvSpPr/>
          <p:nvPr/>
        </p:nvSpPr>
        <p:spPr>
          <a:xfrm>
            <a:off x="9982200" y="3246897"/>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Connector 21">
            <a:extLst>
              <a:ext uri="{FF2B5EF4-FFF2-40B4-BE49-F238E27FC236}">
                <a16:creationId xmlns:a16="http://schemas.microsoft.com/office/drawing/2014/main" id="{46885B3D-59AD-702B-4271-DF426322F917}"/>
              </a:ext>
            </a:extLst>
          </p:cNvPr>
          <p:cNvSpPr/>
          <p:nvPr/>
        </p:nvSpPr>
        <p:spPr>
          <a:xfrm>
            <a:off x="9460883" y="4125061"/>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a:extLst>
              <a:ext uri="{FF2B5EF4-FFF2-40B4-BE49-F238E27FC236}">
                <a16:creationId xmlns:a16="http://schemas.microsoft.com/office/drawing/2014/main" id="{FD1D5C8A-FE60-D08B-92A7-8EA94BB402A0}"/>
              </a:ext>
            </a:extLst>
          </p:cNvPr>
          <p:cNvSpPr/>
          <p:nvPr/>
        </p:nvSpPr>
        <p:spPr>
          <a:xfrm>
            <a:off x="9028264" y="4465355"/>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a:extLst>
              <a:ext uri="{FF2B5EF4-FFF2-40B4-BE49-F238E27FC236}">
                <a16:creationId xmlns:a16="http://schemas.microsoft.com/office/drawing/2014/main" id="{DB3E3FC9-82B1-F30A-D845-ED0C36F5FB42}"/>
              </a:ext>
            </a:extLst>
          </p:cNvPr>
          <p:cNvSpPr/>
          <p:nvPr/>
        </p:nvSpPr>
        <p:spPr>
          <a:xfrm>
            <a:off x="8610600" y="4126149"/>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Connector 24">
            <a:extLst>
              <a:ext uri="{FF2B5EF4-FFF2-40B4-BE49-F238E27FC236}">
                <a16:creationId xmlns:a16="http://schemas.microsoft.com/office/drawing/2014/main" id="{E515E45F-DDCD-FB50-E12C-BB5103F92AB1}"/>
              </a:ext>
            </a:extLst>
          </p:cNvPr>
          <p:cNvSpPr/>
          <p:nvPr/>
        </p:nvSpPr>
        <p:spPr>
          <a:xfrm>
            <a:off x="8610600" y="3752399"/>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lowchart: Connector 25">
            <a:extLst>
              <a:ext uri="{FF2B5EF4-FFF2-40B4-BE49-F238E27FC236}">
                <a16:creationId xmlns:a16="http://schemas.microsoft.com/office/drawing/2014/main" id="{20BFDD29-538D-ECE2-5F43-79BE8EEE383A}"/>
              </a:ext>
            </a:extLst>
          </p:cNvPr>
          <p:cNvSpPr/>
          <p:nvPr/>
        </p:nvSpPr>
        <p:spPr>
          <a:xfrm>
            <a:off x="9028264" y="3753566"/>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a:extLst>
              <a:ext uri="{FF2B5EF4-FFF2-40B4-BE49-F238E27FC236}">
                <a16:creationId xmlns:a16="http://schemas.microsoft.com/office/drawing/2014/main" id="{B0057832-92AB-1889-22ED-65F7F20A8BE1}"/>
              </a:ext>
            </a:extLst>
          </p:cNvPr>
          <p:cNvSpPr/>
          <p:nvPr/>
        </p:nvSpPr>
        <p:spPr>
          <a:xfrm>
            <a:off x="9033286" y="4126024"/>
            <a:ext cx="182103" cy="1821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2D335286-F1C5-1E40-4C2A-CBE52E95C496}"/>
              </a:ext>
            </a:extLst>
          </p:cNvPr>
          <p:cNvCxnSpPr>
            <a:cxnSpLocks/>
          </p:cNvCxnSpPr>
          <p:nvPr/>
        </p:nvCxnSpPr>
        <p:spPr>
          <a:xfrm flipH="1">
            <a:off x="7255080" y="5337815"/>
            <a:ext cx="308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15A6E3F-F382-1974-0461-89AF92E19971}"/>
              </a:ext>
            </a:extLst>
          </p:cNvPr>
          <p:cNvCxnSpPr>
            <a:cxnSpLocks/>
          </p:cNvCxnSpPr>
          <p:nvPr/>
        </p:nvCxnSpPr>
        <p:spPr>
          <a:xfrm flipH="1">
            <a:off x="7255080" y="3223880"/>
            <a:ext cx="308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D3D9A72-13E4-7D83-D2D6-42A8DF067C3E}"/>
              </a:ext>
            </a:extLst>
          </p:cNvPr>
          <p:cNvCxnSpPr>
            <a:cxnSpLocks/>
          </p:cNvCxnSpPr>
          <p:nvPr/>
        </p:nvCxnSpPr>
        <p:spPr>
          <a:xfrm>
            <a:off x="7563258" y="5337815"/>
            <a:ext cx="0" cy="304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B85F4E2-10E2-0F9C-060E-797321599C4D}"/>
              </a:ext>
            </a:extLst>
          </p:cNvPr>
          <p:cNvCxnSpPr>
            <a:cxnSpLocks/>
          </p:cNvCxnSpPr>
          <p:nvPr/>
        </p:nvCxnSpPr>
        <p:spPr>
          <a:xfrm flipH="1">
            <a:off x="10486102" y="5337815"/>
            <a:ext cx="7169" cy="304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851DB39-6781-EA5D-BDAE-25846A8EE9D0}"/>
                  </a:ext>
                </a:extLst>
              </p:cNvPr>
              <p:cNvSpPr txBox="1"/>
              <p:nvPr/>
            </p:nvSpPr>
            <p:spPr>
              <a:xfrm>
                <a:off x="6548286" y="3030171"/>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47" name="TextBox 46">
                <a:extLst>
                  <a:ext uri="{FF2B5EF4-FFF2-40B4-BE49-F238E27FC236}">
                    <a16:creationId xmlns:a16="http://schemas.microsoft.com/office/drawing/2014/main" id="{9851DB39-6781-EA5D-BDAE-25846A8EE9D0}"/>
                  </a:ext>
                </a:extLst>
              </p:cNvPr>
              <p:cNvSpPr txBox="1">
                <a:spLocks noRot="1" noChangeAspect="1" noMove="1" noResize="1" noEditPoints="1" noAdjustHandles="1" noChangeArrowheads="1" noChangeShapeType="1" noTextEdit="1"/>
              </p:cNvSpPr>
              <p:nvPr/>
            </p:nvSpPr>
            <p:spPr>
              <a:xfrm>
                <a:off x="6548286" y="3030171"/>
                <a:ext cx="676536"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B495B37-4D86-8DD4-6EA7-EFB678EA0353}"/>
                  </a:ext>
                </a:extLst>
              </p:cNvPr>
              <p:cNvSpPr txBox="1"/>
              <p:nvPr/>
            </p:nvSpPr>
            <p:spPr>
              <a:xfrm>
                <a:off x="6562852" y="5184227"/>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min</m:t>
                          </m:r>
                        </m:sub>
                      </m:sSub>
                    </m:oMath>
                  </m:oMathPara>
                </a14:m>
                <a:endParaRPr lang="en-US" sz="1400" dirty="0"/>
              </a:p>
            </p:txBody>
          </p:sp>
        </mc:Choice>
        <mc:Fallback xmlns="">
          <p:sp>
            <p:nvSpPr>
              <p:cNvPr id="48" name="TextBox 47">
                <a:extLst>
                  <a:ext uri="{FF2B5EF4-FFF2-40B4-BE49-F238E27FC236}">
                    <a16:creationId xmlns:a16="http://schemas.microsoft.com/office/drawing/2014/main" id="{0B495B37-4D86-8DD4-6EA7-EFB678EA0353}"/>
                  </a:ext>
                </a:extLst>
              </p:cNvPr>
              <p:cNvSpPr txBox="1">
                <a:spLocks noRot="1" noChangeAspect="1" noMove="1" noResize="1" noEditPoints="1" noAdjustHandles="1" noChangeArrowheads="1" noChangeShapeType="1" noTextEdit="1"/>
              </p:cNvSpPr>
              <p:nvPr/>
            </p:nvSpPr>
            <p:spPr>
              <a:xfrm>
                <a:off x="6562852" y="5184227"/>
                <a:ext cx="676536"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8F2CE65-AAD7-B46A-034E-3AF10C24BE96}"/>
                  </a:ext>
                </a:extLst>
              </p:cNvPr>
              <p:cNvSpPr txBox="1"/>
              <p:nvPr/>
            </p:nvSpPr>
            <p:spPr>
              <a:xfrm>
                <a:off x="7286026" y="5687340"/>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min</m:t>
                          </m:r>
                        </m:sub>
                      </m:sSub>
                    </m:oMath>
                  </m:oMathPara>
                </a14:m>
                <a:endParaRPr lang="en-US" sz="1400" dirty="0"/>
              </a:p>
            </p:txBody>
          </p:sp>
        </mc:Choice>
        <mc:Fallback xmlns="">
          <p:sp>
            <p:nvSpPr>
              <p:cNvPr id="49" name="TextBox 48">
                <a:extLst>
                  <a:ext uri="{FF2B5EF4-FFF2-40B4-BE49-F238E27FC236}">
                    <a16:creationId xmlns:a16="http://schemas.microsoft.com/office/drawing/2014/main" id="{28F2CE65-AAD7-B46A-034E-3AF10C24BE96}"/>
                  </a:ext>
                </a:extLst>
              </p:cNvPr>
              <p:cNvSpPr txBox="1">
                <a:spLocks noRot="1" noChangeAspect="1" noMove="1" noResize="1" noEditPoints="1" noAdjustHandles="1" noChangeArrowheads="1" noChangeShapeType="1" noTextEdit="1"/>
              </p:cNvSpPr>
              <p:nvPr/>
            </p:nvSpPr>
            <p:spPr>
              <a:xfrm>
                <a:off x="7286026" y="5687340"/>
                <a:ext cx="676536"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7CBD5D9B-F76C-7489-6F89-9D95F12C9D25}"/>
                  </a:ext>
                </a:extLst>
              </p:cNvPr>
              <p:cNvSpPr txBox="1"/>
              <p:nvPr/>
            </p:nvSpPr>
            <p:spPr>
              <a:xfrm>
                <a:off x="10159926" y="5687143"/>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50" name="TextBox 49">
                <a:extLst>
                  <a:ext uri="{FF2B5EF4-FFF2-40B4-BE49-F238E27FC236}">
                    <a16:creationId xmlns:a16="http://schemas.microsoft.com/office/drawing/2014/main" id="{7CBD5D9B-F76C-7489-6F89-9D95F12C9D25}"/>
                  </a:ext>
                </a:extLst>
              </p:cNvPr>
              <p:cNvSpPr txBox="1">
                <a:spLocks noRot="1" noChangeAspect="1" noMove="1" noResize="1" noEditPoints="1" noAdjustHandles="1" noChangeArrowheads="1" noChangeShapeType="1" noTextEdit="1"/>
              </p:cNvSpPr>
              <p:nvPr/>
            </p:nvSpPr>
            <p:spPr>
              <a:xfrm>
                <a:off x="10159926" y="5687143"/>
                <a:ext cx="676536" cy="307777"/>
              </a:xfrm>
              <a:prstGeom prst="rect">
                <a:avLst/>
              </a:prstGeom>
              <a:blipFill>
                <a:blip r:embed="rId6"/>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94D155BF-4DBD-7F52-8CB1-DA6B4B8F8F96}"/>
              </a:ext>
            </a:extLst>
          </p:cNvPr>
          <p:cNvSpPr txBox="1"/>
          <p:nvPr/>
        </p:nvSpPr>
        <p:spPr>
          <a:xfrm>
            <a:off x="7790591" y="2661109"/>
            <a:ext cx="2475346" cy="369332"/>
          </a:xfrm>
          <a:prstGeom prst="rect">
            <a:avLst/>
          </a:prstGeom>
          <a:noFill/>
        </p:spPr>
        <p:txBody>
          <a:bodyPr wrap="square" rtlCol="0">
            <a:spAutoFit/>
          </a:bodyPr>
          <a:lstStyle/>
          <a:p>
            <a:pPr algn="ctr"/>
            <a:r>
              <a:rPr lang="vi-VN" dirty="0">
                <a:latin typeface="+mj-lt"/>
              </a:rPr>
              <a:t>Global Bounding Box</a:t>
            </a:r>
            <a:endParaRPr lang="en-US" dirty="0">
              <a:latin typeface="+mj-lt"/>
            </a:endParaRPr>
          </a:p>
        </p:txBody>
      </p:sp>
    </p:spTree>
    <p:extLst>
      <p:ext uri="{BB962C8B-B14F-4D97-AF65-F5344CB8AC3E}">
        <p14:creationId xmlns:p14="http://schemas.microsoft.com/office/powerpoint/2010/main" val="3807633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A112D-9AAA-84D2-7D11-556410BF69A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A1BC6C-0C45-DB9B-C9C1-15C35C61DE21}"/>
              </a:ext>
            </a:extLst>
          </p:cNvPr>
          <p:cNvSpPr>
            <a:spLocks noGrp="1"/>
          </p:cNvSpPr>
          <p:nvPr>
            <p:ph type="sldNum" sz="quarter" idx="12"/>
          </p:nvPr>
        </p:nvSpPr>
        <p:spPr/>
        <p:txBody>
          <a:bodyPr/>
          <a:lstStyle/>
          <a:p>
            <a:fld id="{9B618960-8005-486C-9A75-10CB2AAC16F9}" type="slidenum">
              <a:rPr lang="en-US" smtClean="0"/>
              <a:t>36</a:t>
            </a:fld>
            <a:endParaRPr lang="en-US"/>
          </a:p>
        </p:txBody>
      </p:sp>
      <p:sp>
        <p:nvSpPr>
          <p:cNvPr id="5" name="TextBox 3">
            <a:extLst>
              <a:ext uri="{FF2B5EF4-FFF2-40B4-BE49-F238E27FC236}">
                <a16:creationId xmlns:a16="http://schemas.microsoft.com/office/drawing/2014/main" id="{ED505C1E-4821-2DDF-17FF-45EA64F1782F}"/>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6FA15DFE-66E0-DEBB-324F-8F9D1778439D}"/>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85F78B7B-3365-BE19-C32B-6E9588EE3827}"/>
                  </a:ext>
                </a:extLst>
              </p:cNvPr>
              <p:cNvSpPr txBox="1"/>
              <p:nvPr/>
            </p:nvSpPr>
            <p:spPr>
              <a:xfrm>
                <a:off x="1079999" y="2097332"/>
                <a:ext cx="9264728" cy="419755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Tính toán kích thước lưới</a:t>
                </a:r>
              </a:p>
              <a:p>
                <a:pPr marL="285750" indent="-285750" algn="just">
                  <a:lnSpc>
                    <a:spcPct val="150000"/>
                  </a:lnSpc>
                  <a:buFontTx/>
                  <a:buChar char="-"/>
                </a:pPr>
                <a:r>
                  <a:rPr lang="vi-VN" dirty="0">
                    <a:latin typeface="+mj-lt"/>
                  </a:rPr>
                  <a:t>Sau khi có được biên toàn cục và kích thước của một ô vuông (cell size), thuật toán sẽ tính toán xem cần phải tạo ra bao nhiêu hàng và bao nhiêu cột ô lưới để phủ kín vùng không gian này.</a:t>
                </a:r>
              </a:p>
              <a:p>
                <a:pPr marL="285750" indent="-285750" algn="just">
                  <a:lnSpc>
                    <a:spcPct val="150000"/>
                  </a:lnSpc>
                  <a:buFontTx/>
                  <a:buChar char="-"/>
                </a:pPr>
                <a:r>
                  <a:rPr lang="vi-VN" dirty="0">
                    <a:latin typeface="+mj-lt"/>
                  </a:rPr>
                  <a:t>Công thức tính số lượng Ô theo chiều ngang và dọc:</a:t>
                </a:r>
              </a:p>
              <a:p>
                <a:pPr marL="285750" indent="-285750" algn="just">
                  <a:lnSpc>
                    <a:spcPct val="150000"/>
                  </a:lnSpc>
                  <a:buFontTx/>
                  <a:buChar char="-"/>
                </a:pPr>
                <a:r>
                  <a:rPr lang="vi-VN" dirty="0">
                    <a:latin typeface="+mj-lt"/>
                  </a:rPr>
                  <a:t>Số lượng cột: grid_width = int((</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max</m:t>
                        </m:r>
                      </m:sub>
                    </m:sSub>
                    <m:r>
                      <a:rPr lang="vi-VN" i="1">
                        <a:latin typeface="Cambria Math" panose="02040503050406030204" pitchFamily="18" charset="0"/>
                        <a:ea typeface="Cambria Math" panose="02040503050406030204" pitchFamily="18" charset="0"/>
                      </a:rPr>
                      <m:t>−</m:t>
                    </m:r>
                    <m:sSub>
                      <m:sSubPr>
                        <m:ctrlPr>
                          <a:rPr lang="vi-VN" i="1" smtClean="0">
                            <a:latin typeface="Cambria Math" panose="02040503050406030204" pitchFamily="18" charset="0"/>
                            <a:ea typeface="Cambria Math" panose="02040503050406030204" pitchFamily="18" charset="0"/>
                          </a:rPr>
                        </m:ctrlPr>
                      </m:sSubPr>
                      <m:e>
                        <m:r>
                          <m:rPr>
                            <m:sty m:val="p"/>
                          </m:rPr>
                          <a:rPr lang="vi-VN" i="1">
                            <a:latin typeface="Cambria Math" panose="02040503050406030204" pitchFamily="18" charset="0"/>
                            <a:ea typeface="Cambria Math" panose="02040503050406030204" pitchFamily="18" charset="0"/>
                          </a:rPr>
                          <m:t>x</m:t>
                        </m:r>
                      </m:e>
                      <m:sub>
                        <m:r>
                          <m:rPr>
                            <m:sty m:val="p"/>
                          </m:rPr>
                          <a:rPr lang="vi-VN" i="1">
                            <a:latin typeface="Cambria Math" panose="02040503050406030204" pitchFamily="18" charset="0"/>
                            <a:ea typeface="Cambria Math" panose="02040503050406030204" pitchFamily="18" charset="0"/>
                          </a:rPr>
                          <m:t>min</m:t>
                        </m:r>
                      </m:sub>
                    </m:sSub>
                  </m:oMath>
                </a14:m>
                <a:r>
                  <a:rPr lang="vi-VN" dirty="0">
                    <a:latin typeface="+mj-lt"/>
                  </a:rPr>
                  <a:t>) // cell_size) + 1</a:t>
                </a:r>
              </a:p>
              <a:p>
                <a:pPr marL="285750" indent="-285750" algn="just">
                  <a:lnSpc>
                    <a:spcPct val="150000"/>
                  </a:lnSpc>
                  <a:buFontTx/>
                  <a:buChar char="-"/>
                </a:pPr>
                <a:r>
                  <a:rPr lang="vi-VN" dirty="0">
                    <a:latin typeface="+mj-lt"/>
                  </a:rPr>
                  <a:t>Số lượng hàng: grid_height = int((</a:t>
                </a:r>
                <a14:m>
                  <m:oMath xmlns:m="http://schemas.openxmlformats.org/officeDocument/2006/math">
                    <m:sSub>
                      <m:sSubPr>
                        <m:ctrlPr>
                          <a:rPr lang="vi-VN" i="1">
                            <a:latin typeface="Cambria Math" panose="02040503050406030204" pitchFamily="18" charset="0"/>
                          </a:rPr>
                        </m:ctrlPr>
                      </m:sSubPr>
                      <m:e>
                        <m:r>
                          <m:rPr>
                            <m:sty m:val="p"/>
                          </m:rPr>
                          <a:rPr lang="vi-VN" i="1" smtClean="0">
                            <a:latin typeface="Cambria Math" panose="02040503050406030204" pitchFamily="18" charset="0"/>
                          </a:rPr>
                          <m:t>y</m:t>
                        </m:r>
                      </m:e>
                      <m:sub>
                        <m:r>
                          <m:rPr>
                            <m:sty m:val="p"/>
                          </m:rPr>
                          <a:rPr lang="vi-VN" i="1" smtClean="0">
                            <a:latin typeface="Cambria Math" panose="02040503050406030204" pitchFamily="18" charset="0"/>
                          </a:rPr>
                          <m:t>max</m:t>
                        </m:r>
                      </m:sub>
                    </m:sSub>
                    <m:r>
                      <a:rPr lang="vi-VN" i="1">
                        <a:latin typeface="Cambria Math" panose="02040503050406030204" pitchFamily="18" charset="0"/>
                        <a:ea typeface="Cambria Math" panose="02040503050406030204" pitchFamily="18" charset="0"/>
                      </a:rPr>
                      <m:t>−</m:t>
                    </m:r>
                    <m:sSub>
                      <m:sSubPr>
                        <m:ctrlPr>
                          <a:rPr lang="vi-VN" i="1">
                            <a:latin typeface="Cambria Math" panose="02040503050406030204" pitchFamily="18" charset="0"/>
                            <a:ea typeface="Cambria Math" panose="02040503050406030204" pitchFamily="18" charset="0"/>
                          </a:rPr>
                        </m:ctrlPr>
                      </m:sSubPr>
                      <m:e>
                        <m:r>
                          <m:rPr>
                            <m:sty m:val="p"/>
                          </m:rPr>
                          <a:rPr lang="vi-VN" i="1" smtClean="0">
                            <a:latin typeface="Cambria Math" panose="02040503050406030204" pitchFamily="18" charset="0"/>
                            <a:ea typeface="Cambria Math" panose="02040503050406030204" pitchFamily="18" charset="0"/>
                          </a:rPr>
                          <m:t>y</m:t>
                        </m:r>
                      </m:e>
                      <m:sub>
                        <m:r>
                          <m:rPr>
                            <m:sty m:val="p"/>
                          </m:rPr>
                          <a:rPr lang="vi-VN" i="1" smtClean="0">
                            <a:latin typeface="Cambria Math" panose="02040503050406030204" pitchFamily="18" charset="0"/>
                            <a:ea typeface="Cambria Math" panose="02040503050406030204" pitchFamily="18" charset="0"/>
                          </a:rPr>
                          <m:t>min</m:t>
                        </m:r>
                      </m:sub>
                    </m:sSub>
                  </m:oMath>
                </a14:m>
                <a:r>
                  <a:rPr lang="vi-VN" dirty="0">
                    <a:latin typeface="+mj-lt"/>
                  </a:rPr>
                  <a:t>) // cell_size) + 1</a:t>
                </a:r>
              </a:p>
              <a:p>
                <a:pPr marL="285750" indent="-285750" algn="just">
                  <a:lnSpc>
                    <a:spcPct val="150000"/>
                  </a:lnSpc>
                  <a:buFontTx/>
                  <a:buChar char="-"/>
                </a:pPr>
                <a:r>
                  <a:rPr lang="vi-VN" dirty="0">
                    <a:latin typeface="+mj-lt"/>
                  </a:rPr>
                  <a:t>Chia lấy nguyên để biết khoảng không gian từ </a:t>
                </a:r>
                <a14:m>
                  <m:oMath xmlns:m="http://schemas.openxmlformats.org/officeDocument/2006/math">
                    <m:sSub>
                      <m:sSubPr>
                        <m:ctrlPr>
                          <a:rPr lang="vi-VN" i="1">
                            <a:latin typeface="Cambria Math" panose="02040503050406030204" pitchFamily="18" charset="0"/>
                            <a:ea typeface="Cambria Math" panose="02040503050406030204" pitchFamily="18" charset="0"/>
                          </a:rPr>
                        </m:ctrlPr>
                      </m:sSubPr>
                      <m:e>
                        <m:r>
                          <m:rPr>
                            <m:sty m:val="p"/>
                          </m:rPr>
                          <a:rPr lang="vi-VN" i="1">
                            <a:latin typeface="Cambria Math" panose="02040503050406030204" pitchFamily="18" charset="0"/>
                            <a:ea typeface="Cambria Math" panose="02040503050406030204" pitchFamily="18" charset="0"/>
                          </a:rPr>
                          <m:t>x</m:t>
                        </m:r>
                      </m:e>
                      <m:sub>
                        <m:r>
                          <m:rPr>
                            <m:sty m:val="p"/>
                          </m:rPr>
                          <a:rPr lang="vi-VN" i="1">
                            <a:latin typeface="Cambria Math" panose="02040503050406030204" pitchFamily="18" charset="0"/>
                            <a:ea typeface="Cambria Math" panose="02040503050406030204" pitchFamily="18" charset="0"/>
                          </a:rPr>
                          <m:t>min</m:t>
                        </m:r>
                      </m:sub>
                    </m:sSub>
                  </m:oMath>
                </a14:m>
                <a:r>
                  <a:rPr lang="vi-VN" dirty="0">
                    <a:latin typeface="+mj-lt"/>
                  </a:rPr>
                  <a:t> đến </a:t>
                </a:r>
                <a14:m>
                  <m:oMath xmlns:m="http://schemas.openxmlformats.org/officeDocument/2006/math">
                    <m:sSub>
                      <m:sSubPr>
                        <m:ctrlPr>
                          <a:rPr lang="vi-VN" i="1">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max</m:t>
                        </m:r>
                      </m:sub>
                    </m:sSub>
                  </m:oMath>
                </a14:m>
                <a:r>
                  <a:rPr lang="vi-VN" dirty="0">
                    <a:latin typeface="+mj-lt"/>
                  </a:rPr>
                  <a:t> chứa được tối đa bao nhiêu ô nguyên vẹn có kích thước cell_size.</a:t>
                </a:r>
              </a:p>
              <a:p>
                <a:pPr marL="285750" indent="-285750" algn="just">
                  <a:lnSpc>
                    <a:spcPct val="150000"/>
                  </a:lnSpc>
                  <a:buFontTx/>
                  <a:buChar char="-"/>
                </a:pPr>
                <a:r>
                  <a:rPr lang="vi-VN" dirty="0">
                    <a:latin typeface="+mj-lt"/>
                  </a:rPr>
                  <a:t>Cộng thêm 1 để đảm bảo các điểm nằm sát đường biên </a:t>
                </a:r>
                <a14:m>
                  <m:oMath xmlns:m="http://schemas.openxmlformats.org/officeDocument/2006/math">
                    <m:sSub>
                      <m:sSubPr>
                        <m:ctrlPr>
                          <a:rPr lang="vi-VN" i="1">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max</m:t>
                        </m:r>
                      </m:sub>
                    </m:sSub>
                  </m:oMath>
                </a14:m>
                <a:r>
                  <a:rPr lang="vi-VN" dirty="0">
                    <a:latin typeface="+mj-lt"/>
                  </a:rPr>
                  <a:t> hoặc </a:t>
                </a:r>
                <a14:m>
                  <m:oMath xmlns:m="http://schemas.openxmlformats.org/officeDocument/2006/math">
                    <m:sSub>
                      <m:sSubPr>
                        <m:ctrlPr>
                          <a:rPr lang="vi-VN" i="1">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max</m:t>
                        </m:r>
                      </m:sub>
                    </m:sSub>
                  </m:oMath>
                </a14:m>
                <a:r>
                  <a:rPr lang="vi-VN" dirty="0">
                    <a:latin typeface="+mj-lt"/>
                  </a:rPr>
                  <a:t> không bị rơi ra ngoài ô lưới. Ô cuối cùng này sẽ hoạt động như một vùng đệm an toàn</a:t>
                </a:r>
              </a:p>
            </p:txBody>
          </p:sp>
        </mc:Choice>
        <mc:Fallback xmlns="">
          <p:sp>
            <p:nvSpPr>
              <p:cNvPr id="3" name="TextBox 5">
                <a:extLst>
                  <a:ext uri="{FF2B5EF4-FFF2-40B4-BE49-F238E27FC236}">
                    <a16:creationId xmlns:a16="http://schemas.microsoft.com/office/drawing/2014/main" id="{85F78B7B-3365-BE19-C32B-6E9588EE3827}"/>
                  </a:ext>
                </a:extLst>
              </p:cNvPr>
              <p:cNvSpPr txBox="1">
                <a:spLocks noRot="1" noChangeAspect="1" noMove="1" noResize="1" noEditPoints="1" noAdjustHandles="1" noChangeArrowheads="1" noChangeShapeType="1" noTextEdit="1"/>
              </p:cNvSpPr>
              <p:nvPr/>
            </p:nvSpPr>
            <p:spPr>
              <a:xfrm>
                <a:off x="1079999" y="2097332"/>
                <a:ext cx="9264728" cy="4197559"/>
              </a:xfrm>
              <a:prstGeom prst="rect">
                <a:avLst/>
              </a:prstGeom>
              <a:blipFill>
                <a:blip r:embed="rId2"/>
                <a:stretch>
                  <a:fillRect l="-395" r="-592" b="-1306"/>
                </a:stretch>
              </a:blipFill>
            </p:spPr>
            <p:txBody>
              <a:bodyPr/>
              <a:lstStyle/>
              <a:p>
                <a:r>
                  <a:rPr lang="en-US">
                    <a:noFill/>
                  </a:rPr>
                  <a:t> </a:t>
                </a:r>
              </a:p>
            </p:txBody>
          </p:sp>
        </mc:Fallback>
      </mc:AlternateContent>
    </p:spTree>
    <p:extLst>
      <p:ext uri="{BB962C8B-B14F-4D97-AF65-F5344CB8AC3E}">
        <p14:creationId xmlns:p14="http://schemas.microsoft.com/office/powerpoint/2010/main" val="1118048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97891-F0C9-3E50-BC27-EE57F08812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419184-474C-D9F8-DD3C-915D03440E92}"/>
              </a:ext>
            </a:extLst>
          </p:cNvPr>
          <p:cNvSpPr>
            <a:spLocks noGrp="1"/>
          </p:cNvSpPr>
          <p:nvPr>
            <p:ph type="sldNum" sz="quarter" idx="12"/>
          </p:nvPr>
        </p:nvSpPr>
        <p:spPr/>
        <p:txBody>
          <a:bodyPr/>
          <a:lstStyle/>
          <a:p>
            <a:fld id="{9B618960-8005-486C-9A75-10CB2AAC16F9}" type="slidenum">
              <a:rPr lang="en-US" smtClean="0"/>
              <a:t>37</a:t>
            </a:fld>
            <a:endParaRPr lang="en-US"/>
          </a:p>
        </p:txBody>
      </p:sp>
      <p:sp>
        <p:nvSpPr>
          <p:cNvPr id="5" name="TextBox 3">
            <a:extLst>
              <a:ext uri="{FF2B5EF4-FFF2-40B4-BE49-F238E27FC236}">
                <a16:creationId xmlns:a16="http://schemas.microsoft.com/office/drawing/2014/main" id="{353A0C02-F240-20A7-5CFF-4AC3CE9E91CD}"/>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D8796EC3-B121-2379-F017-319BAFF39A14}"/>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195B671B-207F-4C71-60B0-CB77AC8EC613}"/>
                  </a:ext>
                </a:extLst>
              </p:cNvPr>
              <p:cNvSpPr txBox="1"/>
              <p:nvPr/>
            </p:nvSpPr>
            <p:spPr>
              <a:xfrm>
                <a:off x="1079999" y="2097332"/>
                <a:ext cx="9273965" cy="461305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tính biên và kích thước lưới:</a:t>
                </a:r>
              </a:p>
              <a:p>
                <a:pPr marL="285750" indent="-285750" algn="just">
                  <a:lnSpc>
                    <a:spcPct val="150000"/>
                  </a:lnSpc>
                  <a:buFontTx/>
                  <a:buChar char="-"/>
                </a:pPr>
                <a:r>
                  <a:rPr lang="vi-VN" dirty="0">
                    <a:latin typeface="+mj-lt"/>
                  </a:rPr>
                  <a:t>Giả sử có tập dữ liệu gồm 3 điểm sau: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1</m:t>
                        </m:r>
                      </m:sub>
                    </m:sSub>
                    <m:r>
                      <a:rPr lang="vi-VN" b="0" i="1" smtClean="0">
                        <a:latin typeface="Cambria Math" panose="02040503050406030204" pitchFamily="18" charset="0"/>
                      </a:rPr>
                      <m:t>(</m:t>
                    </m:r>
                    <m:r>
                      <a:rPr lang="vi-VN" i="1">
                        <a:latin typeface="Cambria Math" panose="02040503050406030204" pitchFamily="18" charset="0"/>
                      </a:rPr>
                      <m:t>2</m:t>
                    </m:r>
                    <m:r>
                      <a:rPr lang="vi-VN" b="0" i="1" smtClean="0">
                        <a:latin typeface="Cambria Math" panose="02040503050406030204" pitchFamily="18" charset="0"/>
                      </a:rPr>
                      <m:t>, </m:t>
                    </m:r>
                    <m:r>
                      <a:rPr lang="vi-VN" i="1">
                        <a:latin typeface="Cambria Math" panose="02040503050406030204" pitchFamily="18" charset="0"/>
                      </a:rPr>
                      <m:t>5</m:t>
                    </m:r>
                    <m:r>
                      <a:rPr lang="vi-VN" b="0" i="1" smtClean="0">
                        <a:latin typeface="Cambria Math" panose="02040503050406030204" pitchFamily="18" charset="0"/>
                      </a:rPr>
                      <m:t>), </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2</m:t>
                        </m:r>
                      </m:sub>
                    </m:sSub>
                    <m:r>
                      <a:rPr lang="vi-VN" b="0" i="1" smtClean="0">
                        <a:latin typeface="Cambria Math" panose="02040503050406030204" pitchFamily="18" charset="0"/>
                      </a:rPr>
                      <m:t>(</m:t>
                    </m:r>
                    <m:r>
                      <a:rPr lang="vi-VN" i="1">
                        <a:latin typeface="Cambria Math" panose="02040503050406030204" pitchFamily="18" charset="0"/>
                      </a:rPr>
                      <m:t>12</m:t>
                    </m:r>
                    <m:r>
                      <a:rPr lang="vi-VN" b="0" i="1" smtClean="0">
                        <a:latin typeface="Cambria Math" panose="02040503050406030204" pitchFamily="18" charset="0"/>
                      </a:rPr>
                      <m:t>, </m:t>
                    </m:r>
                    <m:r>
                      <a:rPr lang="vi-VN" i="1">
                        <a:latin typeface="Cambria Math" panose="02040503050406030204" pitchFamily="18" charset="0"/>
                      </a:rPr>
                      <m:t>23</m:t>
                    </m:r>
                    <m:r>
                      <a:rPr lang="vi-VN" b="0" i="1" smtClean="0">
                        <a:latin typeface="Cambria Math" panose="02040503050406030204" pitchFamily="18" charset="0"/>
                      </a:rPr>
                      <m:t>), </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3</m:t>
                        </m:r>
                      </m:sub>
                    </m:sSub>
                    <m:r>
                      <a:rPr lang="vi-VN" b="0" i="1" smtClean="0">
                        <a:latin typeface="Cambria Math" panose="02040503050406030204" pitchFamily="18" charset="0"/>
                      </a:rPr>
                      <m:t>(</m:t>
                    </m:r>
                    <m:r>
                      <a:rPr lang="vi-VN" i="1">
                        <a:latin typeface="Cambria Math" panose="02040503050406030204" pitchFamily="18" charset="0"/>
                      </a:rPr>
                      <m:t>22</m:t>
                    </m:r>
                    <m:r>
                      <a:rPr lang="vi-VN" b="0" i="1" smtClean="0">
                        <a:latin typeface="Cambria Math" panose="02040503050406030204" pitchFamily="18" charset="0"/>
                      </a:rPr>
                      <m:t>, </m:t>
                    </m:r>
                    <m:r>
                      <a:rPr lang="vi-VN" i="1">
                        <a:latin typeface="Cambria Math" panose="02040503050406030204" pitchFamily="18" charset="0"/>
                      </a:rPr>
                      <m:t>11</m:t>
                    </m:r>
                    <m:r>
                      <a:rPr lang="vi-VN" b="0" i="1" smtClean="0">
                        <a:latin typeface="Cambria Math" panose="02040503050406030204" pitchFamily="18" charset="0"/>
                      </a:rPr>
                      <m:t>)</m:t>
                    </m:r>
                  </m:oMath>
                </a14:m>
                <a:r>
                  <a:rPr lang="vi-VN" dirty="0">
                    <a:latin typeface="+mj-lt"/>
                  </a:rPr>
                  <a:t>. Kích thước một ô chọn trước là cell_size = 5.0</a:t>
                </a:r>
              </a:p>
              <a:p>
                <a:pPr marL="285750" indent="-285750" algn="just">
                  <a:lnSpc>
                    <a:spcPct val="150000"/>
                  </a:lnSpc>
                  <a:buFontTx/>
                  <a:buChar char="-"/>
                </a:pPr>
                <a:r>
                  <a:rPr lang="vi-VN" dirty="0">
                    <a:latin typeface="+mj-lt"/>
                  </a:rPr>
                  <a:t>Bước 1: Tìm biên của cả lưới:</a:t>
                </a:r>
              </a:p>
              <a:p>
                <a:pPr marL="742950" lvl="1" indent="-285750" algn="just">
                  <a:lnSpc>
                    <a:spcPct val="150000"/>
                  </a:lnSpc>
                  <a:buFont typeface="Arial" panose="020B0604020202020204" pitchFamily="34" charset="0"/>
                  <a:buChar char="•"/>
                </a:pPr>
                <a:r>
                  <a:rPr lang="vi-VN" dirty="0">
                    <a:latin typeface="+mj-lt"/>
                  </a:rPr>
                  <a:t>Thuật toán tìm các giá trị nhỏ nhất và lớn nhất:</a:t>
                </a:r>
              </a:p>
              <a:p>
                <a:pPr marL="742950" lvl="1" indent="-285750" algn="just">
                  <a:lnSpc>
                    <a:spcPct val="150000"/>
                  </a:lnSpc>
                  <a:buFont typeface="Arial" panose="020B0604020202020204" pitchFamily="34" charset="0"/>
                  <a:buChar char="•"/>
                </a:pP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oMath>
                </a14:m>
                <a:r>
                  <a:rPr lang="vi-VN" dirty="0">
                    <a:latin typeface="+mj-lt"/>
                  </a:rPr>
                  <a:t> = min(2, 12, 22) = 2.0</a:t>
                </a:r>
              </a:p>
              <a:p>
                <a:pPr marL="742950" lvl="1" indent="-285750" algn="just">
                  <a:lnSpc>
                    <a:spcPct val="150000"/>
                  </a:lnSpc>
                  <a:buFont typeface="Arial" panose="020B0604020202020204" pitchFamily="34" charset="0"/>
                  <a:buChar char="•"/>
                </a:pP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max</m:t>
                        </m:r>
                      </m:sub>
                    </m:sSub>
                  </m:oMath>
                </a14:m>
                <a:r>
                  <a:rPr lang="vi-VN" dirty="0">
                    <a:latin typeface="+mj-lt"/>
                  </a:rPr>
                  <a:t> = max(2, 12, 22) = 22.0</a:t>
                </a:r>
              </a:p>
              <a:p>
                <a:pPr marL="742950" lvl="1" indent="-285750" algn="just">
                  <a:lnSpc>
                    <a:spcPct val="150000"/>
                  </a:lnSpc>
                  <a:buFont typeface="Arial" panose="020B0604020202020204" pitchFamily="34" charset="0"/>
                  <a:buChar char="•"/>
                </a:pPr>
                <a14:m>
                  <m:oMath xmlns:m="http://schemas.openxmlformats.org/officeDocument/2006/math">
                    <m:sSub>
                      <m:sSubPr>
                        <m:ctrlPr>
                          <a:rPr lang="vi-VN" i="1">
                            <a:latin typeface="Cambria Math" panose="02040503050406030204" pitchFamily="18" charset="0"/>
                          </a:rPr>
                        </m:ctrlPr>
                      </m:sSubPr>
                      <m:e>
                        <m:r>
                          <m:rPr>
                            <m:sty m:val="p"/>
                          </m:rPr>
                          <a:rPr lang="vi-VN" i="1" smtClean="0">
                            <a:latin typeface="Cambria Math" panose="02040503050406030204" pitchFamily="18" charset="0"/>
                          </a:rPr>
                          <m:t>y</m:t>
                        </m:r>
                      </m:e>
                      <m:sub>
                        <m:r>
                          <m:rPr>
                            <m:sty m:val="p"/>
                          </m:rPr>
                          <a:rPr lang="vi-VN" i="1">
                            <a:latin typeface="Cambria Math" panose="02040503050406030204" pitchFamily="18" charset="0"/>
                          </a:rPr>
                          <m:t>min</m:t>
                        </m:r>
                      </m:sub>
                    </m:sSub>
                  </m:oMath>
                </a14:m>
                <a:r>
                  <a:rPr lang="vi-VN" dirty="0">
                    <a:latin typeface="+mj-lt"/>
                  </a:rPr>
                  <a:t> = min(5, 23, 11) = 5.0</a:t>
                </a:r>
              </a:p>
              <a:p>
                <a:pPr marL="742950" lvl="1" indent="-285750" algn="just">
                  <a:lnSpc>
                    <a:spcPct val="150000"/>
                  </a:lnSpc>
                  <a:buFont typeface="Arial" panose="020B0604020202020204" pitchFamily="34" charset="0"/>
                  <a:buChar char="•"/>
                </a:pPr>
                <a14:m>
                  <m:oMath xmlns:m="http://schemas.openxmlformats.org/officeDocument/2006/math">
                    <m:sSub>
                      <m:sSubPr>
                        <m:ctrlPr>
                          <a:rPr lang="vi-VN" i="1">
                            <a:latin typeface="Cambria Math" panose="02040503050406030204" pitchFamily="18" charset="0"/>
                          </a:rPr>
                        </m:ctrlPr>
                      </m:sSubPr>
                      <m:e>
                        <m:r>
                          <m:rPr>
                            <m:sty m:val="p"/>
                          </m:rPr>
                          <a:rPr lang="vi-VN" i="1" smtClean="0">
                            <a:latin typeface="Cambria Math" panose="02040503050406030204" pitchFamily="18" charset="0"/>
                          </a:rPr>
                          <m:t>y</m:t>
                        </m:r>
                      </m:e>
                      <m:sub>
                        <m:r>
                          <m:rPr>
                            <m:sty m:val="p"/>
                          </m:rPr>
                          <a:rPr lang="vi-VN" i="1">
                            <a:latin typeface="Cambria Math" panose="02040503050406030204" pitchFamily="18" charset="0"/>
                          </a:rPr>
                          <m:t>max</m:t>
                        </m:r>
                      </m:sub>
                    </m:sSub>
                  </m:oMath>
                </a14:m>
                <a:r>
                  <a:rPr lang="vi-VN" dirty="0">
                    <a:latin typeface="+mj-lt"/>
                  </a:rPr>
                  <a:t> = max(5, 23, 11) = 23.0</a:t>
                </a:r>
              </a:p>
              <a:p>
                <a:pPr marL="742950" lvl="1" indent="-285750" algn="just">
                  <a:lnSpc>
                    <a:spcPct val="150000"/>
                  </a:lnSpc>
                  <a:buFont typeface="Arial" panose="020B0604020202020204" pitchFamily="34" charset="0"/>
                  <a:buChar char="•"/>
                </a:pPr>
                <a:r>
                  <a:rPr lang="vi-VN" dirty="0">
                    <a:latin typeface="+mj-lt"/>
                  </a:rPr>
                  <a:t>Hình chữ nhật bao quanh toàn bộ dữ liệu sẽ có góc dưới-trái là (2, 5) và góc trên-phải là (22, 23)</a:t>
                </a:r>
              </a:p>
            </p:txBody>
          </p:sp>
        </mc:Choice>
        <mc:Fallback xmlns="">
          <p:sp>
            <p:nvSpPr>
              <p:cNvPr id="3" name="TextBox 5">
                <a:extLst>
                  <a:ext uri="{FF2B5EF4-FFF2-40B4-BE49-F238E27FC236}">
                    <a16:creationId xmlns:a16="http://schemas.microsoft.com/office/drawing/2014/main" id="{195B671B-207F-4C71-60B0-CB77AC8EC613}"/>
                  </a:ext>
                </a:extLst>
              </p:cNvPr>
              <p:cNvSpPr txBox="1">
                <a:spLocks noRot="1" noChangeAspect="1" noMove="1" noResize="1" noEditPoints="1" noAdjustHandles="1" noChangeArrowheads="1" noChangeShapeType="1" noTextEdit="1"/>
              </p:cNvSpPr>
              <p:nvPr/>
            </p:nvSpPr>
            <p:spPr>
              <a:xfrm>
                <a:off x="1079999" y="2097332"/>
                <a:ext cx="9273965" cy="4613058"/>
              </a:xfrm>
              <a:prstGeom prst="rect">
                <a:avLst/>
              </a:prstGeom>
              <a:blipFill>
                <a:blip r:embed="rId2"/>
                <a:stretch>
                  <a:fillRect l="-394" r="-592" b="-1189"/>
                </a:stretch>
              </a:blipFill>
            </p:spPr>
            <p:txBody>
              <a:bodyPr/>
              <a:lstStyle/>
              <a:p>
                <a:r>
                  <a:rPr lang="en-US">
                    <a:noFill/>
                  </a:rPr>
                  <a:t> </a:t>
                </a:r>
              </a:p>
            </p:txBody>
          </p:sp>
        </mc:Fallback>
      </mc:AlternateContent>
    </p:spTree>
    <p:extLst>
      <p:ext uri="{BB962C8B-B14F-4D97-AF65-F5344CB8AC3E}">
        <p14:creationId xmlns:p14="http://schemas.microsoft.com/office/powerpoint/2010/main" val="573136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39A4-4E3F-4236-2E64-02A7430D34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906BC7-33FC-C139-D44F-F7AEB6FF7F51}"/>
              </a:ext>
            </a:extLst>
          </p:cNvPr>
          <p:cNvSpPr>
            <a:spLocks noGrp="1"/>
          </p:cNvSpPr>
          <p:nvPr>
            <p:ph type="sldNum" sz="quarter" idx="12"/>
          </p:nvPr>
        </p:nvSpPr>
        <p:spPr/>
        <p:txBody>
          <a:bodyPr/>
          <a:lstStyle/>
          <a:p>
            <a:fld id="{9B618960-8005-486C-9A75-10CB2AAC16F9}" type="slidenum">
              <a:rPr lang="en-US" smtClean="0"/>
              <a:t>38</a:t>
            </a:fld>
            <a:endParaRPr lang="en-US"/>
          </a:p>
        </p:txBody>
      </p:sp>
      <p:sp>
        <p:nvSpPr>
          <p:cNvPr id="5" name="TextBox 3">
            <a:extLst>
              <a:ext uri="{FF2B5EF4-FFF2-40B4-BE49-F238E27FC236}">
                <a16:creationId xmlns:a16="http://schemas.microsoft.com/office/drawing/2014/main" id="{89851D90-7F36-3BDC-14FE-2F936759D839}"/>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4D73A631-F69D-CF4B-B182-BD9157F9CE04}"/>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448E5A4C-6CEC-082F-7DB3-EEB634A539BB}"/>
                  </a:ext>
                </a:extLst>
              </p:cNvPr>
              <p:cNvSpPr txBox="1"/>
              <p:nvPr/>
            </p:nvSpPr>
            <p:spPr>
              <a:xfrm>
                <a:off x="1079999" y="2097332"/>
                <a:ext cx="9717310" cy="419473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Ví dụ minh họa tính biên và kích thước lưới:</a:t>
                </a:r>
              </a:p>
              <a:p>
                <a:pPr marL="285750" indent="-285750" algn="just">
                  <a:lnSpc>
                    <a:spcPct val="150000"/>
                  </a:lnSpc>
                  <a:buFontTx/>
                  <a:buChar char="-"/>
                </a:pPr>
                <a:r>
                  <a:rPr lang="vi-VN" dirty="0">
                    <a:latin typeface="+mj-lt"/>
                  </a:rPr>
                  <a:t>Giả sử có tập dữ liệu gồm 3 điểm sau: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1</m:t>
                        </m:r>
                      </m:sub>
                    </m:sSub>
                    <m:r>
                      <a:rPr lang="vi-VN" b="0" i="1" smtClean="0">
                        <a:latin typeface="Cambria Math" panose="02040503050406030204" pitchFamily="18" charset="0"/>
                      </a:rPr>
                      <m:t>(</m:t>
                    </m:r>
                    <m:r>
                      <a:rPr lang="vi-VN" i="1">
                        <a:latin typeface="Cambria Math" panose="02040503050406030204" pitchFamily="18" charset="0"/>
                      </a:rPr>
                      <m:t>2</m:t>
                    </m:r>
                    <m:r>
                      <a:rPr lang="vi-VN" b="0" i="1" smtClean="0">
                        <a:latin typeface="Cambria Math" panose="02040503050406030204" pitchFamily="18" charset="0"/>
                      </a:rPr>
                      <m:t>, </m:t>
                    </m:r>
                    <m:r>
                      <a:rPr lang="vi-VN" i="1">
                        <a:latin typeface="Cambria Math" panose="02040503050406030204" pitchFamily="18" charset="0"/>
                      </a:rPr>
                      <m:t>5</m:t>
                    </m:r>
                    <m:r>
                      <a:rPr lang="vi-VN" b="0" i="1" smtClean="0">
                        <a:latin typeface="Cambria Math" panose="02040503050406030204" pitchFamily="18" charset="0"/>
                      </a:rPr>
                      <m:t>), </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2</m:t>
                        </m:r>
                      </m:sub>
                    </m:sSub>
                    <m:r>
                      <a:rPr lang="vi-VN" b="0" i="1" smtClean="0">
                        <a:latin typeface="Cambria Math" panose="02040503050406030204" pitchFamily="18" charset="0"/>
                      </a:rPr>
                      <m:t>(</m:t>
                    </m:r>
                    <m:r>
                      <a:rPr lang="vi-VN" i="1">
                        <a:latin typeface="Cambria Math" panose="02040503050406030204" pitchFamily="18" charset="0"/>
                      </a:rPr>
                      <m:t>12</m:t>
                    </m:r>
                    <m:r>
                      <a:rPr lang="vi-VN" b="0" i="1" smtClean="0">
                        <a:latin typeface="Cambria Math" panose="02040503050406030204" pitchFamily="18" charset="0"/>
                      </a:rPr>
                      <m:t>, </m:t>
                    </m:r>
                    <m:r>
                      <a:rPr lang="vi-VN" i="1">
                        <a:latin typeface="Cambria Math" panose="02040503050406030204" pitchFamily="18" charset="0"/>
                      </a:rPr>
                      <m:t>23</m:t>
                    </m:r>
                    <m:r>
                      <a:rPr lang="vi-VN" b="0" i="1" smtClean="0">
                        <a:latin typeface="Cambria Math" panose="02040503050406030204" pitchFamily="18" charset="0"/>
                      </a:rPr>
                      <m:t>), </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3</m:t>
                        </m:r>
                      </m:sub>
                    </m:sSub>
                    <m:r>
                      <a:rPr lang="vi-VN" b="0" i="1" smtClean="0">
                        <a:latin typeface="Cambria Math" panose="02040503050406030204" pitchFamily="18" charset="0"/>
                      </a:rPr>
                      <m:t>(</m:t>
                    </m:r>
                    <m:r>
                      <a:rPr lang="vi-VN" i="1">
                        <a:latin typeface="Cambria Math" panose="02040503050406030204" pitchFamily="18" charset="0"/>
                      </a:rPr>
                      <m:t>22</m:t>
                    </m:r>
                    <m:r>
                      <a:rPr lang="vi-VN" b="0" i="1" smtClean="0">
                        <a:latin typeface="Cambria Math" panose="02040503050406030204" pitchFamily="18" charset="0"/>
                      </a:rPr>
                      <m:t>, </m:t>
                    </m:r>
                    <m:r>
                      <a:rPr lang="vi-VN" i="1">
                        <a:latin typeface="Cambria Math" panose="02040503050406030204" pitchFamily="18" charset="0"/>
                      </a:rPr>
                      <m:t>11</m:t>
                    </m:r>
                    <m:r>
                      <a:rPr lang="vi-VN" b="0" i="1" smtClean="0">
                        <a:latin typeface="Cambria Math" panose="02040503050406030204" pitchFamily="18" charset="0"/>
                      </a:rPr>
                      <m:t>)</m:t>
                    </m:r>
                  </m:oMath>
                </a14:m>
                <a:r>
                  <a:rPr lang="vi-VN" dirty="0">
                    <a:latin typeface="+mj-lt"/>
                  </a:rPr>
                  <a:t>. Kích thước một ô chọn trước là cell_size = 5.0</a:t>
                </a:r>
              </a:p>
              <a:p>
                <a:pPr marL="285750" indent="-285750" algn="just">
                  <a:lnSpc>
                    <a:spcPct val="150000"/>
                  </a:lnSpc>
                  <a:buFontTx/>
                  <a:buChar char="-"/>
                </a:pPr>
                <a:r>
                  <a:rPr lang="vi-VN" dirty="0">
                    <a:latin typeface="+mj-lt"/>
                  </a:rPr>
                  <a:t>Bước 2: Tính số hàng và số cột ô lưới</a:t>
                </a:r>
              </a:p>
              <a:p>
                <a:pPr marL="742950" lvl="1" indent="-285750" algn="just">
                  <a:lnSpc>
                    <a:spcPct val="150000"/>
                  </a:lnSpc>
                  <a:buFont typeface="Arial" panose="020B0604020202020204" pitchFamily="34" charset="0"/>
                  <a:buChar char="•"/>
                </a:pPr>
                <a:r>
                  <a:rPr lang="vi-VN" dirty="0">
                    <a:latin typeface="+mj-lt"/>
                  </a:rPr>
                  <a:t>Số cột (grid_witdth) = </a:t>
                </a:r>
                <a14:m>
                  <m:oMath xmlns:m="http://schemas.openxmlformats.org/officeDocument/2006/math">
                    <m:d>
                      <m:dPr>
                        <m:ctrlPr>
                          <a:rPr lang="vi-VN" i="1" smtClean="0">
                            <a:latin typeface="Cambria Math" panose="02040503050406030204" pitchFamily="18" charset="0"/>
                          </a:rPr>
                        </m:ctrlPr>
                      </m:dPr>
                      <m:e>
                        <m:f>
                          <m:fPr>
                            <m:ctrlPr>
                              <a:rPr lang="vi-VN" i="1" smtClean="0">
                                <a:latin typeface="Cambria Math" panose="02040503050406030204" pitchFamily="18" charset="0"/>
                              </a:rPr>
                            </m:ctrlPr>
                          </m:fPr>
                          <m:num>
                            <m:r>
                              <a:rPr lang="vi-VN" i="1">
                                <a:latin typeface="Cambria Math" panose="02040503050406030204" pitchFamily="18" charset="0"/>
                              </a:rPr>
                              <m:t>22</m:t>
                            </m:r>
                            <m:r>
                              <a:rPr lang="vi-VN" b="0" i="1" smtClean="0">
                                <a:latin typeface="Cambria Math" panose="02040503050406030204" pitchFamily="18" charset="0"/>
                              </a:rPr>
                              <m:t>.</m:t>
                            </m:r>
                            <m:r>
                              <a:rPr lang="vi-VN" i="1">
                                <a:latin typeface="Cambria Math" panose="02040503050406030204" pitchFamily="18" charset="0"/>
                              </a:rPr>
                              <m:t>0</m:t>
                            </m:r>
                            <m:r>
                              <a:rPr lang="vi-VN" i="1">
                                <a:latin typeface="Cambria Math" panose="02040503050406030204" pitchFamily="18" charset="0"/>
                                <a:ea typeface="Cambria Math" panose="02040503050406030204" pitchFamily="18" charset="0"/>
                              </a:rPr>
                              <m:t>−</m:t>
                            </m:r>
                            <m:r>
                              <a:rPr lang="vi-VN" i="1" smtClean="0">
                                <a:latin typeface="Cambria Math" panose="02040503050406030204" pitchFamily="18" charset="0"/>
                                <a:ea typeface="Cambria Math" panose="02040503050406030204" pitchFamily="18" charset="0"/>
                              </a:rPr>
                              <m:t>2</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0</m:t>
                            </m:r>
                          </m:num>
                          <m:den>
                            <m:r>
                              <a:rPr lang="vi-VN" i="1">
                                <a:latin typeface="Cambria Math" panose="02040503050406030204" pitchFamily="18" charset="0"/>
                              </a:rPr>
                              <m:t>5</m:t>
                            </m:r>
                            <m:r>
                              <a:rPr lang="vi-VN" b="0" i="1" smtClean="0">
                                <a:latin typeface="Cambria Math" panose="02040503050406030204" pitchFamily="18" charset="0"/>
                              </a:rPr>
                              <m:t>.</m:t>
                            </m:r>
                            <m:r>
                              <a:rPr lang="vi-VN" i="1">
                                <a:latin typeface="Cambria Math" panose="02040503050406030204" pitchFamily="18" charset="0"/>
                              </a:rPr>
                              <m:t>0</m:t>
                            </m:r>
                          </m:den>
                        </m:f>
                      </m:e>
                    </m:d>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5</m:t>
                    </m:r>
                  </m:oMath>
                </a14:m>
                <a:r>
                  <a:rPr lang="vi-VN" dirty="0">
                    <a:latin typeface="+mj-lt"/>
                  </a:rPr>
                  <a:t> cột</a:t>
                </a:r>
              </a:p>
              <a:p>
                <a:pPr marL="742950" lvl="1" indent="-285750" algn="just">
                  <a:lnSpc>
                    <a:spcPct val="150000"/>
                  </a:lnSpc>
                  <a:buFont typeface="Arial" panose="020B0604020202020204" pitchFamily="34" charset="0"/>
                  <a:buChar char="•"/>
                </a:pPr>
                <a:r>
                  <a:rPr lang="vi-VN" dirty="0">
                    <a:latin typeface="+mj-lt"/>
                  </a:rPr>
                  <a:t>Số hàng (grid_height) = </a:t>
                </a:r>
                <a14:m>
                  <m:oMath xmlns:m="http://schemas.openxmlformats.org/officeDocument/2006/math">
                    <m:d>
                      <m:dPr>
                        <m:ctrlPr>
                          <a:rPr lang="vi-VN" i="1" smtClean="0">
                            <a:latin typeface="Cambria Math" panose="02040503050406030204" pitchFamily="18" charset="0"/>
                          </a:rPr>
                        </m:ctrlPr>
                      </m:dPr>
                      <m:e>
                        <m:f>
                          <m:fPr>
                            <m:ctrlPr>
                              <a:rPr lang="vi-VN" i="1" smtClean="0">
                                <a:latin typeface="Cambria Math" panose="02040503050406030204" pitchFamily="18" charset="0"/>
                              </a:rPr>
                            </m:ctrlPr>
                          </m:fPr>
                          <m:num>
                            <m:r>
                              <a:rPr lang="vi-VN" i="1">
                                <a:latin typeface="Cambria Math" panose="02040503050406030204" pitchFamily="18" charset="0"/>
                              </a:rPr>
                              <m:t>23</m:t>
                            </m:r>
                            <m:r>
                              <a:rPr lang="vi-VN" b="0" i="1" smtClean="0">
                                <a:latin typeface="Cambria Math" panose="02040503050406030204" pitchFamily="18" charset="0"/>
                              </a:rPr>
                              <m:t>.</m:t>
                            </m:r>
                            <m:r>
                              <a:rPr lang="vi-VN" i="1">
                                <a:latin typeface="Cambria Math" panose="02040503050406030204" pitchFamily="18" charset="0"/>
                              </a:rPr>
                              <m:t>0</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5</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0</m:t>
                            </m:r>
                          </m:num>
                          <m:den>
                            <m:r>
                              <a:rPr lang="vi-VN" i="1">
                                <a:latin typeface="Cambria Math" panose="02040503050406030204" pitchFamily="18" charset="0"/>
                              </a:rPr>
                              <m:t>5</m:t>
                            </m:r>
                            <m:r>
                              <a:rPr lang="vi-VN" b="0" i="1" smtClean="0">
                                <a:latin typeface="Cambria Math" panose="02040503050406030204" pitchFamily="18" charset="0"/>
                              </a:rPr>
                              <m:t>.</m:t>
                            </m:r>
                            <m:r>
                              <a:rPr lang="vi-VN" i="1">
                                <a:latin typeface="Cambria Math" panose="02040503050406030204" pitchFamily="18" charset="0"/>
                              </a:rPr>
                              <m:t>0</m:t>
                            </m:r>
                          </m:den>
                        </m:f>
                      </m:e>
                    </m:d>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r>
                      <a:rPr lang="vi-VN"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4</m:t>
                    </m:r>
                  </m:oMath>
                </a14:m>
                <a:r>
                  <a:rPr lang="vi-VN" dirty="0">
                    <a:latin typeface="+mj-lt"/>
                  </a:rPr>
                  <a:t> hàng</a:t>
                </a:r>
              </a:p>
              <a:p>
                <a:pPr marL="742950" lvl="1" indent="-285750" algn="just">
                  <a:lnSpc>
                    <a:spcPct val="150000"/>
                  </a:lnSpc>
                  <a:buFont typeface="Arial" panose="020B0604020202020204" pitchFamily="34" charset="0"/>
                  <a:buChar char="•"/>
                </a:pPr>
                <a:r>
                  <a:rPr lang="vi-VN" dirty="0">
                    <a:latin typeface="+mj-lt"/>
                  </a:rPr>
                  <a:t>Các hàng sẽ được đánh chỉ số là: hàng 0, hàng 1, hàng 2, hàng 3</a:t>
                </a:r>
              </a:p>
              <a:p>
                <a:pPr marL="285750" indent="-285750" algn="just">
                  <a:lnSpc>
                    <a:spcPct val="150000"/>
                  </a:lnSpc>
                  <a:buFontTx/>
                  <a:buChar char="-"/>
                </a:pPr>
                <a:r>
                  <a:rPr lang="vi-VN" dirty="0">
                    <a:latin typeface="+mj-lt"/>
                  </a:rPr>
                  <a:t>KL: Toàn bộ không gian dữ liệu lúc này được quản lý bởi một ma trận lưới gồm 5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latin typeface="+mj-lt"/>
                  </a:rPr>
                  <a:t> 4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latin typeface="+mj-lt"/>
                  </a:rPr>
                  <a:t> 20 ô vuông. Bất kỳ điểm dữ liệu nào lọt vào vùng này cũng sẽ tìm được đúng 1 ô cố định để trú ngụ.</a:t>
                </a:r>
              </a:p>
            </p:txBody>
          </p:sp>
        </mc:Choice>
        <mc:Fallback xmlns="">
          <p:sp>
            <p:nvSpPr>
              <p:cNvPr id="3" name="TextBox 5">
                <a:extLst>
                  <a:ext uri="{FF2B5EF4-FFF2-40B4-BE49-F238E27FC236}">
                    <a16:creationId xmlns:a16="http://schemas.microsoft.com/office/drawing/2014/main" id="{448E5A4C-6CEC-082F-7DB3-EEB634A539BB}"/>
                  </a:ext>
                </a:extLst>
              </p:cNvPr>
              <p:cNvSpPr txBox="1">
                <a:spLocks noRot="1" noChangeAspect="1" noMove="1" noResize="1" noEditPoints="1" noAdjustHandles="1" noChangeArrowheads="1" noChangeShapeType="1" noTextEdit="1"/>
              </p:cNvSpPr>
              <p:nvPr/>
            </p:nvSpPr>
            <p:spPr>
              <a:xfrm>
                <a:off x="1079999" y="2097332"/>
                <a:ext cx="9717310" cy="4194738"/>
              </a:xfrm>
              <a:prstGeom prst="rect">
                <a:avLst/>
              </a:prstGeom>
              <a:blipFill>
                <a:blip r:embed="rId2"/>
                <a:stretch>
                  <a:fillRect l="-376" r="-565" b="-1453"/>
                </a:stretch>
              </a:blipFill>
            </p:spPr>
            <p:txBody>
              <a:bodyPr/>
              <a:lstStyle/>
              <a:p>
                <a:r>
                  <a:rPr lang="en-US">
                    <a:noFill/>
                  </a:rPr>
                  <a:t> </a:t>
                </a:r>
              </a:p>
            </p:txBody>
          </p:sp>
        </mc:Fallback>
      </mc:AlternateContent>
    </p:spTree>
    <p:extLst>
      <p:ext uri="{BB962C8B-B14F-4D97-AF65-F5344CB8AC3E}">
        <p14:creationId xmlns:p14="http://schemas.microsoft.com/office/powerpoint/2010/main" val="4177072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1E40E-A09B-A023-DF94-2D66988664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49D97-98F3-7A9F-D98C-90B3DEEC65E4}"/>
              </a:ext>
            </a:extLst>
          </p:cNvPr>
          <p:cNvSpPr>
            <a:spLocks noGrp="1"/>
          </p:cNvSpPr>
          <p:nvPr>
            <p:ph type="sldNum" sz="quarter" idx="12"/>
          </p:nvPr>
        </p:nvSpPr>
        <p:spPr/>
        <p:txBody>
          <a:bodyPr/>
          <a:lstStyle/>
          <a:p>
            <a:fld id="{9B618960-8005-486C-9A75-10CB2AAC16F9}" type="slidenum">
              <a:rPr lang="en-US" smtClean="0"/>
              <a:t>39</a:t>
            </a:fld>
            <a:endParaRPr lang="en-US"/>
          </a:p>
        </p:txBody>
      </p:sp>
      <p:sp>
        <p:nvSpPr>
          <p:cNvPr id="5" name="TextBox 3">
            <a:extLst>
              <a:ext uri="{FF2B5EF4-FFF2-40B4-BE49-F238E27FC236}">
                <a16:creationId xmlns:a16="http://schemas.microsoft.com/office/drawing/2014/main" id="{785CCABE-5D9D-C087-11AC-B6CA0FBD0294}"/>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A8B9616A-F695-EE53-2DE6-D55F979F4D4C}"/>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E31CF256-47AB-9230-FEBB-53E5A2620D03}"/>
                  </a:ext>
                </a:extLst>
              </p:cNvPr>
              <p:cNvSpPr txBox="1"/>
              <p:nvPr/>
            </p:nvSpPr>
            <p:spPr>
              <a:xfrm>
                <a:off x="1079999" y="2097332"/>
                <a:ext cx="5291309" cy="461305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vi-VN" dirty="0">
                    <a:latin typeface="+mj-lt"/>
                  </a:rPr>
                  <a:t>Cơ chế đánh chỉ số ô lưới (Grid Indexing)</a:t>
                </a:r>
              </a:p>
              <a:p>
                <a:pPr marL="285750" indent="-285750" algn="just">
                  <a:lnSpc>
                    <a:spcPct val="150000"/>
                  </a:lnSpc>
                  <a:buFontTx/>
                  <a:buChar char="-"/>
                </a:pPr>
                <a:r>
                  <a:rPr lang="vi-VN" dirty="0">
                    <a:latin typeface="+mj-lt"/>
                  </a:rPr>
                  <a:t>Nguyên tắc đánh số: hệ thống lưới dùng tọa độ nguyên (Chỉ số hàng, Chỉ số cột) bắt đầu từ góc dưới cùng bên trái.</a:t>
                </a:r>
              </a:p>
              <a:p>
                <a:pPr marL="285750" indent="-285750" algn="just">
                  <a:lnSpc>
                    <a:spcPct val="150000"/>
                  </a:lnSpc>
                  <a:buFontTx/>
                  <a:buChar char="-"/>
                </a:pPr>
                <a:r>
                  <a:rPr lang="vi-VN" dirty="0">
                    <a:latin typeface="+mj-lt"/>
                  </a:rPr>
                  <a:t>Góc dưới cùng bên trái của toàn bộ lưới (nơi giao nhau của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oMath>
                </a14:m>
                <a:r>
                  <a:rPr lang="vi-VN" dirty="0">
                    <a:latin typeface="+mj-lt"/>
                  </a:rPr>
                  <a:t> và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oMath>
                </a14:m>
                <a:r>
                  <a:rPr lang="vi-VN" dirty="0">
                    <a:latin typeface="+mj-lt"/>
                  </a:rPr>
                  <a:t>) luôn được quy ước là gốc tọa độ ô: (0, 0).</a:t>
                </a:r>
              </a:p>
              <a:p>
                <a:pPr marL="285750" indent="-285750" algn="just">
                  <a:lnSpc>
                    <a:spcPct val="150000"/>
                  </a:lnSpc>
                  <a:buFontTx/>
                  <a:buChar char="-"/>
                </a:pPr>
                <a:r>
                  <a:rPr lang="vi-VN" dirty="0">
                    <a:latin typeface="+mj-lt"/>
                  </a:rPr>
                  <a:t>Theo chiều ngang (trục x): các cột được đánh số tăng dần từ trái sang phải: 0, 1, 2, ..., grid_width – 1.</a:t>
                </a:r>
              </a:p>
              <a:p>
                <a:pPr marL="285750" indent="-285750" algn="just">
                  <a:lnSpc>
                    <a:spcPct val="150000"/>
                  </a:lnSpc>
                  <a:buFontTx/>
                  <a:buChar char="-"/>
                </a:pPr>
                <a:r>
                  <a:rPr lang="vi-VN" dirty="0">
                    <a:latin typeface="+mj-lt"/>
                  </a:rPr>
                  <a:t>Theo chiều dọc (trục y): các hàng được đánh số tăng dần từ dưới lên trên: 0, 1, 2, ..., grid_height – 1.</a:t>
                </a:r>
              </a:p>
            </p:txBody>
          </p:sp>
        </mc:Choice>
        <mc:Fallback xmlns="">
          <p:sp>
            <p:nvSpPr>
              <p:cNvPr id="3" name="TextBox 5">
                <a:extLst>
                  <a:ext uri="{FF2B5EF4-FFF2-40B4-BE49-F238E27FC236}">
                    <a16:creationId xmlns:a16="http://schemas.microsoft.com/office/drawing/2014/main" id="{E31CF256-47AB-9230-FEBB-53E5A2620D03}"/>
                  </a:ext>
                </a:extLst>
              </p:cNvPr>
              <p:cNvSpPr txBox="1">
                <a:spLocks noRot="1" noChangeAspect="1" noMove="1" noResize="1" noEditPoints="1" noAdjustHandles="1" noChangeArrowheads="1" noChangeShapeType="1" noTextEdit="1"/>
              </p:cNvSpPr>
              <p:nvPr/>
            </p:nvSpPr>
            <p:spPr>
              <a:xfrm>
                <a:off x="1079999" y="2097332"/>
                <a:ext cx="5291309" cy="4613058"/>
              </a:xfrm>
              <a:prstGeom prst="rect">
                <a:avLst/>
              </a:prstGeom>
              <a:blipFill>
                <a:blip r:embed="rId2"/>
                <a:stretch>
                  <a:fillRect l="-691" r="-1037" b="-1189"/>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EFD136D1-4B5A-AA4D-B7B3-3DB40549A0EF}"/>
              </a:ext>
            </a:extLst>
          </p:cNvPr>
          <p:cNvGrpSpPr/>
          <p:nvPr/>
        </p:nvGrpSpPr>
        <p:grpSpPr>
          <a:xfrm>
            <a:off x="8199418" y="2680913"/>
            <a:ext cx="2327564" cy="1584798"/>
            <a:chOff x="7887854" y="2612096"/>
            <a:chExt cx="2327564" cy="1584798"/>
          </a:xfrm>
        </p:grpSpPr>
        <p:sp>
          <p:nvSpPr>
            <p:cNvPr id="2" name="Rectangle 1">
              <a:extLst>
                <a:ext uri="{FF2B5EF4-FFF2-40B4-BE49-F238E27FC236}">
                  <a16:creationId xmlns:a16="http://schemas.microsoft.com/office/drawing/2014/main" id="{A5F71147-E0AB-BF12-E939-AD232458D2F2}"/>
                </a:ext>
              </a:extLst>
            </p:cNvPr>
            <p:cNvSpPr/>
            <p:nvPr/>
          </p:nvSpPr>
          <p:spPr>
            <a:xfrm>
              <a:off x="7887854" y="261209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2)</a:t>
              </a:r>
              <a:endParaRPr lang="en-US" dirty="0">
                <a:latin typeface="+mj-lt"/>
              </a:endParaRPr>
            </a:p>
          </p:txBody>
        </p:sp>
        <p:sp>
          <p:nvSpPr>
            <p:cNvPr id="8" name="Rectangle 7">
              <a:extLst>
                <a:ext uri="{FF2B5EF4-FFF2-40B4-BE49-F238E27FC236}">
                  <a16:creationId xmlns:a16="http://schemas.microsoft.com/office/drawing/2014/main" id="{FFBD59B8-A027-8E40-198C-D2698615C221}"/>
                </a:ext>
              </a:extLst>
            </p:cNvPr>
            <p:cNvSpPr/>
            <p:nvPr/>
          </p:nvSpPr>
          <p:spPr>
            <a:xfrm>
              <a:off x="7887854" y="3140364"/>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1)</a:t>
              </a:r>
              <a:endParaRPr lang="en-US" dirty="0">
                <a:latin typeface="+mj-lt"/>
              </a:endParaRPr>
            </a:p>
          </p:txBody>
        </p:sp>
        <p:sp>
          <p:nvSpPr>
            <p:cNvPr id="9" name="Rectangle 8">
              <a:extLst>
                <a:ext uri="{FF2B5EF4-FFF2-40B4-BE49-F238E27FC236}">
                  <a16:creationId xmlns:a16="http://schemas.microsoft.com/office/drawing/2014/main" id="{8A7068B7-9DD8-0E64-D876-AAC595E54E8A}"/>
                </a:ext>
              </a:extLst>
            </p:cNvPr>
            <p:cNvSpPr/>
            <p:nvPr/>
          </p:nvSpPr>
          <p:spPr>
            <a:xfrm>
              <a:off x="7887854" y="366862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0)</a:t>
              </a:r>
              <a:endParaRPr lang="en-US" dirty="0">
                <a:latin typeface="+mj-lt"/>
              </a:endParaRPr>
            </a:p>
          </p:txBody>
        </p:sp>
        <p:sp>
          <p:nvSpPr>
            <p:cNvPr id="10" name="Rectangle 9">
              <a:extLst>
                <a:ext uri="{FF2B5EF4-FFF2-40B4-BE49-F238E27FC236}">
                  <a16:creationId xmlns:a16="http://schemas.microsoft.com/office/drawing/2014/main" id="{EABCB6DE-2D54-BBE6-6124-EE0EC03CB16C}"/>
                </a:ext>
              </a:extLst>
            </p:cNvPr>
            <p:cNvSpPr/>
            <p:nvPr/>
          </p:nvSpPr>
          <p:spPr>
            <a:xfrm>
              <a:off x="9051636" y="3668628"/>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0)</a:t>
              </a:r>
              <a:endParaRPr lang="en-US" dirty="0">
                <a:latin typeface="+mj-lt"/>
              </a:endParaRPr>
            </a:p>
          </p:txBody>
        </p:sp>
        <p:sp>
          <p:nvSpPr>
            <p:cNvPr id="11" name="Rectangle 10">
              <a:extLst>
                <a:ext uri="{FF2B5EF4-FFF2-40B4-BE49-F238E27FC236}">
                  <a16:creationId xmlns:a16="http://schemas.microsoft.com/office/drawing/2014/main" id="{7D2682E3-EBAD-3B1A-A71F-F18D24B66D7B}"/>
                </a:ext>
              </a:extLst>
            </p:cNvPr>
            <p:cNvSpPr/>
            <p:nvPr/>
          </p:nvSpPr>
          <p:spPr>
            <a:xfrm>
              <a:off x="9051636" y="3140362"/>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1)</a:t>
              </a:r>
              <a:endParaRPr lang="en-US" dirty="0">
                <a:latin typeface="+mj-lt"/>
              </a:endParaRPr>
            </a:p>
          </p:txBody>
        </p:sp>
        <p:sp>
          <p:nvSpPr>
            <p:cNvPr id="12" name="Rectangle 11">
              <a:extLst>
                <a:ext uri="{FF2B5EF4-FFF2-40B4-BE49-F238E27FC236}">
                  <a16:creationId xmlns:a16="http://schemas.microsoft.com/office/drawing/2014/main" id="{33D8267E-0367-2D6E-7C08-4DAE1CBDC87F}"/>
                </a:ext>
              </a:extLst>
            </p:cNvPr>
            <p:cNvSpPr/>
            <p:nvPr/>
          </p:nvSpPr>
          <p:spPr>
            <a:xfrm>
              <a:off x="9051636" y="2612096"/>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2)</a:t>
              </a:r>
              <a:endParaRPr lang="en-US" dirty="0">
                <a:latin typeface="+mj-lt"/>
              </a:endParaRPr>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441C49C-503D-1404-B342-DA7EBA955941}"/>
                  </a:ext>
                </a:extLst>
              </p:cNvPr>
              <p:cNvSpPr txBox="1"/>
              <p:nvPr/>
            </p:nvSpPr>
            <p:spPr>
              <a:xfrm>
                <a:off x="6567269" y="3368112"/>
                <a:ext cx="1533825"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oMath>
                </a14:m>
                <a:r>
                  <a:rPr lang="vi-VN" dirty="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D441C49C-503D-1404-B342-DA7EBA955941}"/>
                  </a:ext>
                </a:extLst>
              </p:cNvPr>
              <p:cNvSpPr txBox="1">
                <a:spLocks noRot="1" noChangeAspect="1" noMove="1" noResize="1" noEditPoints="1" noAdjustHandles="1" noChangeArrowheads="1" noChangeShapeType="1" noTextEdit="1"/>
              </p:cNvSpPr>
              <p:nvPr/>
            </p:nvSpPr>
            <p:spPr>
              <a:xfrm>
                <a:off x="6567269" y="3368112"/>
                <a:ext cx="1533825" cy="369332"/>
              </a:xfrm>
              <a:prstGeom prst="rect">
                <a:avLst/>
              </a:prstGeom>
              <a:blipFill>
                <a:blip r:embed="rId3"/>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773156D-54F9-2368-E99D-B9D8CD8BA5B5}"/>
                  </a:ext>
                </a:extLst>
              </p:cNvPr>
              <p:cNvSpPr txBox="1"/>
              <p:nvPr/>
            </p:nvSpPr>
            <p:spPr>
              <a:xfrm>
                <a:off x="6567270" y="2839846"/>
                <a:ext cx="1533825"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2</m:t>
                    </m:r>
                  </m:oMath>
                </a14:m>
                <a:r>
                  <a:rPr lang="vi-VN" dirty="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E773156D-54F9-2368-E99D-B9D8CD8BA5B5}"/>
                  </a:ext>
                </a:extLst>
              </p:cNvPr>
              <p:cNvSpPr txBox="1">
                <a:spLocks noRot="1" noChangeAspect="1" noMove="1" noResize="1" noEditPoints="1" noAdjustHandles="1" noChangeArrowheads="1" noChangeShapeType="1" noTextEdit="1"/>
              </p:cNvSpPr>
              <p:nvPr/>
            </p:nvSpPr>
            <p:spPr>
              <a:xfrm>
                <a:off x="6567270" y="2839846"/>
                <a:ext cx="1533825" cy="369332"/>
              </a:xfrm>
              <a:prstGeom prst="rect">
                <a:avLst/>
              </a:prstGeom>
              <a:blipFill>
                <a:blip r:embed="rId4"/>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0EA3296-A445-3E8E-037B-FBA13671214F}"/>
                  </a:ext>
                </a:extLst>
              </p:cNvPr>
              <p:cNvSpPr txBox="1"/>
              <p:nvPr/>
            </p:nvSpPr>
            <p:spPr>
              <a:xfrm>
                <a:off x="6567270" y="2311581"/>
                <a:ext cx="1533825"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3</m:t>
                    </m:r>
                  </m:oMath>
                </a14:m>
                <a:r>
                  <a:rPr lang="vi-VN" dirty="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10EA3296-A445-3E8E-037B-FBA13671214F}"/>
                  </a:ext>
                </a:extLst>
              </p:cNvPr>
              <p:cNvSpPr txBox="1">
                <a:spLocks noRot="1" noChangeAspect="1" noMove="1" noResize="1" noEditPoints="1" noAdjustHandles="1" noChangeArrowheads="1" noChangeShapeType="1" noTextEdit="1"/>
              </p:cNvSpPr>
              <p:nvPr/>
            </p:nvSpPr>
            <p:spPr>
              <a:xfrm>
                <a:off x="6567270" y="2311581"/>
                <a:ext cx="1533825" cy="369332"/>
              </a:xfrm>
              <a:prstGeom prst="rect">
                <a:avLst/>
              </a:prstGeom>
              <a:blipFill>
                <a:blip r:embed="rId5"/>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9506A0C-DD1D-30AF-B327-346B5F0822A0}"/>
                  </a:ext>
                </a:extLst>
              </p:cNvPr>
              <p:cNvSpPr txBox="1"/>
              <p:nvPr/>
            </p:nvSpPr>
            <p:spPr>
              <a:xfrm>
                <a:off x="8781309" y="4424643"/>
                <a:ext cx="1533825"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1</m:t>
                    </m:r>
                  </m:oMath>
                </a14:m>
                <a:r>
                  <a:rPr lang="vi-VN" dirty="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39506A0C-DD1D-30AF-B327-346B5F0822A0}"/>
                  </a:ext>
                </a:extLst>
              </p:cNvPr>
              <p:cNvSpPr txBox="1">
                <a:spLocks noRot="1" noChangeAspect="1" noMove="1" noResize="1" noEditPoints="1" noAdjustHandles="1" noChangeArrowheads="1" noChangeShapeType="1" noTextEdit="1"/>
              </p:cNvSpPr>
              <p:nvPr/>
            </p:nvSpPr>
            <p:spPr>
              <a:xfrm>
                <a:off x="8781309" y="4424643"/>
                <a:ext cx="1533825" cy="369332"/>
              </a:xfrm>
              <a:prstGeom prst="rect">
                <a:avLst/>
              </a:prstGeom>
              <a:blipFill>
                <a:blip r:embed="rId6"/>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D8AE83C-8811-8D2B-5F35-F40285FFE61D}"/>
                  </a:ext>
                </a:extLst>
              </p:cNvPr>
              <p:cNvSpPr txBox="1"/>
              <p:nvPr/>
            </p:nvSpPr>
            <p:spPr>
              <a:xfrm>
                <a:off x="10345088" y="4402221"/>
                <a:ext cx="1533825"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2</m:t>
                    </m:r>
                  </m:oMath>
                </a14:m>
                <a:r>
                  <a:rPr lang="vi-VN" dirty="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p:txBody>
          </p:sp>
        </mc:Choice>
        <mc:Fallback xmlns="">
          <p:sp>
            <p:nvSpPr>
              <p:cNvPr id="24" name="TextBox 23">
                <a:extLst>
                  <a:ext uri="{FF2B5EF4-FFF2-40B4-BE49-F238E27FC236}">
                    <a16:creationId xmlns:a16="http://schemas.microsoft.com/office/drawing/2014/main" id="{FD8AE83C-8811-8D2B-5F35-F40285FFE61D}"/>
                  </a:ext>
                </a:extLst>
              </p:cNvPr>
              <p:cNvSpPr txBox="1">
                <a:spLocks noRot="1" noChangeAspect="1" noMove="1" noResize="1" noEditPoints="1" noAdjustHandles="1" noChangeArrowheads="1" noChangeShapeType="1" noTextEdit="1"/>
              </p:cNvSpPr>
              <p:nvPr/>
            </p:nvSpPr>
            <p:spPr>
              <a:xfrm>
                <a:off x="10345088" y="4402221"/>
                <a:ext cx="1533825" cy="369332"/>
              </a:xfrm>
              <a:prstGeom prst="rect">
                <a:avLst/>
              </a:prstGeom>
              <a:blipFill>
                <a:blip r:embed="rId7"/>
                <a:stretch>
                  <a:fillRect t="-8197" b="-24590"/>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9E2AD6F5-FA50-2A22-1D75-543358C82597}"/>
              </a:ext>
            </a:extLst>
          </p:cNvPr>
          <p:cNvCxnSpPr>
            <a:cxnSpLocks/>
          </p:cNvCxnSpPr>
          <p:nvPr/>
        </p:nvCxnSpPr>
        <p:spPr>
          <a:xfrm flipH="1" flipV="1">
            <a:off x="7561006" y="4265709"/>
            <a:ext cx="6384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4060B4F-4222-665B-C9CF-779CDCC1EAD9}"/>
                  </a:ext>
                </a:extLst>
              </p:cNvPr>
              <p:cNvSpPr txBox="1"/>
              <p:nvPr/>
            </p:nvSpPr>
            <p:spPr>
              <a:xfrm>
                <a:off x="6803923" y="4159045"/>
                <a:ext cx="4424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oMath>
                  </m:oMathPara>
                </a14:m>
                <a:endParaRPr lang="en-US" dirty="0"/>
              </a:p>
            </p:txBody>
          </p:sp>
        </mc:Choice>
        <mc:Fallback xmlns="">
          <p:sp>
            <p:nvSpPr>
              <p:cNvPr id="31" name="TextBox 30">
                <a:extLst>
                  <a:ext uri="{FF2B5EF4-FFF2-40B4-BE49-F238E27FC236}">
                    <a16:creationId xmlns:a16="http://schemas.microsoft.com/office/drawing/2014/main" id="{74060B4F-4222-665B-C9CF-779CDCC1EAD9}"/>
                  </a:ext>
                </a:extLst>
              </p:cNvPr>
              <p:cNvSpPr txBox="1">
                <a:spLocks noRot="1" noChangeAspect="1" noMove="1" noResize="1" noEditPoints="1" noAdjustHandles="1" noChangeArrowheads="1" noChangeShapeType="1" noTextEdit="1"/>
              </p:cNvSpPr>
              <p:nvPr/>
            </p:nvSpPr>
            <p:spPr>
              <a:xfrm>
                <a:off x="6803923" y="4159045"/>
                <a:ext cx="442451" cy="369332"/>
              </a:xfrm>
              <a:prstGeom prst="rect">
                <a:avLst/>
              </a:prstGeom>
              <a:blipFill>
                <a:blip r:embed="rId8"/>
                <a:stretch>
                  <a:fillRect r="-30137"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F2F70AD-2D86-7B69-CEAF-D9E48605B986}"/>
                  </a:ext>
                </a:extLst>
              </p:cNvPr>
              <p:cNvSpPr txBox="1"/>
              <p:nvPr/>
            </p:nvSpPr>
            <p:spPr>
              <a:xfrm>
                <a:off x="7561006" y="4749868"/>
                <a:ext cx="4424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oMath>
                  </m:oMathPara>
                </a14:m>
                <a:endParaRPr lang="en-US" dirty="0"/>
              </a:p>
            </p:txBody>
          </p:sp>
        </mc:Choice>
        <mc:Fallback xmlns="">
          <p:sp>
            <p:nvSpPr>
              <p:cNvPr id="32" name="TextBox 31">
                <a:extLst>
                  <a:ext uri="{FF2B5EF4-FFF2-40B4-BE49-F238E27FC236}">
                    <a16:creationId xmlns:a16="http://schemas.microsoft.com/office/drawing/2014/main" id="{FF2F70AD-2D86-7B69-CEAF-D9E48605B986}"/>
                  </a:ext>
                </a:extLst>
              </p:cNvPr>
              <p:cNvSpPr txBox="1">
                <a:spLocks noRot="1" noChangeAspect="1" noMove="1" noResize="1" noEditPoints="1" noAdjustHandles="1" noChangeArrowheads="1" noChangeShapeType="1" noTextEdit="1"/>
              </p:cNvSpPr>
              <p:nvPr/>
            </p:nvSpPr>
            <p:spPr>
              <a:xfrm>
                <a:off x="7561006" y="4749868"/>
                <a:ext cx="442451" cy="369332"/>
              </a:xfrm>
              <a:prstGeom prst="rect">
                <a:avLst/>
              </a:prstGeom>
              <a:blipFill>
                <a:blip r:embed="rId9"/>
                <a:stretch>
                  <a:fillRect r="-30137"/>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F015043D-1B0D-5614-22C2-35092539723B}"/>
              </a:ext>
            </a:extLst>
          </p:cNvPr>
          <p:cNvCxnSpPr>
            <a:cxnSpLocks/>
          </p:cNvCxnSpPr>
          <p:nvPr/>
        </p:nvCxnSpPr>
        <p:spPr>
          <a:xfrm>
            <a:off x="8199418" y="4265706"/>
            <a:ext cx="0" cy="668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25358E2-2F5F-62BC-3B59-FCF5045FAA4C}"/>
              </a:ext>
            </a:extLst>
          </p:cNvPr>
          <p:cNvSpPr txBox="1"/>
          <p:nvPr/>
        </p:nvSpPr>
        <p:spPr>
          <a:xfrm>
            <a:off x="5638800" y="2974258"/>
            <a:ext cx="65" cy="276999"/>
          </a:xfrm>
          <a:prstGeom prst="rect">
            <a:avLst/>
          </a:prstGeom>
          <a:noFill/>
        </p:spPr>
        <p:txBody>
          <a:bodyPr wrap="none" lIns="0" tIns="0" rIns="0" bIns="0" rtlCol="0">
            <a:spAutoFit/>
          </a:bodyPr>
          <a:lstStyle/>
          <a:p>
            <a:endParaRPr lang="en-US" dirty="0"/>
          </a:p>
        </p:txBody>
      </p:sp>
      <p:sp>
        <p:nvSpPr>
          <p:cNvPr id="38" name="TextBox 37">
            <a:extLst>
              <a:ext uri="{FF2B5EF4-FFF2-40B4-BE49-F238E27FC236}">
                <a16:creationId xmlns:a16="http://schemas.microsoft.com/office/drawing/2014/main" id="{BB1D9844-991E-FDE7-3059-40A1049DA6B8}"/>
              </a:ext>
            </a:extLst>
          </p:cNvPr>
          <p:cNvSpPr txBox="1"/>
          <p:nvPr/>
        </p:nvSpPr>
        <p:spPr>
          <a:xfrm>
            <a:off x="9178178" y="2086447"/>
            <a:ext cx="1533825" cy="369332"/>
          </a:xfrm>
          <a:prstGeom prst="rect">
            <a:avLst/>
          </a:prstGeom>
          <a:noFill/>
        </p:spPr>
        <p:txBody>
          <a:bodyPr wrap="square" rtlCol="0">
            <a:spAutoFit/>
          </a:bodyPr>
          <a:lstStyle/>
          <a:p>
            <a:pPr algn="ctr"/>
            <a:r>
              <a:rPr lang="vi-VN" dirty="0">
                <a:latin typeface="+mj-lt"/>
              </a:rPr>
              <a:t>c = cell_size</a:t>
            </a:r>
            <a:endParaRPr lang="en-US" dirty="0">
              <a:latin typeface="+mj-lt"/>
            </a:endParaRPr>
          </a:p>
        </p:txBody>
      </p:sp>
    </p:spTree>
    <p:extLst>
      <p:ext uri="{BB962C8B-B14F-4D97-AF65-F5344CB8AC3E}">
        <p14:creationId xmlns:p14="http://schemas.microsoft.com/office/powerpoint/2010/main" val="1974022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841EE-A163-8579-3A54-2BFB7513218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6AE25F-CD85-23D6-FCCC-03297DA6E2AA}"/>
              </a:ext>
            </a:extLst>
          </p:cNvPr>
          <p:cNvSpPr>
            <a:spLocks noGrp="1"/>
          </p:cNvSpPr>
          <p:nvPr>
            <p:ph type="sldNum" sz="quarter" idx="12"/>
          </p:nvPr>
        </p:nvSpPr>
        <p:spPr/>
        <p:txBody>
          <a:bodyPr/>
          <a:lstStyle/>
          <a:p>
            <a:fld id="{9B618960-8005-486C-9A75-10CB2AAC16F9}" type="slidenum">
              <a:rPr lang="en-US" smtClean="0"/>
              <a:t>40</a:t>
            </a:fld>
            <a:endParaRPr lang="en-US"/>
          </a:p>
        </p:txBody>
      </p:sp>
      <p:sp>
        <p:nvSpPr>
          <p:cNvPr id="5" name="TextBox 3">
            <a:extLst>
              <a:ext uri="{FF2B5EF4-FFF2-40B4-BE49-F238E27FC236}">
                <a16:creationId xmlns:a16="http://schemas.microsoft.com/office/drawing/2014/main" id="{A70880AF-07BF-9D6B-D188-009B8B125D17}"/>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8E3D05CD-32CC-6674-964E-3D3C27A980D6}"/>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E7945729-4F7D-9BBE-8B5F-C479EE38DBE9}"/>
                  </a:ext>
                </a:extLst>
              </p:cNvPr>
              <p:cNvSpPr txBox="1"/>
              <p:nvPr/>
            </p:nvSpPr>
            <p:spPr>
              <a:xfrm>
                <a:off x="1079998" y="2097332"/>
                <a:ext cx="9696157" cy="4172809"/>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mj-lt"/>
                  </a:rPr>
                  <a:t>Làm sao biết một điểm thuộc ô nào? (Point Mapping)</a:t>
                </a:r>
              </a:p>
              <a:p>
                <a:pPr algn="just">
                  <a:lnSpc>
                    <a:spcPct val="114000"/>
                  </a:lnSpc>
                </a:pPr>
                <a:r>
                  <a:rPr lang="vi-VN" dirty="0">
                    <a:latin typeface="+mj-lt"/>
                  </a:rPr>
                  <a:t>Bước 1: Đo khoảng cách từ gốc lưới</a:t>
                </a:r>
              </a:p>
              <a:p>
                <a:pPr marL="285750" indent="-285750" algn="just">
                  <a:lnSpc>
                    <a:spcPct val="114000"/>
                  </a:lnSpc>
                  <a:buFontTx/>
                  <a:buChar char="-"/>
                </a:pPr>
                <a:r>
                  <a:rPr lang="vi-VN" dirty="0">
                    <a:latin typeface="+mj-lt"/>
                  </a:rPr>
                  <a:t>Thuật toán lấy tọa độ của điểm trừ đi biên tối thiểu toàn cục. Hành động này giúp xác định xem điểm đó đang cách biên trái (hoặc biên dưới) bao nhiêu đơn vị khoảng cách thực tế.</a:t>
                </a:r>
              </a:p>
              <a:p>
                <a:pPr algn="just">
                  <a:lnSpc>
                    <a:spcPct val="114000"/>
                  </a:lnSpc>
                </a:pPr>
                <a:r>
                  <a:rPr lang="vi-VN" dirty="0">
                    <a:latin typeface="+mj-lt"/>
                  </a:rPr>
                  <a:t>Bước 2: Đếm số lượng ô trọn vẹn</a:t>
                </a:r>
              </a:p>
              <a:p>
                <a:pPr marL="285750" indent="-285750" algn="just">
                  <a:lnSpc>
                    <a:spcPct val="114000"/>
                  </a:lnSpc>
                  <a:buFontTx/>
                  <a:buChar char="-"/>
                </a:pPr>
                <a:r>
                  <a:rPr lang="vi-VN" dirty="0">
                    <a:latin typeface="+mj-lt"/>
                  </a:rPr>
                  <a:t>Lấy khoảng cách vừa tính được chia cho độ dài cạnh của một ô vuông (cell_size).</a:t>
                </a:r>
              </a:p>
              <a:p>
                <a:pPr marL="285750" indent="-285750" algn="just">
                  <a:lnSpc>
                    <a:spcPct val="114000"/>
                  </a:lnSpc>
                  <a:buFontTx/>
                  <a:buChar char="-"/>
                </a:pPr>
                <a:r>
                  <a:rPr lang="vi-VN" dirty="0">
                    <a:latin typeface="+mj-lt"/>
                  </a:rPr>
                  <a:t>Phép chia lấy phần nguyên sẽ cho biết điểm này đã vượt qua được bao nhiêu ô trọn vẹn để đứng ở ô tiếp theo.</a:t>
                </a:r>
              </a:p>
              <a:p>
                <a:pPr algn="just">
                  <a:lnSpc>
                    <a:spcPct val="114000"/>
                  </a:lnSpc>
                </a:pPr>
                <a:r>
                  <a:rPr lang="vi-VN" dirty="0">
                    <a:latin typeface="+mj-lt"/>
                  </a:rPr>
                  <a:t>Code: </a:t>
                </a:r>
              </a:p>
              <a:p>
                <a:pPr algn="just">
                  <a:lnSpc>
                    <a:spcPct val="114000"/>
                  </a:lnSpc>
                </a:pPr>
                <a:r>
                  <a:rPr lang="vi-VN" dirty="0">
                    <a:latin typeface="+mj-lt"/>
                  </a:rPr>
                  <a:t>def get_cell(point):</a:t>
                </a:r>
              </a:p>
              <a:p>
                <a:pPr marL="360000" algn="just">
                  <a:lnSpc>
                    <a:spcPct val="114000"/>
                  </a:lnSpc>
                </a:pPr>
                <a:r>
                  <a:rPr lang="vi-VN" dirty="0">
                    <a:latin typeface="+mj-lt"/>
                  </a:rPr>
                  <a:t>cell_x = int((point[0]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latin typeface="+mj-lt"/>
                  </a:rPr>
                  <a:t> x_min) // cell_size)</a:t>
                </a:r>
              </a:p>
              <a:p>
                <a:pPr marL="360000" algn="just">
                  <a:lnSpc>
                    <a:spcPct val="114000"/>
                  </a:lnSpc>
                </a:pPr>
                <a:r>
                  <a:rPr lang="vi-VN" dirty="0">
                    <a:latin typeface="+mj-lt"/>
                  </a:rPr>
                  <a:t>cell_y = int((point[1] </a:t>
                </a: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dirty="0">
                    <a:latin typeface="+mj-lt"/>
                  </a:rPr>
                  <a:t> y_min) // cell_size)</a:t>
                </a:r>
              </a:p>
              <a:p>
                <a:pPr marL="360000" algn="just">
                  <a:lnSpc>
                    <a:spcPct val="114000"/>
                  </a:lnSpc>
                </a:pPr>
                <a:r>
                  <a:rPr lang="vi-VN" dirty="0">
                    <a:latin typeface="+mj-lt"/>
                  </a:rPr>
                  <a:t>return (cell_x, cell_y)</a:t>
                </a:r>
              </a:p>
            </p:txBody>
          </p:sp>
        </mc:Choice>
        <mc:Fallback xmlns="">
          <p:sp>
            <p:nvSpPr>
              <p:cNvPr id="3" name="TextBox 5">
                <a:extLst>
                  <a:ext uri="{FF2B5EF4-FFF2-40B4-BE49-F238E27FC236}">
                    <a16:creationId xmlns:a16="http://schemas.microsoft.com/office/drawing/2014/main" id="{E7945729-4F7D-9BBE-8B5F-C479EE38DBE9}"/>
                  </a:ext>
                </a:extLst>
              </p:cNvPr>
              <p:cNvSpPr txBox="1">
                <a:spLocks noRot="1" noChangeAspect="1" noMove="1" noResize="1" noEditPoints="1" noAdjustHandles="1" noChangeArrowheads="1" noChangeShapeType="1" noTextEdit="1"/>
              </p:cNvSpPr>
              <p:nvPr/>
            </p:nvSpPr>
            <p:spPr>
              <a:xfrm>
                <a:off x="1079998" y="2097332"/>
                <a:ext cx="9696157" cy="4172809"/>
              </a:xfrm>
              <a:prstGeom prst="rect">
                <a:avLst/>
              </a:prstGeom>
              <a:blipFill>
                <a:blip r:embed="rId2"/>
                <a:stretch>
                  <a:fillRect l="-503" t="-438" r="-503" b="-1314"/>
                </a:stretch>
              </a:blipFill>
            </p:spPr>
            <p:txBody>
              <a:bodyPr/>
              <a:lstStyle/>
              <a:p>
                <a:r>
                  <a:rPr lang="en-US">
                    <a:noFill/>
                  </a:rPr>
                  <a:t> </a:t>
                </a:r>
              </a:p>
            </p:txBody>
          </p:sp>
        </mc:Fallback>
      </mc:AlternateContent>
    </p:spTree>
    <p:extLst>
      <p:ext uri="{BB962C8B-B14F-4D97-AF65-F5344CB8AC3E}">
        <p14:creationId xmlns:p14="http://schemas.microsoft.com/office/powerpoint/2010/main" val="30295656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D9D6-69B3-F8DA-2CD2-A61AB3166C1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40F78E-956D-461B-E536-B19DBB52B1D0}"/>
              </a:ext>
            </a:extLst>
          </p:cNvPr>
          <p:cNvSpPr>
            <a:spLocks noGrp="1"/>
          </p:cNvSpPr>
          <p:nvPr>
            <p:ph type="sldNum" sz="quarter" idx="12"/>
          </p:nvPr>
        </p:nvSpPr>
        <p:spPr/>
        <p:txBody>
          <a:bodyPr/>
          <a:lstStyle/>
          <a:p>
            <a:fld id="{9B618960-8005-486C-9A75-10CB2AAC16F9}" type="slidenum">
              <a:rPr lang="en-US" smtClean="0"/>
              <a:t>41</a:t>
            </a:fld>
            <a:endParaRPr lang="en-US"/>
          </a:p>
        </p:txBody>
      </p:sp>
      <p:sp>
        <p:nvSpPr>
          <p:cNvPr id="5" name="TextBox 3">
            <a:extLst>
              <a:ext uri="{FF2B5EF4-FFF2-40B4-BE49-F238E27FC236}">
                <a16:creationId xmlns:a16="http://schemas.microsoft.com/office/drawing/2014/main" id="{A1CA02FE-5403-6A9B-EF1E-E15AB47EDDFE}"/>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7E10905B-AF43-BBDD-0CC5-A7E67B46F4F3}"/>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A6DD384C-E098-34DA-7076-CB2FC179CA8C}"/>
                  </a:ext>
                </a:extLst>
              </p:cNvPr>
              <p:cNvSpPr txBox="1"/>
              <p:nvPr/>
            </p:nvSpPr>
            <p:spPr>
              <a:xfrm>
                <a:off x="1079999" y="2097332"/>
                <a:ext cx="6372854" cy="4488601"/>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mj-lt"/>
                  </a:rPr>
                  <a:t>Ví dụ trực quan mô phỏng get_cell</a:t>
                </a:r>
              </a:p>
              <a:p>
                <a:pPr marL="285750" indent="-285750" algn="just">
                  <a:lnSpc>
                    <a:spcPct val="114000"/>
                  </a:lnSpc>
                  <a:buFontTx/>
                  <a:buChar char="-"/>
                </a:pP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r>
                      <a:rPr lang="vi-VN" i="1">
                        <a:latin typeface="Cambria Math" panose="02040503050406030204" pitchFamily="18" charset="0"/>
                      </a:rPr>
                      <m:t>2</m:t>
                    </m:r>
                    <m:r>
                      <a:rPr lang="vi-VN" b="0" i="1" smtClean="0">
                        <a:latin typeface="Cambria Math" panose="02040503050406030204" pitchFamily="18" charset="0"/>
                      </a:rPr>
                      <m:t>.</m:t>
                    </m:r>
                    <m:r>
                      <a:rPr lang="vi-VN" i="1">
                        <a:latin typeface="Cambria Math" panose="02040503050406030204" pitchFamily="18" charset="0"/>
                      </a:rPr>
                      <m:t>0</m:t>
                    </m:r>
                    <m:r>
                      <a:rPr lang="vi-VN" b="0" i="1" smtClean="0">
                        <a:latin typeface="Cambria Math" panose="02040503050406030204" pitchFamily="18" charset="0"/>
                      </a:rPr>
                      <m:t>,</m:t>
                    </m:r>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r>
                      <a:rPr lang="vi-VN" i="1">
                        <a:latin typeface="Cambria Math" panose="02040503050406030204" pitchFamily="18" charset="0"/>
                      </a:rPr>
                      <m:t>5</m:t>
                    </m:r>
                  </m:oMath>
                </a14:m>
                <a:r>
                  <a:rPr lang="vi-VN" dirty="0">
                    <a:latin typeface="+mj-lt"/>
                  </a:rPr>
                  <a:t>.0</a:t>
                </a:r>
              </a:p>
              <a:p>
                <a:pPr marL="285750" indent="-285750" algn="just">
                  <a:lnSpc>
                    <a:spcPct val="114000"/>
                  </a:lnSpc>
                  <a:buFontTx/>
                  <a:buChar char="-"/>
                </a:pPr>
                <a:r>
                  <a:rPr lang="vi-VN" dirty="0">
                    <a:latin typeface="+mj-lt"/>
                  </a:rPr>
                  <a:t>Kích thước ô: cell_size = 5.0</a:t>
                </a:r>
              </a:p>
              <a:p>
                <a:pPr marL="285750" indent="-285750" algn="just">
                  <a:lnSpc>
                    <a:spcPct val="114000"/>
                  </a:lnSpc>
                  <a:buFontTx/>
                  <a:buChar char="-"/>
                </a:pPr>
                <a:r>
                  <a:rPr lang="vi-VN" dirty="0">
                    <a:latin typeface="+mj-lt"/>
                  </a:rPr>
                  <a:t>Bây giờ hãy tìm vị trí ô cho điểm dữ liệu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2</m:t>
                        </m:r>
                      </m:sub>
                    </m:sSub>
                    <m:r>
                      <a:rPr lang="vi-VN" b="0" i="1" smtClean="0">
                        <a:latin typeface="Cambria Math" panose="02040503050406030204" pitchFamily="18" charset="0"/>
                      </a:rPr>
                      <m:t>(</m:t>
                    </m:r>
                    <m:r>
                      <a:rPr lang="vi-VN" i="1">
                        <a:latin typeface="Cambria Math" panose="02040503050406030204" pitchFamily="18" charset="0"/>
                      </a:rPr>
                      <m:t>12</m:t>
                    </m:r>
                  </m:oMath>
                </a14:m>
                <a:r>
                  <a:rPr lang="vi-VN" dirty="0">
                    <a:latin typeface="+mj-lt"/>
                  </a:rPr>
                  <a:t>, 23)</a:t>
                </a:r>
              </a:p>
              <a:p>
                <a:pPr marL="285750" indent="-285750" algn="just">
                  <a:lnSpc>
                    <a:spcPct val="114000"/>
                  </a:lnSpc>
                  <a:buFontTx/>
                  <a:buChar char="-"/>
                </a:pPr>
                <a:r>
                  <a:rPr lang="vi-VN" dirty="0">
                    <a:latin typeface="+mj-lt"/>
                  </a:rPr>
                  <a:t>1. Tính chỉ số cột (cell_x)</a:t>
                </a:r>
              </a:p>
              <a:p>
                <a:pPr marL="742950" lvl="1" indent="-285750" algn="just">
                  <a:lnSpc>
                    <a:spcPct val="114000"/>
                  </a:lnSpc>
                  <a:buFont typeface="Arial" panose="020B0604020202020204" pitchFamily="34" charset="0"/>
                  <a:buChar char="•"/>
                </a:pPr>
                <a:r>
                  <a:rPr lang="vi-VN" dirty="0">
                    <a:latin typeface="+mj-lt"/>
                  </a:rPr>
                  <a:t>Khoảng cách từ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2</m:t>
                        </m:r>
                      </m:sub>
                    </m:sSub>
                  </m:oMath>
                </a14:m>
                <a:r>
                  <a:rPr lang="vi-VN" dirty="0">
                    <a:latin typeface="+mj-lt"/>
                  </a:rPr>
                  <a:t> tới biên trái: 12 – 2 = 10</a:t>
                </a:r>
              </a:p>
              <a:p>
                <a:pPr marL="742950" lvl="1" indent="-285750" algn="just">
                  <a:lnSpc>
                    <a:spcPct val="114000"/>
                  </a:lnSpc>
                  <a:buFont typeface="Arial" panose="020B0604020202020204" pitchFamily="34" charset="0"/>
                  <a:buChar char="•"/>
                </a:pPr>
                <a:r>
                  <a:rPr lang="vi-VN" dirty="0">
                    <a:latin typeface="+mj-lt"/>
                  </a:rPr>
                  <a:t>Chia cho kích thước ô: 10 / 5 = 2</a:t>
                </a:r>
              </a:p>
              <a:p>
                <a:pPr marL="742950" lvl="1" indent="-285750" algn="just">
                  <a:lnSpc>
                    <a:spcPct val="114000"/>
                  </a:lnSpc>
                  <a:buFont typeface="Arial" panose="020B0604020202020204" pitchFamily="34" charset="0"/>
                  <a:buChar char="•"/>
                </a:pPr>
                <a:r>
                  <a:rPr lang="vi-VN" dirty="0">
                    <a:latin typeface="+mj-lt"/>
                  </a:rPr>
                  <a:t>cell_x = 2 (nằm ở cột số 2)</a:t>
                </a:r>
              </a:p>
              <a:p>
                <a:pPr marL="285750" indent="-285750" algn="just">
                  <a:lnSpc>
                    <a:spcPct val="114000"/>
                  </a:lnSpc>
                  <a:buFontTx/>
                  <a:buChar char="-"/>
                </a:pPr>
                <a:r>
                  <a:rPr lang="vi-VN" dirty="0">
                    <a:latin typeface="+mj-lt"/>
                  </a:rPr>
                  <a:t>2. Tính chỉ số hàng (cell_y)</a:t>
                </a:r>
              </a:p>
              <a:p>
                <a:pPr marL="742950" lvl="1" indent="-285750" algn="just">
                  <a:lnSpc>
                    <a:spcPct val="114000"/>
                  </a:lnSpc>
                  <a:buFont typeface="Arial" panose="020B0604020202020204" pitchFamily="34" charset="0"/>
                  <a:buChar char="•"/>
                </a:pPr>
                <a:r>
                  <a:rPr lang="vi-VN" dirty="0">
                    <a:latin typeface="+mj-lt"/>
                  </a:rPr>
                  <a:t>Khoảng cách từ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2</m:t>
                        </m:r>
                      </m:sub>
                    </m:sSub>
                  </m:oMath>
                </a14:m>
                <a:r>
                  <a:rPr lang="vi-VN" dirty="0">
                    <a:latin typeface="+mj-lt"/>
                  </a:rPr>
                  <a:t> tới biên dưới: 23 – 5 = 18</a:t>
                </a:r>
              </a:p>
              <a:p>
                <a:pPr marL="742950" lvl="1" indent="-285750" algn="just">
                  <a:lnSpc>
                    <a:spcPct val="114000"/>
                  </a:lnSpc>
                  <a:buFont typeface="Arial" panose="020B0604020202020204" pitchFamily="34" charset="0"/>
                  <a:buChar char="•"/>
                </a:pPr>
                <a:r>
                  <a:rPr lang="vi-VN" dirty="0">
                    <a:latin typeface="+mj-lt"/>
                  </a:rPr>
                  <a:t>Chia cho kích thước ô: 18 / 5 = 3.6 </a:t>
                </a: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dirty="0">
                    <a:latin typeface="+mj-lt"/>
                  </a:rPr>
                  <a:t> lấy phần nguyên là 3</a:t>
                </a:r>
              </a:p>
              <a:p>
                <a:pPr marL="742950" lvl="1" indent="-285750" algn="just">
                  <a:lnSpc>
                    <a:spcPct val="114000"/>
                  </a:lnSpc>
                  <a:buFont typeface="Arial" panose="020B0604020202020204" pitchFamily="34" charset="0"/>
                  <a:buChar char="•"/>
                </a:pPr>
                <a:r>
                  <a:rPr lang="vi-VN" dirty="0">
                    <a:latin typeface="+mj-lt"/>
                  </a:rPr>
                  <a:t>cell_y = 3 (nằm ở hàng số 3)</a:t>
                </a:r>
              </a:p>
              <a:p>
                <a:pPr marL="285750" indent="-285750" algn="just">
                  <a:lnSpc>
                    <a:spcPct val="114000"/>
                  </a:lnSpc>
                  <a:buFontTx/>
                  <a:buChar char="-"/>
                </a:pPr>
                <a:r>
                  <a:rPr lang="vi-VN" dirty="0">
                    <a:latin typeface="+mj-lt"/>
                  </a:rPr>
                  <a:t>KL: Điểm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P</m:t>
                        </m:r>
                      </m:e>
                      <m:sub>
                        <m:r>
                          <a:rPr lang="vi-VN" i="1">
                            <a:latin typeface="Cambria Math" panose="02040503050406030204" pitchFamily="18" charset="0"/>
                          </a:rPr>
                          <m:t>2</m:t>
                        </m:r>
                      </m:sub>
                    </m:sSub>
                  </m:oMath>
                </a14:m>
                <a:r>
                  <a:rPr lang="vi-VN" dirty="0">
                    <a:latin typeface="+mj-lt"/>
                  </a:rPr>
                  <a:t>(12, 23) sẽ được xếp vào ô mang số hiệu (2, 3).</a:t>
                </a:r>
              </a:p>
              <a:p>
                <a:pPr marL="285750" indent="-285750" algn="just">
                  <a:lnSpc>
                    <a:spcPct val="114000"/>
                  </a:lnSpc>
                  <a:buFont typeface="Wingdings" panose="05000000000000000000" pitchFamily="2" charset="2"/>
                  <a:buChar char="v"/>
                </a:pPr>
                <a:endParaRPr lang="vi-VN" dirty="0">
                  <a:latin typeface="+mj-lt"/>
                </a:endParaRPr>
              </a:p>
            </p:txBody>
          </p:sp>
        </mc:Choice>
        <mc:Fallback xmlns="">
          <p:sp>
            <p:nvSpPr>
              <p:cNvPr id="3" name="TextBox 5">
                <a:extLst>
                  <a:ext uri="{FF2B5EF4-FFF2-40B4-BE49-F238E27FC236}">
                    <a16:creationId xmlns:a16="http://schemas.microsoft.com/office/drawing/2014/main" id="{A6DD384C-E098-34DA-7076-CB2FC179CA8C}"/>
                  </a:ext>
                </a:extLst>
              </p:cNvPr>
              <p:cNvSpPr txBox="1">
                <a:spLocks noRot="1" noChangeAspect="1" noMove="1" noResize="1" noEditPoints="1" noAdjustHandles="1" noChangeArrowheads="1" noChangeShapeType="1" noTextEdit="1"/>
              </p:cNvSpPr>
              <p:nvPr/>
            </p:nvSpPr>
            <p:spPr>
              <a:xfrm>
                <a:off x="1079999" y="2097332"/>
                <a:ext cx="6372854" cy="4488601"/>
              </a:xfrm>
              <a:prstGeom prst="rect">
                <a:avLst/>
              </a:prstGeom>
              <a:blipFill>
                <a:blip r:embed="rId2"/>
                <a:stretch>
                  <a:fillRect l="-574" t="-408" r="-191"/>
                </a:stretch>
              </a:blipFill>
            </p:spPr>
            <p:txBody>
              <a:bodyPr/>
              <a:lstStyle/>
              <a:p>
                <a:r>
                  <a:rPr lang="en-US">
                    <a:noFill/>
                  </a:rPr>
                  <a:t> </a:t>
                </a:r>
              </a:p>
            </p:txBody>
          </p:sp>
        </mc:Fallback>
      </mc:AlternateContent>
    </p:spTree>
    <p:extLst>
      <p:ext uri="{BB962C8B-B14F-4D97-AF65-F5344CB8AC3E}">
        <p14:creationId xmlns:p14="http://schemas.microsoft.com/office/powerpoint/2010/main" val="29086879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D4B95-E2F5-23D9-06A2-DB9D1CC073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45B3B3-6FF7-8B14-DF20-CEA49623F99D}"/>
              </a:ext>
            </a:extLst>
          </p:cNvPr>
          <p:cNvSpPr>
            <a:spLocks noGrp="1"/>
          </p:cNvSpPr>
          <p:nvPr>
            <p:ph type="sldNum" sz="quarter" idx="12"/>
          </p:nvPr>
        </p:nvSpPr>
        <p:spPr/>
        <p:txBody>
          <a:bodyPr/>
          <a:lstStyle/>
          <a:p>
            <a:fld id="{9B618960-8005-486C-9A75-10CB2AAC16F9}" type="slidenum">
              <a:rPr lang="en-US" smtClean="0"/>
              <a:t>42</a:t>
            </a:fld>
            <a:endParaRPr lang="en-US" dirty="0"/>
          </a:p>
        </p:txBody>
      </p:sp>
      <p:sp>
        <p:nvSpPr>
          <p:cNvPr id="5" name="TextBox 3">
            <a:extLst>
              <a:ext uri="{FF2B5EF4-FFF2-40B4-BE49-F238E27FC236}">
                <a16:creationId xmlns:a16="http://schemas.microsoft.com/office/drawing/2014/main" id="{160C061E-DE28-0BC2-180A-1AC2556F6FB4}"/>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6C457234-05A1-E232-6146-B892F7945A9E}"/>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A36B2E92-9501-78BC-C5E4-177F90D31AFB}"/>
                  </a:ext>
                </a:extLst>
              </p:cNvPr>
              <p:cNvSpPr txBox="1"/>
              <p:nvPr/>
            </p:nvSpPr>
            <p:spPr>
              <a:xfrm>
                <a:off x="1079999" y="2097332"/>
                <a:ext cx="5161234" cy="2914965"/>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mj-lt"/>
                  </a:rPr>
                  <a:t>Cách xác định biên tọa độ của một ô lưới cụ thể</a:t>
                </a:r>
              </a:p>
              <a:p>
                <a:pPr algn="just">
                  <a:lnSpc>
                    <a:spcPct val="114000"/>
                  </a:lnSpc>
                </a:pPr>
                <a:r>
                  <a:rPr lang="vi-VN" dirty="0">
                    <a:latin typeface="+mj-lt"/>
                  </a:rPr>
                  <a:t>Mục tiêu tính toán:</a:t>
                </a:r>
              </a:p>
              <a:p>
                <a:pPr marL="285750" indent="-285750" algn="just">
                  <a:lnSpc>
                    <a:spcPct val="114000"/>
                  </a:lnSpc>
                  <a:buFontTx/>
                  <a:buChar char="-"/>
                </a:pPr>
                <a:r>
                  <a:rPr lang="vi-VN" dirty="0">
                    <a:latin typeface="+mj-lt"/>
                  </a:rPr>
                  <a:t>Khi thuật toán muốn tính khoảng cách nhỏ nhất từ một điểm đến một ô láng giềng (neighbor_cell), nó cần phải dựng lên khung hình học (Bounding Box) của ô đó.</a:t>
                </a:r>
              </a:p>
              <a:p>
                <a:pPr marL="285750" indent="-285750" algn="just">
                  <a:lnSpc>
                    <a:spcPct val="114000"/>
                  </a:lnSpc>
                  <a:buFontTx/>
                  <a:buChar char="-"/>
                </a:pPr>
                <a:r>
                  <a:rPr lang="vi-VN" dirty="0">
                    <a:latin typeface="+mj-lt"/>
                  </a:rPr>
                  <a:t>Khung hình học của một ô vuông được định hình bằng 4 đường biên: Biên trái </a:t>
                </a:r>
                <a14:m>
                  <m:oMath xmlns:m="http://schemas.openxmlformats.org/officeDocument/2006/math">
                    <m:d>
                      <m:dPr>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a:rPr lang="vi-VN" i="1">
                                <a:latin typeface="Cambria Math" panose="02040503050406030204" pitchFamily="18" charset="0"/>
                              </a:rPr>
                              <m:t>1</m:t>
                            </m:r>
                          </m:sub>
                        </m:sSub>
                      </m:e>
                    </m:d>
                  </m:oMath>
                </a14:m>
                <a:r>
                  <a:rPr lang="vi-VN" dirty="0">
                    <a:latin typeface="+mj-lt"/>
                  </a:rPr>
                  <a:t>, Biên phải </a:t>
                </a:r>
                <a14:m>
                  <m:oMath xmlns:m="http://schemas.openxmlformats.org/officeDocument/2006/math">
                    <m:d>
                      <m:dPr>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m:rPr>
                                <m:sty m:val="p"/>
                              </m:rPr>
                              <a:rPr lang="vi-VN" i="1">
                                <a:latin typeface="Cambria Math" panose="02040503050406030204" pitchFamily="18" charset="0"/>
                              </a:rPr>
                              <m:t>x</m:t>
                            </m:r>
                          </m:e>
                          <m:sub>
                            <m:r>
                              <a:rPr lang="vi-VN" i="1">
                                <a:latin typeface="Cambria Math" panose="02040503050406030204" pitchFamily="18" charset="0"/>
                              </a:rPr>
                              <m:t>2</m:t>
                            </m:r>
                          </m:sub>
                        </m:sSub>
                      </m:e>
                    </m:d>
                  </m:oMath>
                </a14:m>
                <a:r>
                  <a:rPr lang="vi-VN" dirty="0">
                    <a:latin typeface="+mj-lt"/>
                  </a:rPr>
                  <a:t>, Biên dưới </a:t>
                </a:r>
                <a14:m>
                  <m:oMath xmlns:m="http://schemas.openxmlformats.org/officeDocument/2006/math">
                    <m:d>
                      <m:dPr>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m:rPr>
                                <m:sty m:val="p"/>
                              </m:rPr>
                              <a:rPr lang="vi-VN" i="1">
                                <a:latin typeface="Cambria Math" panose="02040503050406030204" pitchFamily="18" charset="0"/>
                              </a:rPr>
                              <m:t>y</m:t>
                            </m:r>
                          </m:e>
                          <m:sub>
                            <m:r>
                              <a:rPr lang="vi-VN" i="1">
                                <a:latin typeface="Cambria Math" panose="02040503050406030204" pitchFamily="18" charset="0"/>
                              </a:rPr>
                              <m:t>1</m:t>
                            </m:r>
                          </m:sub>
                        </m:sSub>
                      </m:e>
                    </m:d>
                  </m:oMath>
                </a14:m>
                <a:r>
                  <a:rPr lang="vi-VN" dirty="0">
                    <a:latin typeface="+mj-lt"/>
                  </a:rPr>
                  <a:t>, Biên trên </a:t>
                </a:r>
                <a14:m>
                  <m:oMath xmlns:m="http://schemas.openxmlformats.org/officeDocument/2006/math">
                    <m:d>
                      <m:dPr>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m:rPr>
                                <m:sty m:val="p"/>
                              </m:rPr>
                              <a:rPr lang="vi-VN" i="1">
                                <a:latin typeface="Cambria Math" panose="02040503050406030204" pitchFamily="18" charset="0"/>
                              </a:rPr>
                              <m:t>y</m:t>
                            </m:r>
                          </m:e>
                          <m:sub>
                            <m:r>
                              <a:rPr lang="vi-VN" i="1">
                                <a:latin typeface="Cambria Math" panose="02040503050406030204" pitchFamily="18" charset="0"/>
                              </a:rPr>
                              <m:t>2</m:t>
                            </m:r>
                          </m:sub>
                        </m:sSub>
                      </m:e>
                    </m:d>
                  </m:oMath>
                </a14:m>
                <a:r>
                  <a:rPr lang="vi-VN" dirty="0">
                    <a:latin typeface="+mj-lt"/>
                  </a:rPr>
                  <a:t>.</a:t>
                </a:r>
                <a:endParaRPr lang="en-US" dirty="0">
                  <a:latin typeface="+mj-lt"/>
                </a:endParaRPr>
              </a:p>
            </p:txBody>
          </p:sp>
        </mc:Choice>
        <mc:Fallback xmlns="">
          <p:sp>
            <p:nvSpPr>
              <p:cNvPr id="3" name="TextBox 5">
                <a:extLst>
                  <a:ext uri="{FF2B5EF4-FFF2-40B4-BE49-F238E27FC236}">
                    <a16:creationId xmlns:a16="http://schemas.microsoft.com/office/drawing/2014/main" id="{A36B2E92-9501-78BC-C5E4-177F90D31AFB}"/>
                  </a:ext>
                </a:extLst>
              </p:cNvPr>
              <p:cNvSpPr txBox="1">
                <a:spLocks noRot="1" noChangeAspect="1" noMove="1" noResize="1" noEditPoints="1" noAdjustHandles="1" noChangeArrowheads="1" noChangeShapeType="1" noTextEdit="1"/>
              </p:cNvSpPr>
              <p:nvPr/>
            </p:nvSpPr>
            <p:spPr>
              <a:xfrm>
                <a:off x="1079999" y="2097332"/>
                <a:ext cx="5161234" cy="2914965"/>
              </a:xfrm>
              <a:prstGeom prst="rect">
                <a:avLst/>
              </a:prstGeom>
              <a:blipFill>
                <a:blip r:embed="rId2"/>
                <a:stretch>
                  <a:fillRect l="-945" t="-628" r="-945" b="-2301"/>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848EC6B1-0139-E2A5-2F0B-78E0C9990DC3}"/>
              </a:ext>
            </a:extLst>
          </p:cNvPr>
          <p:cNvCxnSpPr>
            <a:cxnSpLocks/>
          </p:cNvCxnSpPr>
          <p:nvPr/>
        </p:nvCxnSpPr>
        <p:spPr>
          <a:xfrm>
            <a:off x="7256207" y="5633884"/>
            <a:ext cx="409759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6D76A5C-72B1-6850-33C3-E471C3F84455}"/>
              </a:ext>
            </a:extLst>
          </p:cNvPr>
          <p:cNvCxnSpPr>
            <a:cxnSpLocks/>
          </p:cNvCxnSpPr>
          <p:nvPr/>
        </p:nvCxnSpPr>
        <p:spPr>
          <a:xfrm flipV="1">
            <a:off x="7256207" y="2417222"/>
            <a:ext cx="0" cy="32249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BE02040-0A0F-E459-CC7D-D69A569CC22B}"/>
              </a:ext>
            </a:extLst>
          </p:cNvPr>
          <p:cNvSpPr/>
          <p:nvPr/>
        </p:nvSpPr>
        <p:spPr>
          <a:xfrm>
            <a:off x="7563258" y="3223880"/>
            <a:ext cx="2930013" cy="2113935"/>
          </a:xfrm>
          <a:prstGeom prst="rect">
            <a:avLst/>
          </a:prstGeom>
          <a:solidFill>
            <a:srgbClr val="00B0F0"/>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Bounding Box</a:t>
            </a:r>
          </a:p>
        </p:txBody>
      </p:sp>
      <p:sp>
        <p:nvSpPr>
          <p:cNvPr id="14" name="TextBox 13">
            <a:extLst>
              <a:ext uri="{FF2B5EF4-FFF2-40B4-BE49-F238E27FC236}">
                <a16:creationId xmlns:a16="http://schemas.microsoft.com/office/drawing/2014/main" id="{D8B5186D-EE15-B886-D505-1AB244BE6672}"/>
              </a:ext>
            </a:extLst>
          </p:cNvPr>
          <p:cNvSpPr txBox="1"/>
          <p:nvPr/>
        </p:nvSpPr>
        <p:spPr>
          <a:xfrm>
            <a:off x="6909618" y="2571110"/>
            <a:ext cx="226142" cy="307777"/>
          </a:xfrm>
          <a:prstGeom prst="rect">
            <a:avLst/>
          </a:prstGeom>
          <a:noFill/>
        </p:spPr>
        <p:txBody>
          <a:bodyPr wrap="square" rtlCol="0">
            <a:spAutoFit/>
          </a:bodyPr>
          <a:lstStyle/>
          <a:p>
            <a:pPr algn="ctr"/>
            <a:r>
              <a:rPr lang="vi-VN" sz="1400" dirty="0">
                <a:latin typeface="+mj-lt"/>
              </a:rPr>
              <a:t>y</a:t>
            </a:r>
            <a:endParaRPr lang="en-US" sz="1400" dirty="0">
              <a:latin typeface="+mj-lt"/>
            </a:endParaRPr>
          </a:p>
        </p:txBody>
      </p:sp>
      <p:sp>
        <p:nvSpPr>
          <p:cNvPr id="15" name="TextBox 14">
            <a:extLst>
              <a:ext uri="{FF2B5EF4-FFF2-40B4-BE49-F238E27FC236}">
                <a16:creationId xmlns:a16="http://schemas.microsoft.com/office/drawing/2014/main" id="{69C3ED71-62EC-4B3C-791E-4943FFDD521F}"/>
              </a:ext>
            </a:extLst>
          </p:cNvPr>
          <p:cNvSpPr txBox="1"/>
          <p:nvPr/>
        </p:nvSpPr>
        <p:spPr>
          <a:xfrm>
            <a:off x="10998930" y="5661694"/>
            <a:ext cx="226142" cy="307777"/>
          </a:xfrm>
          <a:prstGeom prst="rect">
            <a:avLst/>
          </a:prstGeom>
          <a:noFill/>
        </p:spPr>
        <p:txBody>
          <a:bodyPr wrap="square" rtlCol="0">
            <a:spAutoFit/>
          </a:bodyPr>
          <a:lstStyle/>
          <a:p>
            <a:pPr algn="ctr"/>
            <a:r>
              <a:rPr lang="vi-VN" sz="1400" dirty="0">
                <a:latin typeface="+mj-lt"/>
              </a:rPr>
              <a:t>x</a:t>
            </a:r>
            <a:endParaRPr lang="en-US" sz="1400" dirty="0">
              <a:latin typeface="+mj-lt"/>
            </a:endParaRPr>
          </a:p>
        </p:txBody>
      </p:sp>
      <p:cxnSp>
        <p:nvCxnSpPr>
          <p:cNvPr id="26" name="Straight Arrow Connector 25">
            <a:extLst>
              <a:ext uri="{FF2B5EF4-FFF2-40B4-BE49-F238E27FC236}">
                <a16:creationId xmlns:a16="http://schemas.microsoft.com/office/drawing/2014/main" id="{4AE6A40A-2E38-0485-5C35-8D4C560633E3}"/>
              </a:ext>
            </a:extLst>
          </p:cNvPr>
          <p:cNvCxnSpPr>
            <a:cxnSpLocks/>
          </p:cNvCxnSpPr>
          <p:nvPr/>
        </p:nvCxnSpPr>
        <p:spPr>
          <a:xfrm flipH="1">
            <a:off x="7255080" y="5337815"/>
            <a:ext cx="308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2DB7C31-F11F-9C20-D6D4-9C71E3A2F0AB}"/>
              </a:ext>
            </a:extLst>
          </p:cNvPr>
          <p:cNvCxnSpPr>
            <a:cxnSpLocks/>
          </p:cNvCxnSpPr>
          <p:nvPr/>
        </p:nvCxnSpPr>
        <p:spPr>
          <a:xfrm flipH="1">
            <a:off x="7255080" y="3223880"/>
            <a:ext cx="3081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4B8BEF5-2FB3-8C7B-D038-53F068879BEF}"/>
              </a:ext>
            </a:extLst>
          </p:cNvPr>
          <p:cNvCxnSpPr>
            <a:cxnSpLocks/>
          </p:cNvCxnSpPr>
          <p:nvPr/>
        </p:nvCxnSpPr>
        <p:spPr>
          <a:xfrm>
            <a:off x="7563258" y="5337815"/>
            <a:ext cx="0" cy="304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67E2305-9AB3-9E9F-0D8C-D0D7DA785CE3}"/>
              </a:ext>
            </a:extLst>
          </p:cNvPr>
          <p:cNvCxnSpPr>
            <a:cxnSpLocks/>
          </p:cNvCxnSpPr>
          <p:nvPr/>
        </p:nvCxnSpPr>
        <p:spPr>
          <a:xfrm flipH="1">
            <a:off x="10486102" y="5337815"/>
            <a:ext cx="7169" cy="304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26DD25C-470D-B591-D0C5-E28907171B41}"/>
                  </a:ext>
                </a:extLst>
              </p:cNvPr>
              <p:cNvSpPr txBox="1"/>
              <p:nvPr/>
            </p:nvSpPr>
            <p:spPr>
              <a:xfrm>
                <a:off x="6548286" y="3030171"/>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a:rPr lang="en-US" sz="1400" b="0" i="1" smtClean="0">
                              <a:latin typeface="Cambria Math" panose="02040503050406030204" pitchFamily="18" charset="0"/>
                            </a:rPr>
                            <m:t>2</m:t>
                          </m:r>
                        </m:sub>
                      </m:sSub>
                    </m:oMath>
                  </m:oMathPara>
                </a14:m>
                <a:endParaRPr lang="en-US" sz="1400" dirty="0"/>
              </a:p>
            </p:txBody>
          </p:sp>
        </mc:Choice>
        <mc:Fallback xmlns="">
          <p:sp>
            <p:nvSpPr>
              <p:cNvPr id="30" name="TextBox 29">
                <a:extLst>
                  <a:ext uri="{FF2B5EF4-FFF2-40B4-BE49-F238E27FC236}">
                    <a16:creationId xmlns:a16="http://schemas.microsoft.com/office/drawing/2014/main" id="{026DD25C-470D-B591-D0C5-E28907171B41}"/>
                  </a:ext>
                </a:extLst>
              </p:cNvPr>
              <p:cNvSpPr txBox="1">
                <a:spLocks noRot="1" noChangeAspect="1" noMove="1" noResize="1" noEditPoints="1" noAdjustHandles="1" noChangeArrowheads="1" noChangeShapeType="1" noTextEdit="1"/>
              </p:cNvSpPr>
              <p:nvPr/>
            </p:nvSpPr>
            <p:spPr>
              <a:xfrm>
                <a:off x="6548286" y="3030171"/>
                <a:ext cx="676536"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7A81BC2-6E3E-6BF6-2A8F-58CDDC366C55}"/>
                  </a:ext>
                </a:extLst>
              </p:cNvPr>
              <p:cNvSpPr txBox="1"/>
              <p:nvPr/>
            </p:nvSpPr>
            <p:spPr>
              <a:xfrm>
                <a:off x="6562852" y="5184227"/>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a:rPr lang="en-US" sz="1400" b="0" i="1" smtClean="0">
                              <a:latin typeface="Cambria Math" panose="02040503050406030204" pitchFamily="18" charset="0"/>
                            </a:rPr>
                            <m:t>1</m:t>
                          </m:r>
                        </m:sub>
                      </m:sSub>
                    </m:oMath>
                  </m:oMathPara>
                </a14:m>
                <a:endParaRPr lang="en-US" sz="1400" dirty="0"/>
              </a:p>
            </p:txBody>
          </p:sp>
        </mc:Choice>
        <mc:Fallback xmlns="">
          <p:sp>
            <p:nvSpPr>
              <p:cNvPr id="31" name="TextBox 30">
                <a:extLst>
                  <a:ext uri="{FF2B5EF4-FFF2-40B4-BE49-F238E27FC236}">
                    <a16:creationId xmlns:a16="http://schemas.microsoft.com/office/drawing/2014/main" id="{C7A81BC2-6E3E-6BF6-2A8F-58CDDC366C55}"/>
                  </a:ext>
                </a:extLst>
              </p:cNvPr>
              <p:cNvSpPr txBox="1">
                <a:spLocks noRot="1" noChangeAspect="1" noMove="1" noResize="1" noEditPoints="1" noAdjustHandles="1" noChangeArrowheads="1" noChangeShapeType="1" noTextEdit="1"/>
              </p:cNvSpPr>
              <p:nvPr/>
            </p:nvSpPr>
            <p:spPr>
              <a:xfrm>
                <a:off x="6562852" y="5184227"/>
                <a:ext cx="676536"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1235227-2A1E-364C-7AB0-BB17D509D593}"/>
                  </a:ext>
                </a:extLst>
              </p:cNvPr>
              <p:cNvSpPr txBox="1"/>
              <p:nvPr/>
            </p:nvSpPr>
            <p:spPr>
              <a:xfrm>
                <a:off x="7286026" y="5687340"/>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a:rPr lang="en-US" sz="1400" b="0" i="1" smtClean="0">
                              <a:latin typeface="Cambria Math" panose="02040503050406030204" pitchFamily="18" charset="0"/>
                            </a:rPr>
                            <m:t>1</m:t>
                          </m:r>
                        </m:sub>
                      </m:sSub>
                    </m:oMath>
                  </m:oMathPara>
                </a14:m>
                <a:endParaRPr lang="en-US" sz="1400" dirty="0"/>
              </a:p>
            </p:txBody>
          </p:sp>
        </mc:Choice>
        <mc:Fallback xmlns="">
          <p:sp>
            <p:nvSpPr>
              <p:cNvPr id="32" name="TextBox 31">
                <a:extLst>
                  <a:ext uri="{FF2B5EF4-FFF2-40B4-BE49-F238E27FC236}">
                    <a16:creationId xmlns:a16="http://schemas.microsoft.com/office/drawing/2014/main" id="{D1235227-2A1E-364C-7AB0-BB17D509D593}"/>
                  </a:ext>
                </a:extLst>
              </p:cNvPr>
              <p:cNvSpPr txBox="1">
                <a:spLocks noRot="1" noChangeAspect="1" noMove="1" noResize="1" noEditPoints="1" noAdjustHandles="1" noChangeArrowheads="1" noChangeShapeType="1" noTextEdit="1"/>
              </p:cNvSpPr>
              <p:nvPr/>
            </p:nvSpPr>
            <p:spPr>
              <a:xfrm>
                <a:off x="7286026" y="5687340"/>
                <a:ext cx="676536"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33BD442-9C45-E341-77AF-AD97FB9FA90A}"/>
                  </a:ext>
                </a:extLst>
              </p:cNvPr>
              <p:cNvSpPr txBox="1"/>
              <p:nvPr/>
            </p:nvSpPr>
            <p:spPr>
              <a:xfrm>
                <a:off x="10159926" y="5687143"/>
                <a:ext cx="676536"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a:rPr lang="en-US" sz="1400" b="0" i="1" smtClean="0">
                              <a:latin typeface="Cambria Math" panose="02040503050406030204" pitchFamily="18" charset="0"/>
                            </a:rPr>
                            <m:t>2</m:t>
                          </m:r>
                        </m:sub>
                      </m:sSub>
                    </m:oMath>
                  </m:oMathPara>
                </a14:m>
                <a:endParaRPr lang="en-US" sz="1400" dirty="0"/>
              </a:p>
            </p:txBody>
          </p:sp>
        </mc:Choice>
        <mc:Fallback xmlns="">
          <p:sp>
            <p:nvSpPr>
              <p:cNvPr id="33" name="TextBox 32">
                <a:extLst>
                  <a:ext uri="{FF2B5EF4-FFF2-40B4-BE49-F238E27FC236}">
                    <a16:creationId xmlns:a16="http://schemas.microsoft.com/office/drawing/2014/main" id="{033BD442-9C45-E341-77AF-AD97FB9FA90A}"/>
                  </a:ext>
                </a:extLst>
              </p:cNvPr>
              <p:cNvSpPr txBox="1">
                <a:spLocks noRot="1" noChangeAspect="1" noMove="1" noResize="1" noEditPoints="1" noAdjustHandles="1" noChangeArrowheads="1" noChangeShapeType="1" noTextEdit="1"/>
              </p:cNvSpPr>
              <p:nvPr/>
            </p:nvSpPr>
            <p:spPr>
              <a:xfrm>
                <a:off x="10159926" y="5687143"/>
                <a:ext cx="676536" cy="307777"/>
              </a:xfrm>
              <a:prstGeom prst="rect">
                <a:avLst/>
              </a:prstGeom>
              <a:blipFill>
                <a:blip r:embed="rId6"/>
                <a:stretch>
                  <a:fillRect/>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74A95C09-C7CE-564E-0B43-F83BB174B27C}"/>
              </a:ext>
            </a:extLst>
          </p:cNvPr>
          <p:cNvCxnSpPr/>
          <p:nvPr/>
        </p:nvCxnSpPr>
        <p:spPr>
          <a:xfrm>
            <a:off x="10697497" y="3223880"/>
            <a:ext cx="0" cy="211393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B935206-2355-3516-69CC-CC555EF62F52}"/>
              </a:ext>
            </a:extLst>
          </p:cNvPr>
          <p:cNvSpPr txBox="1"/>
          <p:nvPr/>
        </p:nvSpPr>
        <p:spPr>
          <a:xfrm>
            <a:off x="10542387" y="4198374"/>
            <a:ext cx="1139227" cy="307777"/>
          </a:xfrm>
          <a:prstGeom prst="rect">
            <a:avLst/>
          </a:prstGeom>
          <a:noFill/>
        </p:spPr>
        <p:txBody>
          <a:bodyPr wrap="square" rtlCol="0">
            <a:spAutoFit/>
          </a:bodyPr>
          <a:lstStyle/>
          <a:p>
            <a:pPr algn="ctr"/>
            <a:r>
              <a:rPr lang="en-US" sz="1400" dirty="0" err="1">
                <a:latin typeface="Times New Roman" panose="02020603050405020304" pitchFamily="18" charset="0"/>
                <a:cs typeface="Times New Roman" panose="02020603050405020304" pitchFamily="18" charset="0"/>
              </a:rPr>
              <a:t>cell_size</a:t>
            </a:r>
            <a:endParaRPr lang="en-US" sz="1400" dirty="0">
              <a:latin typeface="Times New Roman" panose="02020603050405020304" pitchFamily="18" charset="0"/>
              <a:cs typeface="Times New Roman" panose="02020603050405020304" pitchFamily="18" charset="0"/>
            </a:endParaRPr>
          </a:p>
        </p:txBody>
      </p:sp>
      <p:cxnSp>
        <p:nvCxnSpPr>
          <p:cNvPr id="42" name="Straight Arrow Connector 41">
            <a:extLst>
              <a:ext uri="{FF2B5EF4-FFF2-40B4-BE49-F238E27FC236}">
                <a16:creationId xmlns:a16="http://schemas.microsoft.com/office/drawing/2014/main" id="{73280D81-D874-7056-5113-5D9751581C6F}"/>
              </a:ext>
            </a:extLst>
          </p:cNvPr>
          <p:cNvCxnSpPr>
            <a:cxnSpLocks/>
          </p:cNvCxnSpPr>
          <p:nvPr/>
        </p:nvCxnSpPr>
        <p:spPr>
          <a:xfrm>
            <a:off x="7563258" y="3030171"/>
            <a:ext cx="29228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F74A18A-7E2F-5CE9-1FC6-B18525322BD7}"/>
              </a:ext>
            </a:extLst>
          </p:cNvPr>
          <p:cNvSpPr txBox="1"/>
          <p:nvPr/>
        </p:nvSpPr>
        <p:spPr>
          <a:xfrm>
            <a:off x="8407239" y="2625540"/>
            <a:ext cx="1139227" cy="307777"/>
          </a:xfrm>
          <a:prstGeom prst="rect">
            <a:avLst/>
          </a:prstGeom>
          <a:noFill/>
        </p:spPr>
        <p:txBody>
          <a:bodyPr wrap="square" rtlCol="0">
            <a:spAutoFit/>
          </a:bodyPr>
          <a:lstStyle/>
          <a:p>
            <a:pPr algn="ctr"/>
            <a:r>
              <a:rPr lang="en-US" sz="1400" dirty="0" err="1">
                <a:latin typeface="Times New Roman" panose="02020603050405020304" pitchFamily="18" charset="0"/>
                <a:cs typeface="Times New Roman" panose="02020603050405020304" pitchFamily="18" charset="0"/>
              </a:rPr>
              <a:t>cell_size</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23313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95094-60A8-E9FF-FE29-AC602BD1FBA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B9A432-5D5C-B1FF-63DE-2BE7CB47560C}"/>
              </a:ext>
            </a:extLst>
          </p:cNvPr>
          <p:cNvSpPr>
            <a:spLocks noGrp="1"/>
          </p:cNvSpPr>
          <p:nvPr>
            <p:ph type="sldNum" sz="quarter" idx="12"/>
          </p:nvPr>
        </p:nvSpPr>
        <p:spPr/>
        <p:txBody>
          <a:bodyPr/>
          <a:lstStyle/>
          <a:p>
            <a:fld id="{9B618960-8005-486C-9A75-10CB2AAC16F9}" type="slidenum">
              <a:rPr lang="en-US" smtClean="0"/>
              <a:t>43</a:t>
            </a:fld>
            <a:endParaRPr lang="en-US" dirty="0"/>
          </a:p>
        </p:txBody>
      </p:sp>
      <p:sp>
        <p:nvSpPr>
          <p:cNvPr id="5" name="TextBox 3">
            <a:extLst>
              <a:ext uri="{FF2B5EF4-FFF2-40B4-BE49-F238E27FC236}">
                <a16:creationId xmlns:a16="http://schemas.microsoft.com/office/drawing/2014/main" id="{A9586DA4-A72F-9BC9-C2CD-98852B177318}"/>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D0F23A6C-5119-39DF-5656-041A8BE811F4}"/>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70A23ED3-650B-823B-039D-A15BA49D823C}"/>
                  </a:ext>
                </a:extLst>
              </p:cNvPr>
              <p:cNvSpPr txBox="1"/>
              <p:nvPr/>
            </p:nvSpPr>
            <p:spPr>
              <a:xfrm>
                <a:off x="1079999" y="2097332"/>
                <a:ext cx="5016001" cy="3541226"/>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mj-lt"/>
                  </a:rPr>
                  <a:t>Cách xác định biên tọa độ của một ô lưới cụ thể</a:t>
                </a:r>
              </a:p>
              <a:p>
                <a:pPr algn="just">
                  <a:lnSpc>
                    <a:spcPct val="114000"/>
                  </a:lnSpc>
                </a:pPr>
                <a:r>
                  <a:rPr lang="vi-VN" dirty="0">
                    <a:latin typeface="Times New Roman" panose="02020603050405020304" pitchFamily="18" charset="0"/>
                    <a:cs typeface="Times New Roman" panose="02020603050405020304" pitchFamily="18" charset="0"/>
                  </a:rPr>
                  <a:t>Công thức tính:</a:t>
                </a:r>
              </a:p>
              <a:p>
                <a:pPr algn="just">
                  <a:lnSpc>
                    <a:spcPct val="114000"/>
                  </a:lnSpc>
                </a:pPr>
                <a:r>
                  <a:rPr lang="vi-VN" dirty="0">
                    <a:latin typeface="Times New Roman" panose="02020603050405020304" pitchFamily="18" charset="0"/>
                    <a:cs typeface="Times New Roman" panose="02020603050405020304" pitchFamily="18" charset="0"/>
                  </a:rPr>
                  <a:t>Từ tọa độ lưới nguyên (cx, cy) của ô, thuật toán tính toán 4 biên thực tế như sau:</a:t>
                </a:r>
              </a:p>
              <a:p>
                <a:pPr algn="just">
                  <a:lnSpc>
                    <a:spcPct val="114000"/>
                  </a:lnSpc>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1</m:t>
                          </m:r>
                        </m:sub>
                      </m:sSub>
                      <m:r>
                        <a:rPr lang="vi-VN" b="0" i="1" smtClean="0">
                          <a:latin typeface="Cambria Math" panose="02040503050406030204" pitchFamily="18" charset="0"/>
                          <a:cs typeface="Times New Roman" panose="02020603050405020304" pitchFamily="18" charset="0"/>
                        </a:rPr>
                        <m:t>=</m:t>
                      </m:r>
                      <m:sSub>
                        <m:sSubPr>
                          <m:ctrlPr>
                            <a:rPr lang="vi-VN" b="0"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m:rPr>
                              <m:sty m:val="p"/>
                            </m:rPr>
                            <a:rPr lang="vi-VN" i="1">
                              <a:latin typeface="Cambria Math" panose="02040503050406030204" pitchFamily="18" charset="0"/>
                              <a:cs typeface="Times New Roman" panose="02020603050405020304" pitchFamily="18" charset="0"/>
                            </a:rPr>
                            <m:t>min</m:t>
                          </m:r>
                        </m:sub>
                      </m:sSub>
                      <m:r>
                        <a:rPr lang="vi-VN" b="0" i="1" smtClean="0">
                          <a:latin typeface="Cambria Math" panose="02040503050406030204" pitchFamily="18" charset="0"/>
                          <a:cs typeface="Times New Roman" panose="02020603050405020304" pitchFamily="18" charset="0"/>
                        </a:rPr>
                        <m:t>+</m:t>
                      </m:r>
                      <m:r>
                        <m:rPr>
                          <m:sty m:val="p"/>
                        </m:rPr>
                        <a:rPr lang="vi-VN" i="1">
                          <a:latin typeface="Cambria Math" panose="02040503050406030204" pitchFamily="18" charset="0"/>
                          <a:cs typeface="Times New Roman" panose="02020603050405020304" pitchFamily="18" charset="0"/>
                        </a:rPr>
                        <m:t>cx</m:t>
                      </m:r>
                      <m:r>
                        <a:rPr lang="vi-VN" dirty="0">
                          <a:latin typeface="Cambria Math" panose="02040503050406030204" pitchFamily="18" charset="0"/>
                          <a:ea typeface="Cambria Math" panose="02040503050406030204" pitchFamily="18" charset="0"/>
                          <a:cs typeface="Times New Roman" panose="02020603050405020304" pitchFamily="18" charset="0"/>
                        </a:rPr>
                        <m:t>∗</m:t>
                      </m:r>
                      <m:r>
                        <m:rPr>
                          <m:sty m:val="p"/>
                        </m:rPr>
                        <a:rPr lang="vi-VN" i="1" dirty="0" smtClean="0">
                          <a:latin typeface="Cambria Math" panose="02040503050406030204" pitchFamily="18" charset="0"/>
                          <a:ea typeface="Cambria Math" panose="02040503050406030204" pitchFamily="18" charset="0"/>
                          <a:cs typeface="Times New Roman" panose="02020603050405020304" pitchFamily="18" charset="0"/>
                        </a:rPr>
                        <m:t>cell</m:t>
                      </m:r>
                      <m:r>
                        <a:rPr lang="vi-VN" b="0" i="1" dirty="0" smtClean="0">
                          <a:latin typeface="Cambria Math" panose="02040503050406030204" pitchFamily="18" charset="0"/>
                          <a:ea typeface="Cambria Math" panose="02040503050406030204" pitchFamily="18" charset="0"/>
                          <a:cs typeface="Times New Roman" panose="02020603050405020304" pitchFamily="18" charset="0"/>
                        </a:rPr>
                        <m:t>_</m:t>
                      </m:r>
                      <m:r>
                        <m:rPr>
                          <m:sty m:val="p"/>
                        </m:rPr>
                        <a:rPr lang="vi-VN" i="1" dirty="0" smtClean="0">
                          <a:latin typeface="Cambria Math" panose="02040503050406030204" pitchFamily="18" charset="0"/>
                          <a:ea typeface="Cambria Math" panose="02040503050406030204" pitchFamily="18" charset="0"/>
                          <a:cs typeface="Times New Roman" panose="02020603050405020304" pitchFamily="18" charset="0"/>
                        </a:rPr>
                        <m:t>size</m:t>
                      </m:r>
                    </m:oMath>
                  </m:oMathPara>
                </a14:m>
                <a:endParaRPr lang="vi-VN" dirty="0">
                  <a:latin typeface="Times New Roman" panose="02020603050405020304" pitchFamily="18" charset="0"/>
                  <a:cs typeface="Times New Roman" panose="02020603050405020304" pitchFamily="18" charset="0"/>
                </a:endParaRPr>
              </a:p>
              <a:p>
                <a:pPr algn="just">
                  <a:lnSpc>
                    <a:spcPct val="114000"/>
                  </a:lnSpc>
                </a:pPr>
                <a14:m>
                  <m:oMathPara xmlns:m="http://schemas.openxmlformats.org/officeDocument/2006/math">
                    <m:oMathParaPr>
                      <m:jc m:val="centerGroup"/>
                    </m:oMathParaPr>
                    <m:oMath xmlns:m="http://schemas.openxmlformats.org/officeDocument/2006/math">
                      <m:sSub>
                        <m:sSubPr>
                          <m:ctrlPr>
                            <a:rPr lang="vi-VN" i="1">
                              <a:latin typeface="Cambria Math" panose="02040503050406030204" pitchFamily="18" charset="0"/>
                              <a:cs typeface="Times New Roman" panose="02020603050405020304" pitchFamily="18" charset="0"/>
                            </a:rPr>
                          </m:ctrlPr>
                        </m:sSubPr>
                        <m:e>
                          <m:r>
                            <m:rPr>
                              <m:sty m:val="p"/>
                            </m:rPr>
                            <a:rPr lang="vi-VN" i="1" smtClean="0">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1</m:t>
                          </m:r>
                        </m:sub>
                      </m:sSub>
                      <m:r>
                        <a:rPr lang="vi-VN" i="1">
                          <a:latin typeface="Cambria Math" panose="02040503050406030204" pitchFamily="18" charset="0"/>
                          <a:cs typeface="Times New Roman" panose="02020603050405020304" pitchFamily="18" charset="0"/>
                        </a:rPr>
                        <m:t>=</m:t>
                      </m:r>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y</m:t>
                          </m:r>
                        </m:e>
                        <m:sub>
                          <m:r>
                            <m:rPr>
                              <m:sty m:val="p"/>
                            </m:rPr>
                            <a:rPr lang="vi-VN" i="1">
                              <a:latin typeface="Cambria Math" panose="02040503050406030204" pitchFamily="18" charset="0"/>
                              <a:cs typeface="Times New Roman" panose="02020603050405020304" pitchFamily="18" charset="0"/>
                            </a:rPr>
                            <m:t>min</m:t>
                          </m:r>
                        </m:sub>
                      </m:sSub>
                      <m:r>
                        <a:rPr lang="vi-VN" i="1">
                          <a:latin typeface="Cambria Math" panose="02040503050406030204" pitchFamily="18" charset="0"/>
                          <a:cs typeface="Times New Roman" panose="02020603050405020304" pitchFamily="18" charset="0"/>
                        </a:rPr>
                        <m:t>+</m:t>
                      </m:r>
                      <m:r>
                        <m:rPr>
                          <m:sty m:val="p"/>
                        </m:rPr>
                        <a:rPr lang="vi-VN" i="1" smtClean="0">
                          <a:latin typeface="Cambria Math" panose="02040503050406030204" pitchFamily="18" charset="0"/>
                          <a:cs typeface="Times New Roman" panose="02020603050405020304" pitchFamily="18" charset="0"/>
                        </a:rPr>
                        <m:t>cy</m:t>
                      </m:r>
                      <m:r>
                        <a:rPr lang="vi-VN" dirty="0">
                          <a:latin typeface="Cambria Math" panose="02040503050406030204" pitchFamily="18" charset="0"/>
                          <a:ea typeface="Cambria Math" panose="02040503050406030204" pitchFamily="18" charset="0"/>
                          <a:cs typeface="Times New Roman" panose="02020603050405020304" pitchFamily="18" charset="0"/>
                        </a:rPr>
                        <m:t>∗</m:t>
                      </m:r>
                      <m:r>
                        <m:rPr>
                          <m:sty m:val="p"/>
                        </m:rPr>
                        <a:rPr lang="vi-VN" i="1" dirty="0">
                          <a:latin typeface="Cambria Math" panose="02040503050406030204" pitchFamily="18" charset="0"/>
                          <a:ea typeface="Cambria Math" panose="02040503050406030204" pitchFamily="18" charset="0"/>
                          <a:cs typeface="Times New Roman" panose="02020603050405020304" pitchFamily="18" charset="0"/>
                        </a:rPr>
                        <m:t>cell</m:t>
                      </m:r>
                      <m:r>
                        <a:rPr lang="vi-VN" i="1" dirty="0">
                          <a:latin typeface="Cambria Math" panose="02040503050406030204" pitchFamily="18" charset="0"/>
                          <a:ea typeface="Cambria Math" panose="02040503050406030204" pitchFamily="18" charset="0"/>
                          <a:cs typeface="Times New Roman" panose="02020603050405020304" pitchFamily="18" charset="0"/>
                        </a:rPr>
                        <m:t>_</m:t>
                      </m:r>
                      <m:r>
                        <m:rPr>
                          <m:sty m:val="p"/>
                        </m:rPr>
                        <a:rPr lang="vi-VN" i="1" dirty="0">
                          <a:latin typeface="Cambria Math" panose="02040503050406030204" pitchFamily="18" charset="0"/>
                          <a:ea typeface="Cambria Math" panose="02040503050406030204" pitchFamily="18" charset="0"/>
                          <a:cs typeface="Times New Roman" panose="02020603050405020304" pitchFamily="18" charset="0"/>
                        </a:rPr>
                        <m:t>size</m:t>
                      </m:r>
                    </m:oMath>
                  </m:oMathPara>
                </a14:m>
                <a:endParaRPr lang="vi-VN" dirty="0">
                  <a:latin typeface="Times New Roman" panose="02020603050405020304" pitchFamily="18" charset="0"/>
                  <a:cs typeface="Times New Roman" panose="02020603050405020304" pitchFamily="18" charset="0"/>
                </a:endParaRPr>
              </a:p>
              <a:p>
                <a:pPr algn="just">
                  <a:lnSpc>
                    <a:spcPct val="114000"/>
                  </a:lnSpc>
                </a:pPr>
                <a14:m>
                  <m:oMathPara xmlns:m="http://schemas.openxmlformats.org/officeDocument/2006/math">
                    <m:oMathParaPr>
                      <m:jc m:val="centerGroup"/>
                    </m:oMathParaPr>
                    <m:oMath xmlns:m="http://schemas.openxmlformats.org/officeDocument/2006/math">
                      <m:sSub>
                        <m:sSubPr>
                          <m:ctrlPr>
                            <a:rPr lang="vi-VN" i="1">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2</m:t>
                          </m:r>
                        </m:sub>
                      </m:sSub>
                      <m:r>
                        <a:rPr lang="vi-VN" i="1">
                          <a:latin typeface="Cambria Math" panose="02040503050406030204" pitchFamily="18" charset="0"/>
                          <a:cs typeface="Times New Roman" panose="02020603050405020304" pitchFamily="18" charset="0"/>
                        </a:rPr>
                        <m:t>=</m:t>
                      </m:r>
                      <m:sSub>
                        <m:sSubPr>
                          <m:ctrlPr>
                            <a:rPr lang="vi-VN" i="1">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1</m:t>
                          </m:r>
                        </m:sub>
                      </m:sSub>
                      <m:r>
                        <a:rPr lang="vi-VN" i="1">
                          <a:latin typeface="Cambria Math" panose="02040503050406030204" pitchFamily="18" charset="0"/>
                          <a:cs typeface="Times New Roman" panose="02020603050405020304" pitchFamily="18" charset="0"/>
                        </a:rPr>
                        <m:t>+</m:t>
                      </m:r>
                      <m:r>
                        <m:rPr>
                          <m:sty m:val="p"/>
                        </m:rPr>
                        <a:rPr lang="vi-VN" i="1" dirty="0">
                          <a:latin typeface="Cambria Math" panose="02040503050406030204" pitchFamily="18" charset="0"/>
                          <a:ea typeface="Cambria Math" panose="02040503050406030204" pitchFamily="18" charset="0"/>
                          <a:cs typeface="Times New Roman" panose="02020603050405020304" pitchFamily="18" charset="0"/>
                        </a:rPr>
                        <m:t>cell</m:t>
                      </m:r>
                      <m:r>
                        <a:rPr lang="vi-VN" i="1" dirty="0">
                          <a:latin typeface="Cambria Math" panose="02040503050406030204" pitchFamily="18" charset="0"/>
                          <a:ea typeface="Cambria Math" panose="02040503050406030204" pitchFamily="18" charset="0"/>
                          <a:cs typeface="Times New Roman" panose="02020603050405020304" pitchFamily="18" charset="0"/>
                        </a:rPr>
                        <m:t>_</m:t>
                      </m:r>
                      <m:r>
                        <m:rPr>
                          <m:sty m:val="p"/>
                        </m:rPr>
                        <a:rPr lang="vi-VN" i="1" dirty="0">
                          <a:latin typeface="Cambria Math" panose="02040503050406030204" pitchFamily="18" charset="0"/>
                          <a:ea typeface="Cambria Math" panose="02040503050406030204" pitchFamily="18" charset="0"/>
                          <a:cs typeface="Times New Roman" panose="02020603050405020304" pitchFamily="18" charset="0"/>
                        </a:rPr>
                        <m:t>size</m:t>
                      </m:r>
                    </m:oMath>
                  </m:oMathPara>
                </a14:m>
                <a:endParaRPr lang="vi-VN" dirty="0">
                  <a:latin typeface="Times New Roman" panose="02020603050405020304" pitchFamily="18" charset="0"/>
                  <a:cs typeface="Times New Roman" panose="02020603050405020304" pitchFamily="18" charset="0"/>
                </a:endParaRPr>
              </a:p>
              <a:p>
                <a:pPr algn="just">
                  <a:lnSpc>
                    <a:spcPct val="114000"/>
                  </a:lnSpc>
                </a:pPr>
                <a14:m>
                  <m:oMathPara xmlns:m="http://schemas.openxmlformats.org/officeDocument/2006/math">
                    <m:oMathParaPr>
                      <m:jc m:val="centerGroup"/>
                    </m:oMathParaPr>
                    <m:oMath xmlns:m="http://schemas.openxmlformats.org/officeDocument/2006/math">
                      <m:sSub>
                        <m:sSubPr>
                          <m:ctrlPr>
                            <a:rPr lang="vi-VN" i="1">
                              <a:latin typeface="Cambria Math" panose="02040503050406030204" pitchFamily="18" charset="0"/>
                              <a:cs typeface="Times New Roman" panose="02020603050405020304" pitchFamily="18" charset="0"/>
                            </a:rPr>
                          </m:ctrlPr>
                        </m:sSubPr>
                        <m:e>
                          <m:r>
                            <m:rPr>
                              <m:sty m:val="p"/>
                            </m:rPr>
                            <a:rPr lang="vi-VN" i="1" smtClean="0">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2</m:t>
                          </m:r>
                        </m:sub>
                      </m:sSub>
                      <m:r>
                        <a:rPr lang="vi-VN" i="1">
                          <a:latin typeface="Cambria Math" panose="02040503050406030204" pitchFamily="18" charset="0"/>
                          <a:cs typeface="Times New Roman" panose="02020603050405020304" pitchFamily="18" charset="0"/>
                        </a:rPr>
                        <m:t>=</m:t>
                      </m:r>
                      <m:sSub>
                        <m:sSubPr>
                          <m:ctrlPr>
                            <a:rPr lang="vi-VN" i="1">
                              <a:latin typeface="Cambria Math" panose="02040503050406030204" pitchFamily="18" charset="0"/>
                              <a:cs typeface="Times New Roman" panose="02020603050405020304" pitchFamily="18" charset="0"/>
                            </a:rPr>
                          </m:ctrlPr>
                        </m:sSubPr>
                        <m:e>
                          <m:r>
                            <m:rPr>
                              <m:sty m:val="p"/>
                            </m:rPr>
                            <a:rPr lang="vi-VN" i="1" smtClean="0">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1</m:t>
                          </m:r>
                        </m:sub>
                      </m:sSub>
                      <m:r>
                        <a:rPr lang="vi-VN" i="1">
                          <a:latin typeface="Cambria Math" panose="02040503050406030204" pitchFamily="18" charset="0"/>
                          <a:cs typeface="Times New Roman" panose="02020603050405020304" pitchFamily="18" charset="0"/>
                        </a:rPr>
                        <m:t>+</m:t>
                      </m:r>
                      <m:r>
                        <m:rPr>
                          <m:sty m:val="p"/>
                        </m:rPr>
                        <a:rPr lang="vi-VN" i="1" dirty="0">
                          <a:latin typeface="Cambria Math" panose="02040503050406030204" pitchFamily="18" charset="0"/>
                          <a:ea typeface="Cambria Math" panose="02040503050406030204" pitchFamily="18" charset="0"/>
                          <a:cs typeface="Times New Roman" panose="02020603050405020304" pitchFamily="18" charset="0"/>
                        </a:rPr>
                        <m:t>cell</m:t>
                      </m:r>
                      <m:r>
                        <a:rPr lang="vi-VN" i="1" dirty="0">
                          <a:latin typeface="Cambria Math" panose="02040503050406030204" pitchFamily="18" charset="0"/>
                          <a:ea typeface="Cambria Math" panose="02040503050406030204" pitchFamily="18" charset="0"/>
                          <a:cs typeface="Times New Roman" panose="02020603050405020304" pitchFamily="18" charset="0"/>
                        </a:rPr>
                        <m:t>_</m:t>
                      </m:r>
                      <m:r>
                        <m:rPr>
                          <m:sty m:val="p"/>
                        </m:rPr>
                        <a:rPr lang="vi-VN" i="1" dirty="0">
                          <a:latin typeface="Cambria Math" panose="02040503050406030204" pitchFamily="18" charset="0"/>
                          <a:ea typeface="Cambria Math" panose="02040503050406030204" pitchFamily="18" charset="0"/>
                          <a:cs typeface="Times New Roman" panose="02020603050405020304" pitchFamily="18" charset="0"/>
                        </a:rPr>
                        <m:t>size</m:t>
                      </m:r>
                    </m:oMath>
                  </m:oMathPara>
                </a14:m>
                <a:endParaRPr lang="vi-VN" dirty="0">
                  <a:latin typeface="Times New Roman" panose="02020603050405020304" pitchFamily="18" charset="0"/>
                  <a:cs typeface="Times New Roman" panose="02020603050405020304" pitchFamily="18" charset="0"/>
                </a:endParaRPr>
              </a:p>
              <a:p>
                <a:pPr algn="just">
                  <a:lnSpc>
                    <a:spcPct val="114000"/>
                  </a:lnSpc>
                </a:pPr>
                <a:r>
                  <a:rPr lang="vi-VN" dirty="0">
                    <a:latin typeface="Times New Roman" panose="02020603050405020304" pitchFamily="18" charset="0"/>
                    <a:cs typeface="Times New Roman" panose="02020603050405020304" pitchFamily="18" charset="0"/>
                  </a:rPr>
                  <a:t>Trong đó:</a:t>
                </a: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cx là chỉ số cột của ô lưới đó</a:t>
                </a: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cy là chỉ số hàng của ô lưới đó</a:t>
                </a:r>
              </a:p>
            </p:txBody>
          </p:sp>
        </mc:Choice>
        <mc:Fallback xmlns="">
          <p:sp>
            <p:nvSpPr>
              <p:cNvPr id="3" name="TextBox 5">
                <a:extLst>
                  <a:ext uri="{FF2B5EF4-FFF2-40B4-BE49-F238E27FC236}">
                    <a16:creationId xmlns:a16="http://schemas.microsoft.com/office/drawing/2014/main" id="{70A23ED3-650B-823B-039D-A15BA49D823C}"/>
                  </a:ext>
                </a:extLst>
              </p:cNvPr>
              <p:cNvSpPr txBox="1">
                <a:spLocks noRot="1" noChangeAspect="1" noMove="1" noResize="1" noEditPoints="1" noAdjustHandles="1" noChangeArrowheads="1" noChangeShapeType="1" noTextEdit="1"/>
              </p:cNvSpPr>
              <p:nvPr/>
            </p:nvSpPr>
            <p:spPr>
              <a:xfrm>
                <a:off x="1079999" y="2097332"/>
                <a:ext cx="5016001" cy="3541226"/>
              </a:xfrm>
              <a:prstGeom prst="rect">
                <a:avLst/>
              </a:prstGeom>
              <a:blipFill>
                <a:blip r:embed="rId2"/>
                <a:stretch>
                  <a:fillRect l="-972" t="-516" r="-1094" b="-1893"/>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3E466BAD-3695-4675-5CAD-3D82B8F8279A}"/>
              </a:ext>
            </a:extLst>
          </p:cNvPr>
          <p:cNvGrpSpPr/>
          <p:nvPr/>
        </p:nvGrpSpPr>
        <p:grpSpPr>
          <a:xfrm>
            <a:off x="8199418" y="2680913"/>
            <a:ext cx="2327564" cy="1584798"/>
            <a:chOff x="7887854" y="2612096"/>
            <a:chExt cx="2327564" cy="1584798"/>
          </a:xfrm>
        </p:grpSpPr>
        <p:sp>
          <p:nvSpPr>
            <p:cNvPr id="7" name="Rectangle 6">
              <a:extLst>
                <a:ext uri="{FF2B5EF4-FFF2-40B4-BE49-F238E27FC236}">
                  <a16:creationId xmlns:a16="http://schemas.microsoft.com/office/drawing/2014/main" id="{BBEDE514-74D8-3594-C8E3-D49E9D859C29}"/>
                </a:ext>
              </a:extLst>
            </p:cNvPr>
            <p:cNvSpPr/>
            <p:nvPr/>
          </p:nvSpPr>
          <p:spPr>
            <a:xfrm>
              <a:off x="7887854" y="261209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2)</a:t>
              </a:r>
              <a:endParaRPr lang="en-US" dirty="0">
                <a:latin typeface="+mj-lt"/>
              </a:endParaRPr>
            </a:p>
          </p:txBody>
        </p:sp>
        <p:sp>
          <p:nvSpPr>
            <p:cNvPr id="8" name="Rectangle 7">
              <a:extLst>
                <a:ext uri="{FF2B5EF4-FFF2-40B4-BE49-F238E27FC236}">
                  <a16:creationId xmlns:a16="http://schemas.microsoft.com/office/drawing/2014/main" id="{3B76A8BE-3072-3DCA-57E7-682731C58FFA}"/>
                </a:ext>
              </a:extLst>
            </p:cNvPr>
            <p:cNvSpPr/>
            <p:nvPr/>
          </p:nvSpPr>
          <p:spPr>
            <a:xfrm>
              <a:off x="7887854" y="3140364"/>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1)</a:t>
              </a:r>
              <a:endParaRPr lang="en-US" dirty="0">
                <a:latin typeface="+mj-lt"/>
              </a:endParaRPr>
            </a:p>
          </p:txBody>
        </p:sp>
        <p:sp>
          <p:nvSpPr>
            <p:cNvPr id="9" name="Rectangle 8">
              <a:extLst>
                <a:ext uri="{FF2B5EF4-FFF2-40B4-BE49-F238E27FC236}">
                  <a16:creationId xmlns:a16="http://schemas.microsoft.com/office/drawing/2014/main" id="{B80365C6-651F-A596-7DAE-AF33CFFF0EF1}"/>
                </a:ext>
              </a:extLst>
            </p:cNvPr>
            <p:cNvSpPr/>
            <p:nvPr/>
          </p:nvSpPr>
          <p:spPr>
            <a:xfrm>
              <a:off x="7887854" y="366862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0)</a:t>
              </a:r>
              <a:endParaRPr lang="en-US" dirty="0">
                <a:latin typeface="+mj-lt"/>
              </a:endParaRPr>
            </a:p>
          </p:txBody>
        </p:sp>
        <p:sp>
          <p:nvSpPr>
            <p:cNvPr id="10" name="Rectangle 9">
              <a:extLst>
                <a:ext uri="{FF2B5EF4-FFF2-40B4-BE49-F238E27FC236}">
                  <a16:creationId xmlns:a16="http://schemas.microsoft.com/office/drawing/2014/main" id="{B97C2463-7F75-531D-C7FD-38BF33C1B938}"/>
                </a:ext>
              </a:extLst>
            </p:cNvPr>
            <p:cNvSpPr/>
            <p:nvPr/>
          </p:nvSpPr>
          <p:spPr>
            <a:xfrm>
              <a:off x="9051636" y="3668628"/>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0)</a:t>
              </a:r>
              <a:endParaRPr lang="en-US" dirty="0">
                <a:latin typeface="+mj-lt"/>
              </a:endParaRPr>
            </a:p>
          </p:txBody>
        </p:sp>
        <p:sp>
          <p:nvSpPr>
            <p:cNvPr id="16" name="Rectangle 15">
              <a:extLst>
                <a:ext uri="{FF2B5EF4-FFF2-40B4-BE49-F238E27FC236}">
                  <a16:creationId xmlns:a16="http://schemas.microsoft.com/office/drawing/2014/main" id="{CDC507FD-400E-EF40-2E2A-E511DF4EADBC}"/>
                </a:ext>
              </a:extLst>
            </p:cNvPr>
            <p:cNvSpPr/>
            <p:nvPr/>
          </p:nvSpPr>
          <p:spPr>
            <a:xfrm>
              <a:off x="9051636" y="3140362"/>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1)</a:t>
              </a:r>
              <a:endParaRPr lang="en-US" dirty="0">
                <a:latin typeface="+mj-lt"/>
              </a:endParaRPr>
            </a:p>
          </p:txBody>
        </p:sp>
        <p:sp>
          <p:nvSpPr>
            <p:cNvPr id="17" name="Rectangle 16">
              <a:extLst>
                <a:ext uri="{FF2B5EF4-FFF2-40B4-BE49-F238E27FC236}">
                  <a16:creationId xmlns:a16="http://schemas.microsoft.com/office/drawing/2014/main" id="{FFD05612-05FC-25CD-4FE0-2CAF1EE89E32}"/>
                </a:ext>
              </a:extLst>
            </p:cNvPr>
            <p:cNvSpPr/>
            <p:nvPr/>
          </p:nvSpPr>
          <p:spPr>
            <a:xfrm>
              <a:off x="9051636" y="2612096"/>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2)</a:t>
              </a:r>
              <a:endParaRPr lang="en-US" dirty="0">
                <a:latin typeface="+mj-lt"/>
              </a:endParaRPr>
            </a:p>
          </p:txBody>
        </p:sp>
      </p:grpSp>
      <p:cxnSp>
        <p:nvCxnSpPr>
          <p:cNvPr id="18" name="Straight Arrow Connector 17">
            <a:extLst>
              <a:ext uri="{FF2B5EF4-FFF2-40B4-BE49-F238E27FC236}">
                <a16:creationId xmlns:a16="http://schemas.microsoft.com/office/drawing/2014/main" id="{D9346203-1DDA-9F73-4633-22462D97DFA3}"/>
              </a:ext>
            </a:extLst>
          </p:cNvPr>
          <p:cNvCxnSpPr>
            <a:cxnSpLocks/>
          </p:cNvCxnSpPr>
          <p:nvPr/>
        </p:nvCxnSpPr>
        <p:spPr>
          <a:xfrm flipH="1" flipV="1">
            <a:off x="7561006" y="4265709"/>
            <a:ext cx="6384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26E9A9F-866E-0A39-3B59-7AA8AEB764DA}"/>
                  </a:ext>
                </a:extLst>
              </p:cNvPr>
              <p:cNvSpPr txBox="1"/>
              <p:nvPr/>
            </p:nvSpPr>
            <p:spPr>
              <a:xfrm>
                <a:off x="6803923" y="4159045"/>
                <a:ext cx="4424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oMath>
                  </m:oMathPara>
                </a14:m>
                <a:endParaRPr lang="en-US" dirty="0"/>
              </a:p>
            </p:txBody>
          </p:sp>
        </mc:Choice>
        <mc:Fallback xmlns="">
          <p:sp>
            <p:nvSpPr>
              <p:cNvPr id="19" name="TextBox 18">
                <a:extLst>
                  <a:ext uri="{FF2B5EF4-FFF2-40B4-BE49-F238E27FC236}">
                    <a16:creationId xmlns:a16="http://schemas.microsoft.com/office/drawing/2014/main" id="{D26E9A9F-866E-0A39-3B59-7AA8AEB764DA}"/>
                  </a:ext>
                </a:extLst>
              </p:cNvPr>
              <p:cNvSpPr txBox="1">
                <a:spLocks noRot="1" noChangeAspect="1" noMove="1" noResize="1" noEditPoints="1" noAdjustHandles="1" noChangeArrowheads="1" noChangeShapeType="1" noTextEdit="1"/>
              </p:cNvSpPr>
              <p:nvPr/>
            </p:nvSpPr>
            <p:spPr>
              <a:xfrm>
                <a:off x="6803923" y="4159045"/>
                <a:ext cx="442451" cy="369332"/>
              </a:xfrm>
              <a:prstGeom prst="rect">
                <a:avLst/>
              </a:prstGeom>
              <a:blipFill>
                <a:blip r:embed="rId4"/>
                <a:stretch>
                  <a:fillRect r="-30137"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31559A3-C93C-7C08-67C7-489924DE372E}"/>
                  </a:ext>
                </a:extLst>
              </p:cNvPr>
              <p:cNvSpPr txBox="1"/>
              <p:nvPr/>
            </p:nvSpPr>
            <p:spPr>
              <a:xfrm>
                <a:off x="7561006" y="4749868"/>
                <a:ext cx="44245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oMath>
                  </m:oMathPara>
                </a14:m>
                <a:endParaRPr lang="en-US" dirty="0"/>
              </a:p>
            </p:txBody>
          </p:sp>
        </mc:Choice>
        <mc:Fallback xmlns="">
          <p:sp>
            <p:nvSpPr>
              <p:cNvPr id="20" name="TextBox 19">
                <a:extLst>
                  <a:ext uri="{FF2B5EF4-FFF2-40B4-BE49-F238E27FC236}">
                    <a16:creationId xmlns:a16="http://schemas.microsoft.com/office/drawing/2014/main" id="{B31559A3-C93C-7C08-67C7-489924DE372E}"/>
                  </a:ext>
                </a:extLst>
              </p:cNvPr>
              <p:cNvSpPr txBox="1">
                <a:spLocks noRot="1" noChangeAspect="1" noMove="1" noResize="1" noEditPoints="1" noAdjustHandles="1" noChangeArrowheads="1" noChangeShapeType="1" noTextEdit="1"/>
              </p:cNvSpPr>
              <p:nvPr/>
            </p:nvSpPr>
            <p:spPr>
              <a:xfrm>
                <a:off x="7561006" y="4749868"/>
                <a:ext cx="442451" cy="369332"/>
              </a:xfrm>
              <a:prstGeom prst="rect">
                <a:avLst/>
              </a:prstGeom>
              <a:blipFill>
                <a:blip r:embed="rId5"/>
                <a:stretch>
                  <a:fillRect r="-30137"/>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305777CB-FF10-2337-1AD2-CCD17F24D932}"/>
              </a:ext>
            </a:extLst>
          </p:cNvPr>
          <p:cNvCxnSpPr>
            <a:cxnSpLocks/>
          </p:cNvCxnSpPr>
          <p:nvPr/>
        </p:nvCxnSpPr>
        <p:spPr>
          <a:xfrm>
            <a:off x="8199418" y="4265706"/>
            <a:ext cx="0" cy="668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55525B1-A173-24A1-9EF1-57D6C05CEB3F}"/>
              </a:ext>
            </a:extLst>
          </p:cNvPr>
          <p:cNvCxnSpPr>
            <a:cxnSpLocks/>
            <a:stCxn id="17" idx="0"/>
          </p:cNvCxnSpPr>
          <p:nvPr/>
        </p:nvCxnSpPr>
        <p:spPr>
          <a:xfrm flipH="1" flipV="1">
            <a:off x="9363200" y="2182761"/>
            <a:ext cx="581891" cy="49815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705E1A50-FF88-65F2-4593-AC3B48822157}"/>
              </a:ext>
            </a:extLst>
          </p:cNvPr>
          <p:cNvSpPr txBox="1"/>
          <p:nvPr/>
        </p:nvSpPr>
        <p:spPr>
          <a:xfrm>
            <a:off x="8070258" y="1742079"/>
            <a:ext cx="2585884" cy="307777"/>
          </a:xfrm>
          <a:prstGeom prst="rect">
            <a:avLst/>
          </a:prstGeom>
          <a:noFill/>
        </p:spPr>
        <p:txBody>
          <a:bodyPr wrap="square" rtlCol="0">
            <a:spAutoFit/>
          </a:bodyPr>
          <a:lstStyle/>
          <a:p>
            <a:pPr algn="ctr"/>
            <a:r>
              <a:rPr lang="vi-VN" sz="1400" dirty="0">
                <a:solidFill>
                  <a:srgbClr val="FF0000"/>
                </a:solidFill>
                <a:latin typeface="+mj-lt"/>
              </a:rPr>
              <a:t>Ô (1, 2) có cx là 1, cy là 2</a:t>
            </a:r>
            <a:endParaRPr lang="en-US" sz="1400" dirty="0">
              <a:solidFill>
                <a:srgbClr val="FF0000"/>
              </a:solidFill>
              <a:latin typeface="+mj-lt"/>
            </a:endParaRPr>
          </a:p>
        </p:txBody>
      </p:sp>
      <p:cxnSp>
        <p:nvCxnSpPr>
          <p:cNvPr id="35" name="Straight Arrow Connector 34">
            <a:extLst>
              <a:ext uri="{FF2B5EF4-FFF2-40B4-BE49-F238E27FC236}">
                <a16:creationId xmlns:a16="http://schemas.microsoft.com/office/drawing/2014/main" id="{0F0E521D-8FA7-EE2D-2C0A-8972954759D8}"/>
              </a:ext>
            </a:extLst>
          </p:cNvPr>
          <p:cNvCxnSpPr>
            <a:cxnSpLocks/>
          </p:cNvCxnSpPr>
          <p:nvPr/>
        </p:nvCxnSpPr>
        <p:spPr>
          <a:xfrm>
            <a:off x="10697497" y="3223880"/>
            <a:ext cx="0" cy="5135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2BBE13D-7906-0C52-2C38-87256D78A9B6}"/>
              </a:ext>
            </a:extLst>
          </p:cNvPr>
          <p:cNvSpPr txBox="1"/>
          <p:nvPr/>
        </p:nvSpPr>
        <p:spPr>
          <a:xfrm>
            <a:off x="10636045" y="3319422"/>
            <a:ext cx="1139227"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cell_size</a:t>
            </a:r>
          </a:p>
        </p:txBody>
      </p:sp>
    </p:spTree>
    <p:extLst>
      <p:ext uri="{BB962C8B-B14F-4D97-AF65-F5344CB8AC3E}">
        <p14:creationId xmlns:p14="http://schemas.microsoft.com/office/powerpoint/2010/main" val="3553420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ACD8-49BB-94D4-45D2-8D0834C271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AB2CBF-A3A5-D6ED-B3A9-8DD535050D64}"/>
              </a:ext>
            </a:extLst>
          </p:cNvPr>
          <p:cNvSpPr>
            <a:spLocks noGrp="1"/>
          </p:cNvSpPr>
          <p:nvPr>
            <p:ph type="sldNum" sz="quarter" idx="12"/>
          </p:nvPr>
        </p:nvSpPr>
        <p:spPr/>
        <p:txBody>
          <a:bodyPr/>
          <a:lstStyle/>
          <a:p>
            <a:fld id="{9B618960-8005-486C-9A75-10CB2AAC16F9}" type="slidenum">
              <a:rPr lang="en-US" smtClean="0"/>
              <a:t>44</a:t>
            </a:fld>
            <a:endParaRPr lang="en-US" dirty="0"/>
          </a:p>
        </p:txBody>
      </p:sp>
      <p:sp>
        <p:nvSpPr>
          <p:cNvPr id="5" name="TextBox 3">
            <a:extLst>
              <a:ext uri="{FF2B5EF4-FFF2-40B4-BE49-F238E27FC236}">
                <a16:creationId xmlns:a16="http://schemas.microsoft.com/office/drawing/2014/main" id="{91AD2DE4-660B-F9AA-2A1C-249DEE9AA3E9}"/>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A95D7C81-F053-C4E8-7324-F20694F2377F}"/>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BFFE77F6-D273-9DA3-39DE-5E51463B8C8F}"/>
                  </a:ext>
                </a:extLst>
              </p:cNvPr>
              <p:cNvSpPr txBox="1"/>
              <p:nvPr/>
            </p:nvSpPr>
            <p:spPr>
              <a:xfrm>
                <a:off x="1079999" y="2097332"/>
                <a:ext cx="5016001" cy="2593852"/>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mj-lt"/>
                  </a:rPr>
                  <a:t>Cách xác định biên tọa độ của một ô lưới cụ thể</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Ví dụ minh họa:</a:t>
                </a:r>
              </a:p>
              <a:p>
                <a:pPr algn="just">
                  <a:lnSpc>
                    <a:spcPct val="114000"/>
                  </a:lnSpc>
                </a:pPr>
                <a:r>
                  <a:rPr lang="vi-VN" dirty="0">
                    <a:latin typeface="Times New Roman" panose="02020603050405020304" pitchFamily="18" charset="0"/>
                    <a:cs typeface="Times New Roman" panose="02020603050405020304" pitchFamily="18" charset="0"/>
                  </a:rPr>
                  <a:t>Giả sử cấu hình lưới toàn cục của chúng ta là:</a:t>
                </a: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Gốc lưới: </a:t>
                </a:r>
                <a14:m>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m:rPr>
                            <m:sty m:val="p"/>
                          </m:rPr>
                          <a:rPr lang="vi-VN" i="1">
                            <a:latin typeface="Cambria Math" panose="02040503050406030204" pitchFamily="18" charset="0"/>
                            <a:cs typeface="Times New Roman" panose="02020603050405020304" pitchFamily="18" charset="0"/>
                          </a:rPr>
                          <m:t>min</m:t>
                        </m:r>
                      </m:sub>
                    </m:sSub>
                    <m:r>
                      <a:rPr lang="vi-VN" b="0" i="1" smtClean="0">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10</m:t>
                    </m:r>
                  </m:oMath>
                </a14:m>
                <a:r>
                  <a:rPr lang="vi-VN"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y</m:t>
                        </m:r>
                      </m:e>
                      <m:sub>
                        <m:r>
                          <m:rPr>
                            <m:sty m:val="p"/>
                          </m:rPr>
                          <a:rPr lang="vi-VN" i="1">
                            <a:latin typeface="Cambria Math" panose="02040503050406030204" pitchFamily="18" charset="0"/>
                            <a:cs typeface="Times New Roman" panose="02020603050405020304" pitchFamily="18" charset="0"/>
                          </a:rPr>
                          <m:t>min</m:t>
                        </m:r>
                      </m:sub>
                    </m:sSub>
                    <m:r>
                      <a:rPr lang="vi-VN" b="0" i="1" smtClean="0">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20</m:t>
                    </m:r>
                  </m:oMath>
                </a14:m>
                <a:endParaRPr lang="vi-VN" dirty="0">
                  <a:latin typeface="Times New Roman" panose="02020603050405020304" pitchFamily="18" charset="0"/>
                  <a:cs typeface="Times New Roman" panose="02020603050405020304" pitchFamily="18" charset="0"/>
                </a:endParaRP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Kích thước ô vuông: cell_size = 5</a:t>
                </a:r>
              </a:p>
              <a:p>
                <a:pPr algn="just">
                  <a:lnSpc>
                    <a:spcPct val="114000"/>
                  </a:lnSpc>
                </a:pPr>
                <a:r>
                  <a:rPr lang="vi-VN" dirty="0">
                    <a:latin typeface="Times New Roman" panose="02020603050405020304" pitchFamily="18" charset="0"/>
                    <a:cs typeface="Times New Roman" panose="02020603050405020304" pitchFamily="18" charset="0"/>
                  </a:rPr>
                  <a:t>Hãy tính các biên </a:t>
                </a:r>
                <a14:m>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1</m:t>
                        </m:r>
                      </m:sub>
                    </m:sSub>
                    <m:r>
                      <a:rPr lang="vi-VN" b="0" i="1" smtClean="0">
                        <a:latin typeface="Cambria Math" panose="02040503050406030204" pitchFamily="18" charset="0"/>
                        <a:cs typeface="Times New Roman" panose="02020603050405020304" pitchFamily="18" charset="0"/>
                      </a:rPr>
                      <m:t>,</m:t>
                    </m:r>
                    <m:sSub>
                      <m:sSubPr>
                        <m:ctrlPr>
                          <a:rPr lang="vi-VN" b="0"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2</m:t>
                        </m:r>
                      </m:sub>
                    </m:sSub>
                    <m:r>
                      <a:rPr lang="vi-VN" b="0" i="1" smtClean="0">
                        <a:latin typeface="Cambria Math" panose="02040503050406030204" pitchFamily="18" charset="0"/>
                        <a:cs typeface="Times New Roman" panose="02020603050405020304" pitchFamily="18" charset="0"/>
                      </a:rPr>
                      <m:t>,</m:t>
                    </m:r>
                    <m:sSub>
                      <m:sSubPr>
                        <m:ctrlPr>
                          <a:rPr lang="vi-VN" b="0"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1</m:t>
                        </m:r>
                      </m:sub>
                    </m:sSub>
                    <m:r>
                      <a:rPr lang="vi-VN" b="0" i="1" smtClean="0">
                        <a:latin typeface="Cambria Math" panose="02040503050406030204" pitchFamily="18" charset="0"/>
                        <a:cs typeface="Times New Roman" panose="02020603050405020304" pitchFamily="18" charset="0"/>
                      </a:rPr>
                      <m:t>,</m:t>
                    </m:r>
                    <m:sSub>
                      <m:sSubPr>
                        <m:ctrlPr>
                          <a:rPr lang="vi-VN" b="0"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2</m:t>
                        </m:r>
                      </m:sub>
                    </m:sSub>
                  </m:oMath>
                </a14:m>
                <a:r>
                  <a:rPr lang="vi-VN" dirty="0">
                    <a:latin typeface="Times New Roman" panose="02020603050405020304" pitchFamily="18" charset="0"/>
                    <a:cs typeface="Times New Roman" panose="02020603050405020304" pitchFamily="18" charset="0"/>
                  </a:rPr>
                  <a:t> của ô láng giềng có tọa độ ô lưới là (1, 2) (Cột 1, Hàng 2)</a:t>
                </a:r>
              </a:p>
              <a:p>
                <a:pPr algn="just">
                  <a:lnSpc>
                    <a:spcPct val="114000"/>
                  </a:lnSpc>
                </a:pPr>
                <a:endParaRPr lang="vi-VN" dirty="0">
                  <a:latin typeface="Times New Roman" panose="02020603050405020304" pitchFamily="18" charset="0"/>
                  <a:cs typeface="Times New Roman" panose="02020603050405020304" pitchFamily="18" charset="0"/>
                </a:endParaRPr>
              </a:p>
            </p:txBody>
          </p:sp>
        </mc:Choice>
        <mc:Fallback xmlns="">
          <p:sp>
            <p:nvSpPr>
              <p:cNvPr id="3" name="TextBox 5">
                <a:extLst>
                  <a:ext uri="{FF2B5EF4-FFF2-40B4-BE49-F238E27FC236}">
                    <a16:creationId xmlns:a16="http://schemas.microsoft.com/office/drawing/2014/main" id="{BFFE77F6-D273-9DA3-39DE-5E51463B8C8F}"/>
                  </a:ext>
                </a:extLst>
              </p:cNvPr>
              <p:cNvSpPr txBox="1">
                <a:spLocks noRot="1" noChangeAspect="1" noMove="1" noResize="1" noEditPoints="1" noAdjustHandles="1" noChangeArrowheads="1" noChangeShapeType="1" noTextEdit="1"/>
              </p:cNvSpPr>
              <p:nvPr/>
            </p:nvSpPr>
            <p:spPr>
              <a:xfrm>
                <a:off x="1079999" y="2097332"/>
                <a:ext cx="5016001" cy="2593852"/>
              </a:xfrm>
              <a:prstGeom prst="rect">
                <a:avLst/>
              </a:prstGeom>
              <a:blipFill>
                <a:blip r:embed="rId2"/>
                <a:stretch>
                  <a:fillRect l="-972" t="-704" r="-1094"/>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00B2A842-B92A-804C-29B5-6310BE9B6A58}"/>
              </a:ext>
            </a:extLst>
          </p:cNvPr>
          <p:cNvGrpSpPr/>
          <p:nvPr/>
        </p:nvGrpSpPr>
        <p:grpSpPr>
          <a:xfrm>
            <a:off x="8199418" y="2680913"/>
            <a:ext cx="2327564" cy="1584798"/>
            <a:chOff x="7887854" y="2612096"/>
            <a:chExt cx="2327564" cy="1584798"/>
          </a:xfrm>
        </p:grpSpPr>
        <p:sp>
          <p:nvSpPr>
            <p:cNvPr id="7" name="Rectangle 6">
              <a:extLst>
                <a:ext uri="{FF2B5EF4-FFF2-40B4-BE49-F238E27FC236}">
                  <a16:creationId xmlns:a16="http://schemas.microsoft.com/office/drawing/2014/main" id="{0FFF47F7-C812-7D74-6B53-61273930703A}"/>
                </a:ext>
              </a:extLst>
            </p:cNvPr>
            <p:cNvSpPr/>
            <p:nvPr/>
          </p:nvSpPr>
          <p:spPr>
            <a:xfrm>
              <a:off x="7887854" y="261209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2)</a:t>
              </a:r>
              <a:endParaRPr lang="en-US" dirty="0">
                <a:latin typeface="+mj-lt"/>
              </a:endParaRPr>
            </a:p>
          </p:txBody>
        </p:sp>
        <p:sp>
          <p:nvSpPr>
            <p:cNvPr id="8" name="Rectangle 7">
              <a:extLst>
                <a:ext uri="{FF2B5EF4-FFF2-40B4-BE49-F238E27FC236}">
                  <a16:creationId xmlns:a16="http://schemas.microsoft.com/office/drawing/2014/main" id="{1EE9F4E3-4672-02EB-C09F-8FCBFC270AB0}"/>
                </a:ext>
              </a:extLst>
            </p:cNvPr>
            <p:cNvSpPr/>
            <p:nvPr/>
          </p:nvSpPr>
          <p:spPr>
            <a:xfrm>
              <a:off x="7887854" y="3140364"/>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1)</a:t>
              </a:r>
              <a:endParaRPr lang="en-US" dirty="0">
                <a:latin typeface="+mj-lt"/>
              </a:endParaRPr>
            </a:p>
          </p:txBody>
        </p:sp>
        <p:sp>
          <p:nvSpPr>
            <p:cNvPr id="9" name="Rectangle 8">
              <a:extLst>
                <a:ext uri="{FF2B5EF4-FFF2-40B4-BE49-F238E27FC236}">
                  <a16:creationId xmlns:a16="http://schemas.microsoft.com/office/drawing/2014/main" id="{F734AD84-E800-0514-E6A7-FEB0E3161975}"/>
                </a:ext>
              </a:extLst>
            </p:cNvPr>
            <p:cNvSpPr/>
            <p:nvPr/>
          </p:nvSpPr>
          <p:spPr>
            <a:xfrm>
              <a:off x="7887854" y="366862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0)</a:t>
              </a:r>
              <a:endParaRPr lang="en-US" dirty="0">
                <a:latin typeface="+mj-lt"/>
              </a:endParaRPr>
            </a:p>
          </p:txBody>
        </p:sp>
        <p:sp>
          <p:nvSpPr>
            <p:cNvPr id="10" name="Rectangle 9">
              <a:extLst>
                <a:ext uri="{FF2B5EF4-FFF2-40B4-BE49-F238E27FC236}">
                  <a16:creationId xmlns:a16="http://schemas.microsoft.com/office/drawing/2014/main" id="{23740675-BF66-768A-1AB1-B284C45D4620}"/>
                </a:ext>
              </a:extLst>
            </p:cNvPr>
            <p:cNvSpPr/>
            <p:nvPr/>
          </p:nvSpPr>
          <p:spPr>
            <a:xfrm>
              <a:off x="9051636" y="3668628"/>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0)</a:t>
              </a:r>
              <a:endParaRPr lang="en-US" dirty="0">
                <a:latin typeface="+mj-lt"/>
              </a:endParaRPr>
            </a:p>
          </p:txBody>
        </p:sp>
        <p:sp>
          <p:nvSpPr>
            <p:cNvPr id="16" name="Rectangle 15">
              <a:extLst>
                <a:ext uri="{FF2B5EF4-FFF2-40B4-BE49-F238E27FC236}">
                  <a16:creationId xmlns:a16="http://schemas.microsoft.com/office/drawing/2014/main" id="{DC6B7F4F-2158-AF34-FBEC-E9C57061F884}"/>
                </a:ext>
              </a:extLst>
            </p:cNvPr>
            <p:cNvSpPr/>
            <p:nvPr/>
          </p:nvSpPr>
          <p:spPr>
            <a:xfrm>
              <a:off x="9051636" y="3140362"/>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1)</a:t>
              </a:r>
              <a:endParaRPr lang="en-US" dirty="0">
                <a:latin typeface="+mj-lt"/>
              </a:endParaRPr>
            </a:p>
          </p:txBody>
        </p:sp>
        <p:sp>
          <p:nvSpPr>
            <p:cNvPr id="17" name="Rectangle 16">
              <a:extLst>
                <a:ext uri="{FF2B5EF4-FFF2-40B4-BE49-F238E27FC236}">
                  <a16:creationId xmlns:a16="http://schemas.microsoft.com/office/drawing/2014/main" id="{1E6550F4-5D9C-D638-C80E-E358B14D877F}"/>
                </a:ext>
              </a:extLst>
            </p:cNvPr>
            <p:cNvSpPr/>
            <p:nvPr/>
          </p:nvSpPr>
          <p:spPr>
            <a:xfrm>
              <a:off x="9051636" y="2612096"/>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2)</a:t>
              </a:r>
              <a:endParaRPr lang="en-US" dirty="0">
                <a:latin typeface="+mj-lt"/>
              </a:endParaRPr>
            </a:p>
          </p:txBody>
        </p:sp>
      </p:grpSp>
      <p:cxnSp>
        <p:nvCxnSpPr>
          <p:cNvPr id="18" name="Straight Arrow Connector 17">
            <a:extLst>
              <a:ext uri="{FF2B5EF4-FFF2-40B4-BE49-F238E27FC236}">
                <a16:creationId xmlns:a16="http://schemas.microsoft.com/office/drawing/2014/main" id="{1F812DEF-EEB5-9A63-2EC2-62E59C0B8EC3}"/>
              </a:ext>
            </a:extLst>
          </p:cNvPr>
          <p:cNvCxnSpPr>
            <a:cxnSpLocks/>
          </p:cNvCxnSpPr>
          <p:nvPr/>
        </p:nvCxnSpPr>
        <p:spPr>
          <a:xfrm flipH="1" flipV="1">
            <a:off x="7561006" y="4265709"/>
            <a:ext cx="6384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8691F17-B79F-1DA5-B816-5CEEEA24CE06}"/>
                  </a:ext>
                </a:extLst>
              </p:cNvPr>
              <p:cNvSpPr txBox="1"/>
              <p:nvPr/>
            </p:nvSpPr>
            <p:spPr>
              <a:xfrm>
                <a:off x="6640663" y="4365074"/>
                <a:ext cx="11995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r>
                        <a:rPr lang="vi-VN" i="1">
                          <a:latin typeface="Cambria Math" panose="02040503050406030204" pitchFamily="18" charset="0"/>
                        </a:rPr>
                        <m:t>20</m:t>
                      </m:r>
                    </m:oMath>
                  </m:oMathPara>
                </a14:m>
                <a:endParaRPr lang="en-US" dirty="0"/>
              </a:p>
            </p:txBody>
          </p:sp>
        </mc:Choice>
        <mc:Fallback xmlns="">
          <p:sp>
            <p:nvSpPr>
              <p:cNvPr id="19" name="TextBox 18">
                <a:extLst>
                  <a:ext uri="{FF2B5EF4-FFF2-40B4-BE49-F238E27FC236}">
                    <a16:creationId xmlns:a16="http://schemas.microsoft.com/office/drawing/2014/main" id="{98691F17-B79F-1DA5-B816-5CEEEA24CE06}"/>
                  </a:ext>
                </a:extLst>
              </p:cNvPr>
              <p:cNvSpPr txBox="1">
                <a:spLocks noRot="1" noChangeAspect="1" noMove="1" noResize="1" noEditPoints="1" noAdjustHandles="1" noChangeArrowheads="1" noChangeShapeType="1" noTextEdit="1"/>
              </p:cNvSpPr>
              <p:nvPr/>
            </p:nvSpPr>
            <p:spPr>
              <a:xfrm>
                <a:off x="6640663" y="4365074"/>
                <a:ext cx="1199534" cy="369332"/>
              </a:xfrm>
              <a:prstGeom prst="rect">
                <a:avLst/>
              </a:prstGeom>
              <a:blipFill>
                <a:blip r:embed="rId3"/>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3F5E380-C19F-B338-E4F5-EE0A2AC9E30E}"/>
                  </a:ext>
                </a:extLst>
              </p:cNvPr>
              <p:cNvSpPr txBox="1"/>
              <p:nvPr/>
            </p:nvSpPr>
            <p:spPr>
              <a:xfrm>
                <a:off x="7452166" y="5033898"/>
                <a:ext cx="149450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r>
                        <a:rPr lang="vi-VN" i="1">
                          <a:latin typeface="Cambria Math" panose="02040503050406030204" pitchFamily="18" charset="0"/>
                        </a:rPr>
                        <m:t>10</m:t>
                      </m:r>
                    </m:oMath>
                  </m:oMathPara>
                </a14:m>
                <a:endParaRPr lang="en-US" dirty="0"/>
              </a:p>
            </p:txBody>
          </p:sp>
        </mc:Choice>
        <mc:Fallback xmlns="">
          <p:sp>
            <p:nvSpPr>
              <p:cNvPr id="20" name="TextBox 19">
                <a:extLst>
                  <a:ext uri="{FF2B5EF4-FFF2-40B4-BE49-F238E27FC236}">
                    <a16:creationId xmlns:a16="http://schemas.microsoft.com/office/drawing/2014/main" id="{A3F5E380-C19F-B338-E4F5-EE0A2AC9E30E}"/>
                  </a:ext>
                </a:extLst>
              </p:cNvPr>
              <p:cNvSpPr txBox="1">
                <a:spLocks noRot="1" noChangeAspect="1" noMove="1" noResize="1" noEditPoints="1" noAdjustHandles="1" noChangeArrowheads="1" noChangeShapeType="1" noTextEdit="1"/>
              </p:cNvSpPr>
              <p:nvPr/>
            </p:nvSpPr>
            <p:spPr>
              <a:xfrm>
                <a:off x="7452166" y="5033898"/>
                <a:ext cx="1494504" cy="369332"/>
              </a:xfrm>
              <a:prstGeom prst="rect">
                <a:avLst/>
              </a:prstGeom>
              <a:blipFill>
                <a:blip r:embed="rId4"/>
                <a:stretch>
                  <a:fillRect/>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CBAEBD9C-9F1E-6669-D4DA-C7ABC8787E06}"/>
              </a:ext>
            </a:extLst>
          </p:cNvPr>
          <p:cNvCxnSpPr>
            <a:cxnSpLocks/>
          </p:cNvCxnSpPr>
          <p:nvPr/>
        </p:nvCxnSpPr>
        <p:spPr>
          <a:xfrm>
            <a:off x="8199418" y="4265706"/>
            <a:ext cx="0" cy="668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2150095-CA77-9D6E-960A-8926FB9ADC01}"/>
              </a:ext>
            </a:extLst>
          </p:cNvPr>
          <p:cNvCxnSpPr>
            <a:cxnSpLocks/>
            <a:stCxn id="17" idx="0"/>
          </p:cNvCxnSpPr>
          <p:nvPr/>
        </p:nvCxnSpPr>
        <p:spPr>
          <a:xfrm flipH="1" flipV="1">
            <a:off x="9363200" y="2182761"/>
            <a:ext cx="581891" cy="49815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CAB66D4-EB8D-3ADA-B0D5-C85336DFB18A}"/>
              </a:ext>
            </a:extLst>
          </p:cNvPr>
          <p:cNvSpPr txBox="1"/>
          <p:nvPr/>
        </p:nvSpPr>
        <p:spPr>
          <a:xfrm>
            <a:off x="8070258" y="1742079"/>
            <a:ext cx="2585884" cy="307777"/>
          </a:xfrm>
          <a:prstGeom prst="rect">
            <a:avLst/>
          </a:prstGeom>
          <a:noFill/>
        </p:spPr>
        <p:txBody>
          <a:bodyPr wrap="square" rtlCol="0">
            <a:spAutoFit/>
          </a:bodyPr>
          <a:lstStyle/>
          <a:p>
            <a:pPr algn="ctr"/>
            <a:r>
              <a:rPr lang="vi-VN" sz="1400" dirty="0">
                <a:solidFill>
                  <a:srgbClr val="FF0000"/>
                </a:solidFill>
                <a:latin typeface="+mj-lt"/>
              </a:rPr>
              <a:t>Ô (1, 2) có cx là 1, cy là 2</a:t>
            </a:r>
            <a:endParaRPr lang="en-US" sz="1400" dirty="0">
              <a:solidFill>
                <a:srgbClr val="FF0000"/>
              </a:solidFill>
              <a:latin typeface="+mj-lt"/>
            </a:endParaRPr>
          </a:p>
        </p:txBody>
      </p:sp>
      <p:cxnSp>
        <p:nvCxnSpPr>
          <p:cNvPr id="35" name="Straight Arrow Connector 34">
            <a:extLst>
              <a:ext uri="{FF2B5EF4-FFF2-40B4-BE49-F238E27FC236}">
                <a16:creationId xmlns:a16="http://schemas.microsoft.com/office/drawing/2014/main" id="{CC83E2B3-D068-746D-7E80-390EB1B244E0}"/>
              </a:ext>
            </a:extLst>
          </p:cNvPr>
          <p:cNvCxnSpPr>
            <a:cxnSpLocks/>
          </p:cNvCxnSpPr>
          <p:nvPr/>
        </p:nvCxnSpPr>
        <p:spPr>
          <a:xfrm>
            <a:off x="10697497" y="3223880"/>
            <a:ext cx="0" cy="5135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750CD4C5-A63A-6262-6B7F-F1A338C5F1B2}"/>
              </a:ext>
            </a:extLst>
          </p:cNvPr>
          <p:cNvSpPr txBox="1"/>
          <p:nvPr/>
        </p:nvSpPr>
        <p:spPr>
          <a:xfrm>
            <a:off x="10636045" y="3319422"/>
            <a:ext cx="1139227" cy="307777"/>
          </a:xfrm>
          <a:prstGeom prst="rect">
            <a:avLst/>
          </a:prstGeom>
          <a:noFill/>
        </p:spPr>
        <p:txBody>
          <a:bodyPr wrap="square" rtlCol="0">
            <a:spAutoFit/>
          </a:bodyPr>
          <a:lstStyle/>
          <a:p>
            <a:pPr algn="ctr"/>
            <a:r>
              <a:rPr lang="en-US" sz="1400" dirty="0" err="1">
                <a:latin typeface="Times New Roman" panose="02020603050405020304" pitchFamily="18" charset="0"/>
                <a:cs typeface="Times New Roman" panose="02020603050405020304" pitchFamily="18" charset="0"/>
              </a:rPr>
              <a:t>cell_size</a:t>
            </a:r>
            <a:r>
              <a:rPr lang="vi-VN" sz="1400" dirty="0">
                <a:latin typeface="Times New Roman" panose="02020603050405020304" pitchFamily="18" charset="0"/>
                <a:cs typeface="Times New Roman" panose="02020603050405020304" pitchFamily="18" charset="0"/>
              </a:rPr>
              <a:t> = 5</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576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D109E-1891-E2DB-EF33-ADE9296872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66612E-D86B-3677-9BBE-1DC0746E2420}"/>
              </a:ext>
            </a:extLst>
          </p:cNvPr>
          <p:cNvSpPr>
            <a:spLocks noGrp="1"/>
          </p:cNvSpPr>
          <p:nvPr>
            <p:ph type="sldNum" sz="quarter" idx="12"/>
          </p:nvPr>
        </p:nvSpPr>
        <p:spPr/>
        <p:txBody>
          <a:bodyPr/>
          <a:lstStyle/>
          <a:p>
            <a:fld id="{9B618960-8005-486C-9A75-10CB2AAC16F9}" type="slidenum">
              <a:rPr lang="en-US" smtClean="0"/>
              <a:t>45</a:t>
            </a:fld>
            <a:endParaRPr lang="en-US" dirty="0"/>
          </a:p>
        </p:txBody>
      </p:sp>
      <p:sp>
        <p:nvSpPr>
          <p:cNvPr id="5" name="TextBox 3">
            <a:extLst>
              <a:ext uri="{FF2B5EF4-FFF2-40B4-BE49-F238E27FC236}">
                <a16:creationId xmlns:a16="http://schemas.microsoft.com/office/drawing/2014/main" id="{0C2E1E08-4867-8205-A547-A9EA813576FF}"/>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9917FABA-60D8-06F7-7E92-EF3E7DE11E49}"/>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7D75D48B-A5A3-B1B8-E4D6-B437ABC51B74}"/>
                  </a:ext>
                </a:extLst>
              </p:cNvPr>
              <p:cNvSpPr txBox="1"/>
              <p:nvPr/>
            </p:nvSpPr>
            <p:spPr>
              <a:xfrm>
                <a:off x="1079999" y="2097332"/>
                <a:ext cx="4978772" cy="3541226"/>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Cách xác định biên tọa độ của một ô lưới cụ thể</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Bước 1: Xác định vùng không gian theo trục x:</a:t>
                </a: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Biên trái </a:t>
                </a:r>
                <a14:m>
                  <m:oMath xmlns:m="http://schemas.openxmlformats.org/officeDocument/2006/math">
                    <m:d>
                      <m:dPr>
                        <m:ctrlPr>
                          <a:rPr lang="vi-VN" i="1" smtClean="0">
                            <a:latin typeface="Cambria Math" panose="02040503050406030204" pitchFamily="18" charset="0"/>
                            <a:cs typeface="Times New Roman" panose="02020603050405020304" pitchFamily="18" charset="0"/>
                          </a:rPr>
                        </m:ctrlPr>
                      </m:dPr>
                      <m:e>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1</m:t>
                            </m:r>
                          </m:sub>
                        </m:sSub>
                      </m:e>
                    </m:d>
                    <m:r>
                      <a:rPr lang="vi-VN" b="0" i="1" smtClean="0">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10</m:t>
                    </m:r>
                    <m:r>
                      <a:rPr lang="vi-VN"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vi-VN" i="1" smtClean="0">
                            <a:latin typeface="Cambria Math" panose="02040503050406030204" pitchFamily="18" charset="0"/>
                            <a:ea typeface="Cambria Math" panose="02040503050406030204" pitchFamily="18" charset="0"/>
                            <a:cs typeface="Times New Roman" panose="02020603050405020304" pitchFamily="18" charset="0"/>
                          </a:rPr>
                        </m:ctrlPr>
                      </m:dPr>
                      <m:e>
                        <m:r>
                          <a:rPr lang="vi-VN" i="1">
                            <a:latin typeface="Cambria Math" panose="02040503050406030204" pitchFamily="18" charset="0"/>
                            <a:ea typeface="Cambria Math" panose="02040503050406030204" pitchFamily="18" charset="0"/>
                            <a:cs typeface="Times New Roman" panose="02020603050405020304" pitchFamily="18" charset="0"/>
                          </a:rPr>
                          <m:t>1</m:t>
                        </m:r>
                        <m:r>
                          <a:rPr lang="vi-VN" i="1" smtClean="0">
                            <a:latin typeface="Cambria Math" panose="02040503050406030204" pitchFamily="18" charset="0"/>
                            <a:ea typeface="Cambria Math" panose="02040503050406030204" pitchFamily="18" charset="0"/>
                            <a:cs typeface="Times New Roman" panose="02020603050405020304" pitchFamily="18" charset="0"/>
                          </a:rPr>
                          <m:t>×</m:t>
                        </m:r>
                        <m:r>
                          <a:rPr lang="vi-VN" i="1">
                            <a:latin typeface="Cambria Math" panose="02040503050406030204" pitchFamily="18" charset="0"/>
                            <a:ea typeface="Cambria Math" panose="02040503050406030204" pitchFamily="18" charset="0"/>
                            <a:cs typeface="Times New Roman" panose="02020603050405020304" pitchFamily="18" charset="0"/>
                          </a:rPr>
                          <m:t>5</m:t>
                        </m:r>
                      </m:e>
                    </m:d>
                    <m:r>
                      <a:rPr lang="vi-VN" b="0" i="1" smtClean="0">
                        <a:latin typeface="Cambria Math" panose="02040503050406030204" pitchFamily="18" charset="0"/>
                        <a:ea typeface="Cambria Math" panose="02040503050406030204" pitchFamily="18" charset="0"/>
                        <a:cs typeface="Times New Roman" panose="02020603050405020304" pitchFamily="18" charset="0"/>
                      </a:rPr>
                      <m:t>=</m:t>
                    </m:r>
                    <m:r>
                      <a:rPr lang="vi-VN" i="1">
                        <a:latin typeface="Cambria Math" panose="02040503050406030204" pitchFamily="18" charset="0"/>
                        <a:ea typeface="Cambria Math" panose="02040503050406030204" pitchFamily="18" charset="0"/>
                        <a:cs typeface="Times New Roman" panose="02020603050405020304" pitchFamily="18" charset="0"/>
                      </a:rPr>
                      <m:t>15</m:t>
                    </m:r>
                  </m:oMath>
                </a14:m>
                <a:endParaRPr lang="vi-VN" dirty="0">
                  <a:latin typeface="Times New Roman" panose="02020603050405020304" pitchFamily="18" charset="0"/>
                  <a:cs typeface="Times New Roman" panose="02020603050405020304" pitchFamily="18" charset="0"/>
                </a:endParaRP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Biên trên </a:t>
                </a:r>
                <a14:m>
                  <m:oMath xmlns:m="http://schemas.openxmlformats.org/officeDocument/2006/math">
                    <m:d>
                      <m:dPr>
                        <m:ctrlPr>
                          <a:rPr lang="vi-VN" i="1" smtClean="0">
                            <a:latin typeface="Cambria Math" panose="02040503050406030204" pitchFamily="18" charset="0"/>
                            <a:cs typeface="Times New Roman" panose="02020603050405020304" pitchFamily="18" charset="0"/>
                          </a:rPr>
                        </m:ctrlPr>
                      </m:dPr>
                      <m:e>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2</m:t>
                            </m:r>
                          </m:sub>
                        </m:sSub>
                      </m:e>
                    </m:d>
                    <m:r>
                      <a:rPr lang="vi-VN" b="0" i="1" smtClean="0">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15</m:t>
                    </m:r>
                    <m:r>
                      <a:rPr lang="vi-VN" i="1" smtClean="0">
                        <a:latin typeface="Cambria Math" panose="02040503050406030204" pitchFamily="18" charset="0"/>
                        <a:ea typeface="Cambria Math" panose="02040503050406030204" pitchFamily="18" charset="0"/>
                        <a:cs typeface="Times New Roman" panose="02020603050405020304" pitchFamily="18" charset="0"/>
                      </a:rPr>
                      <m:t>+</m:t>
                    </m:r>
                    <m:r>
                      <a:rPr lang="vi-VN" i="1">
                        <a:latin typeface="Cambria Math" panose="02040503050406030204" pitchFamily="18" charset="0"/>
                        <a:ea typeface="Cambria Math" panose="02040503050406030204" pitchFamily="18" charset="0"/>
                        <a:cs typeface="Times New Roman" panose="02020603050405020304" pitchFamily="18" charset="0"/>
                      </a:rPr>
                      <m:t>5</m:t>
                    </m:r>
                    <m:r>
                      <a:rPr lang="vi-VN" dirty="0">
                        <a:latin typeface="Cambria Math" panose="02040503050406030204" pitchFamily="18" charset="0"/>
                        <a:cs typeface="Times New Roman" panose="02020603050405020304" pitchFamily="18" charset="0"/>
                      </a:rPr>
                      <m:t>=</m:t>
                    </m:r>
                    <m:r>
                      <a:rPr lang="vi-VN" i="1" dirty="0" smtClean="0">
                        <a:latin typeface="Cambria Math" panose="02040503050406030204" pitchFamily="18" charset="0"/>
                        <a:cs typeface="Times New Roman" panose="02020603050405020304" pitchFamily="18" charset="0"/>
                      </a:rPr>
                      <m:t>20</m:t>
                    </m:r>
                  </m:oMath>
                </a14:m>
                <a:endParaRPr lang="vi-VN" dirty="0">
                  <a:latin typeface="Times New Roman" panose="02020603050405020304" pitchFamily="18" charset="0"/>
                  <a:cs typeface="Times New Roman" panose="02020603050405020304" pitchFamily="18" charset="0"/>
                </a:endParaRP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Ô này chiếm giữ vùng không gian nằm ngang từ [15 – 20].</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Bước 2: Xác định vùng không gian theo trục y:</a:t>
                </a: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Biên trái </a:t>
                </a:r>
                <a14:m>
                  <m:oMath xmlns:m="http://schemas.openxmlformats.org/officeDocument/2006/math">
                    <m:d>
                      <m:dPr>
                        <m:ctrlPr>
                          <a:rPr lang="vi-VN" i="1">
                            <a:latin typeface="Cambria Math" panose="02040503050406030204" pitchFamily="18" charset="0"/>
                            <a:cs typeface="Times New Roman" panose="02020603050405020304" pitchFamily="18" charset="0"/>
                          </a:rPr>
                        </m:ctrlPr>
                      </m:dPr>
                      <m:e>
                        <m:sSub>
                          <m:sSubPr>
                            <m:ctrlPr>
                              <a:rPr lang="vi-VN" i="1">
                                <a:latin typeface="Cambria Math" panose="02040503050406030204" pitchFamily="18" charset="0"/>
                                <a:cs typeface="Times New Roman" panose="02020603050405020304" pitchFamily="18" charset="0"/>
                              </a:rPr>
                            </m:ctrlPr>
                          </m:sSubPr>
                          <m:e>
                            <m:r>
                              <m:rPr>
                                <m:sty m:val="p"/>
                              </m:rPr>
                              <a:rPr lang="vi-VN" i="1" smtClean="0">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1</m:t>
                            </m:r>
                          </m:sub>
                        </m:sSub>
                      </m:e>
                    </m:d>
                    <m:r>
                      <a:rPr lang="vi-VN" i="1">
                        <a:latin typeface="Cambria Math" panose="02040503050406030204" pitchFamily="18" charset="0"/>
                        <a:cs typeface="Times New Roman" panose="02020603050405020304" pitchFamily="18" charset="0"/>
                      </a:rPr>
                      <m:t>=</m:t>
                    </m:r>
                    <m:r>
                      <a:rPr lang="vi-VN" i="1" smtClean="0">
                        <a:latin typeface="Cambria Math" panose="02040503050406030204" pitchFamily="18" charset="0"/>
                        <a:cs typeface="Times New Roman" panose="02020603050405020304" pitchFamily="18" charset="0"/>
                      </a:rPr>
                      <m:t>20</m:t>
                    </m:r>
                    <m:r>
                      <a:rPr lang="vi-VN" i="1">
                        <a:latin typeface="Cambria Math" panose="02040503050406030204" pitchFamily="18" charset="0"/>
                        <a:ea typeface="Cambria Math" panose="02040503050406030204" pitchFamily="18" charset="0"/>
                        <a:cs typeface="Times New Roman" panose="02020603050405020304" pitchFamily="18" charset="0"/>
                      </a:rPr>
                      <m:t>+</m:t>
                    </m:r>
                    <m:d>
                      <m:dPr>
                        <m:ctrlPr>
                          <a:rPr lang="vi-VN" i="1">
                            <a:latin typeface="Cambria Math" panose="02040503050406030204" pitchFamily="18" charset="0"/>
                            <a:ea typeface="Cambria Math" panose="02040503050406030204" pitchFamily="18" charset="0"/>
                            <a:cs typeface="Times New Roman" panose="02020603050405020304" pitchFamily="18" charset="0"/>
                          </a:rPr>
                        </m:ctrlPr>
                      </m:dPr>
                      <m:e>
                        <m:r>
                          <a:rPr lang="vi-VN" i="1" smtClean="0">
                            <a:latin typeface="Cambria Math" panose="02040503050406030204" pitchFamily="18" charset="0"/>
                            <a:ea typeface="Cambria Math" panose="02040503050406030204" pitchFamily="18" charset="0"/>
                            <a:cs typeface="Times New Roman" panose="02020603050405020304" pitchFamily="18" charset="0"/>
                          </a:rPr>
                          <m:t>2</m:t>
                        </m:r>
                        <m:r>
                          <a:rPr lang="vi-VN" i="1">
                            <a:latin typeface="Cambria Math" panose="02040503050406030204" pitchFamily="18" charset="0"/>
                            <a:ea typeface="Cambria Math" panose="02040503050406030204" pitchFamily="18" charset="0"/>
                            <a:cs typeface="Times New Roman" panose="02020603050405020304" pitchFamily="18" charset="0"/>
                          </a:rPr>
                          <m:t>×</m:t>
                        </m:r>
                        <m:r>
                          <a:rPr lang="vi-VN" i="1">
                            <a:latin typeface="Cambria Math" panose="02040503050406030204" pitchFamily="18" charset="0"/>
                            <a:ea typeface="Cambria Math" panose="02040503050406030204" pitchFamily="18" charset="0"/>
                            <a:cs typeface="Times New Roman" panose="02020603050405020304" pitchFamily="18" charset="0"/>
                          </a:rPr>
                          <m:t>5</m:t>
                        </m:r>
                      </m:e>
                    </m:d>
                    <m:r>
                      <a:rPr lang="vi-VN" i="1">
                        <a:latin typeface="Cambria Math" panose="02040503050406030204" pitchFamily="18" charset="0"/>
                        <a:ea typeface="Cambria Math" panose="02040503050406030204" pitchFamily="18" charset="0"/>
                        <a:cs typeface="Times New Roman" panose="02020603050405020304" pitchFamily="18" charset="0"/>
                      </a:rPr>
                      <m:t>=</m:t>
                    </m:r>
                    <m:r>
                      <a:rPr lang="vi-VN" i="1" smtClean="0">
                        <a:latin typeface="Cambria Math" panose="02040503050406030204" pitchFamily="18" charset="0"/>
                        <a:ea typeface="Cambria Math" panose="02040503050406030204" pitchFamily="18" charset="0"/>
                        <a:cs typeface="Times New Roman" panose="02020603050405020304" pitchFamily="18" charset="0"/>
                      </a:rPr>
                      <m:t>30</m:t>
                    </m:r>
                  </m:oMath>
                </a14:m>
                <a:endParaRPr lang="vi-VN" dirty="0">
                  <a:latin typeface="Times New Roman" panose="02020603050405020304" pitchFamily="18" charset="0"/>
                  <a:cs typeface="Times New Roman" panose="02020603050405020304" pitchFamily="18" charset="0"/>
                </a:endParaRP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Biên trên </a:t>
                </a:r>
                <a14:m>
                  <m:oMath xmlns:m="http://schemas.openxmlformats.org/officeDocument/2006/math">
                    <m:d>
                      <m:dPr>
                        <m:ctrlPr>
                          <a:rPr lang="vi-VN" i="1">
                            <a:latin typeface="Cambria Math" panose="02040503050406030204" pitchFamily="18" charset="0"/>
                            <a:cs typeface="Times New Roman" panose="02020603050405020304" pitchFamily="18" charset="0"/>
                          </a:rPr>
                        </m:ctrlPr>
                      </m:dPr>
                      <m:e>
                        <m:sSub>
                          <m:sSubPr>
                            <m:ctrlPr>
                              <a:rPr lang="vi-VN" i="1">
                                <a:latin typeface="Cambria Math" panose="02040503050406030204" pitchFamily="18" charset="0"/>
                                <a:cs typeface="Times New Roman" panose="02020603050405020304" pitchFamily="18" charset="0"/>
                              </a:rPr>
                            </m:ctrlPr>
                          </m:sSubPr>
                          <m:e>
                            <m:r>
                              <m:rPr>
                                <m:sty m:val="p"/>
                              </m:rPr>
                              <a:rPr lang="vi-VN" i="1" smtClean="0">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2</m:t>
                            </m:r>
                          </m:sub>
                        </m:sSub>
                      </m:e>
                    </m:d>
                    <m:r>
                      <a:rPr lang="vi-VN" i="1">
                        <a:latin typeface="Cambria Math" panose="02040503050406030204" pitchFamily="18" charset="0"/>
                        <a:cs typeface="Times New Roman" panose="02020603050405020304" pitchFamily="18" charset="0"/>
                      </a:rPr>
                      <m:t>=</m:t>
                    </m:r>
                    <m:r>
                      <a:rPr lang="vi-VN" i="1" smtClean="0">
                        <a:latin typeface="Cambria Math" panose="02040503050406030204" pitchFamily="18" charset="0"/>
                        <a:cs typeface="Times New Roman" panose="02020603050405020304" pitchFamily="18" charset="0"/>
                      </a:rPr>
                      <m:t>30</m:t>
                    </m:r>
                    <m:r>
                      <a:rPr lang="vi-VN" i="1">
                        <a:latin typeface="Cambria Math" panose="02040503050406030204" pitchFamily="18" charset="0"/>
                        <a:ea typeface="Cambria Math" panose="02040503050406030204" pitchFamily="18" charset="0"/>
                        <a:cs typeface="Times New Roman" panose="02020603050405020304" pitchFamily="18" charset="0"/>
                      </a:rPr>
                      <m:t>+</m:t>
                    </m:r>
                    <m:r>
                      <a:rPr lang="vi-VN" i="1">
                        <a:latin typeface="Cambria Math" panose="02040503050406030204" pitchFamily="18" charset="0"/>
                        <a:ea typeface="Cambria Math" panose="02040503050406030204" pitchFamily="18" charset="0"/>
                        <a:cs typeface="Times New Roman" panose="02020603050405020304" pitchFamily="18" charset="0"/>
                      </a:rPr>
                      <m:t>5</m:t>
                    </m:r>
                    <m:r>
                      <a:rPr lang="vi-VN" dirty="0">
                        <a:latin typeface="Cambria Math" panose="02040503050406030204" pitchFamily="18" charset="0"/>
                        <a:cs typeface="Times New Roman" panose="02020603050405020304" pitchFamily="18" charset="0"/>
                      </a:rPr>
                      <m:t>=</m:t>
                    </m:r>
                    <m:r>
                      <a:rPr lang="vi-VN" i="1" dirty="0">
                        <a:latin typeface="Cambria Math" panose="02040503050406030204" pitchFamily="18" charset="0"/>
                        <a:cs typeface="Times New Roman" panose="02020603050405020304" pitchFamily="18" charset="0"/>
                      </a:rPr>
                      <m:t>35</m:t>
                    </m:r>
                  </m:oMath>
                </a14:m>
                <a:endParaRPr lang="vi-VN" dirty="0">
                  <a:latin typeface="Times New Roman" panose="02020603050405020304" pitchFamily="18" charset="0"/>
                  <a:cs typeface="Times New Roman" panose="02020603050405020304" pitchFamily="18" charset="0"/>
                </a:endParaRPr>
              </a:p>
              <a:p>
                <a:pPr marL="285750"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Ô này chiếm giữ vùng không gian thẳng đứng từ [30 – 35].</a:t>
                </a:r>
              </a:p>
            </p:txBody>
          </p:sp>
        </mc:Choice>
        <mc:Fallback xmlns="">
          <p:sp>
            <p:nvSpPr>
              <p:cNvPr id="3" name="TextBox 5">
                <a:extLst>
                  <a:ext uri="{FF2B5EF4-FFF2-40B4-BE49-F238E27FC236}">
                    <a16:creationId xmlns:a16="http://schemas.microsoft.com/office/drawing/2014/main" id="{7D75D48B-A5A3-B1B8-E4D6-B437ABC51B74}"/>
                  </a:ext>
                </a:extLst>
              </p:cNvPr>
              <p:cNvSpPr txBox="1">
                <a:spLocks noRot="1" noChangeAspect="1" noMove="1" noResize="1" noEditPoints="1" noAdjustHandles="1" noChangeArrowheads="1" noChangeShapeType="1" noTextEdit="1"/>
              </p:cNvSpPr>
              <p:nvPr/>
            </p:nvSpPr>
            <p:spPr>
              <a:xfrm>
                <a:off x="1079999" y="2097332"/>
                <a:ext cx="4978772" cy="3541226"/>
              </a:xfrm>
              <a:prstGeom prst="rect">
                <a:avLst/>
              </a:prstGeom>
              <a:blipFill>
                <a:blip r:embed="rId2"/>
                <a:stretch>
                  <a:fillRect l="-734" t="-516" r="-1102" b="-1893"/>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B1E2B051-6FD7-CE75-C8E8-88F3FDAE6BCC}"/>
              </a:ext>
            </a:extLst>
          </p:cNvPr>
          <p:cNvGrpSpPr/>
          <p:nvPr/>
        </p:nvGrpSpPr>
        <p:grpSpPr>
          <a:xfrm>
            <a:off x="8199418" y="2680913"/>
            <a:ext cx="2327564" cy="1584798"/>
            <a:chOff x="7887854" y="2612096"/>
            <a:chExt cx="2327564" cy="1584798"/>
          </a:xfrm>
        </p:grpSpPr>
        <p:sp>
          <p:nvSpPr>
            <p:cNvPr id="7" name="Rectangle 6">
              <a:extLst>
                <a:ext uri="{FF2B5EF4-FFF2-40B4-BE49-F238E27FC236}">
                  <a16:creationId xmlns:a16="http://schemas.microsoft.com/office/drawing/2014/main" id="{FC62A7F9-E2F4-A248-2318-56937A4D66D1}"/>
                </a:ext>
              </a:extLst>
            </p:cNvPr>
            <p:cNvSpPr/>
            <p:nvPr/>
          </p:nvSpPr>
          <p:spPr>
            <a:xfrm>
              <a:off x="7887854" y="261209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2)</a:t>
              </a:r>
              <a:endParaRPr lang="en-US" dirty="0">
                <a:latin typeface="+mj-lt"/>
              </a:endParaRPr>
            </a:p>
          </p:txBody>
        </p:sp>
        <p:sp>
          <p:nvSpPr>
            <p:cNvPr id="8" name="Rectangle 7">
              <a:extLst>
                <a:ext uri="{FF2B5EF4-FFF2-40B4-BE49-F238E27FC236}">
                  <a16:creationId xmlns:a16="http://schemas.microsoft.com/office/drawing/2014/main" id="{D2939122-08A3-76ED-B1D8-878DF6AC162E}"/>
                </a:ext>
              </a:extLst>
            </p:cNvPr>
            <p:cNvSpPr/>
            <p:nvPr/>
          </p:nvSpPr>
          <p:spPr>
            <a:xfrm>
              <a:off x="7887854" y="3140364"/>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1)</a:t>
              </a:r>
              <a:endParaRPr lang="en-US" dirty="0">
                <a:latin typeface="+mj-lt"/>
              </a:endParaRPr>
            </a:p>
          </p:txBody>
        </p:sp>
        <p:sp>
          <p:nvSpPr>
            <p:cNvPr id="9" name="Rectangle 8">
              <a:extLst>
                <a:ext uri="{FF2B5EF4-FFF2-40B4-BE49-F238E27FC236}">
                  <a16:creationId xmlns:a16="http://schemas.microsoft.com/office/drawing/2014/main" id="{CA47704E-378D-93CC-1A90-53FAA165F3BB}"/>
                </a:ext>
              </a:extLst>
            </p:cNvPr>
            <p:cNvSpPr/>
            <p:nvPr/>
          </p:nvSpPr>
          <p:spPr>
            <a:xfrm>
              <a:off x="7887854" y="3668629"/>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(0, 0)</a:t>
              </a:r>
              <a:endParaRPr lang="en-US" dirty="0">
                <a:latin typeface="+mj-lt"/>
              </a:endParaRPr>
            </a:p>
          </p:txBody>
        </p:sp>
        <p:sp>
          <p:nvSpPr>
            <p:cNvPr id="10" name="Rectangle 9">
              <a:extLst>
                <a:ext uri="{FF2B5EF4-FFF2-40B4-BE49-F238E27FC236}">
                  <a16:creationId xmlns:a16="http://schemas.microsoft.com/office/drawing/2014/main" id="{29C292EF-27BE-C180-D720-AC139EE692A0}"/>
                </a:ext>
              </a:extLst>
            </p:cNvPr>
            <p:cNvSpPr/>
            <p:nvPr/>
          </p:nvSpPr>
          <p:spPr>
            <a:xfrm>
              <a:off x="9051636" y="3668628"/>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0)</a:t>
              </a:r>
              <a:endParaRPr lang="en-US" dirty="0">
                <a:latin typeface="+mj-lt"/>
              </a:endParaRPr>
            </a:p>
          </p:txBody>
        </p:sp>
        <p:sp>
          <p:nvSpPr>
            <p:cNvPr id="16" name="Rectangle 15">
              <a:extLst>
                <a:ext uri="{FF2B5EF4-FFF2-40B4-BE49-F238E27FC236}">
                  <a16:creationId xmlns:a16="http://schemas.microsoft.com/office/drawing/2014/main" id="{8B3E2308-43D7-CDF6-BF23-D579C7642BDA}"/>
                </a:ext>
              </a:extLst>
            </p:cNvPr>
            <p:cNvSpPr/>
            <p:nvPr/>
          </p:nvSpPr>
          <p:spPr>
            <a:xfrm>
              <a:off x="9051636" y="3140362"/>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1)</a:t>
              </a:r>
              <a:endParaRPr lang="en-US" dirty="0">
                <a:latin typeface="+mj-lt"/>
              </a:endParaRPr>
            </a:p>
          </p:txBody>
        </p:sp>
        <p:sp>
          <p:nvSpPr>
            <p:cNvPr id="17" name="Rectangle 16">
              <a:extLst>
                <a:ext uri="{FF2B5EF4-FFF2-40B4-BE49-F238E27FC236}">
                  <a16:creationId xmlns:a16="http://schemas.microsoft.com/office/drawing/2014/main" id="{BACD3685-CCA5-C9F0-0368-C09BCBB4D52C}"/>
                </a:ext>
              </a:extLst>
            </p:cNvPr>
            <p:cNvSpPr/>
            <p:nvPr/>
          </p:nvSpPr>
          <p:spPr>
            <a:xfrm>
              <a:off x="9051636" y="2612096"/>
              <a:ext cx="1163782" cy="528265"/>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mj-lt"/>
                </a:rPr>
                <a:t>Ô (1, 2)</a:t>
              </a:r>
              <a:endParaRPr lang="en-US" dirty="0">
                <a:latin typeface="+mj-lt"/>
              </a:endParaRPr>
            </a:p>
          </p:txBody>
        </p:sp>
      </p:grpSp>
      <p:cxnSp>
        <p:nvCxnSpPr>
          <p:cNvPr id="18" name="Straight Arrow Connector 17">
            <a:extLst>
              <a:ext uri="{FF2B5EF4-FFF2-40B4-BE49-F238E27FC236}">
                <a16:creationId xmlns:a16="http://schemas.microsoft.com/office/drawing/2014/main" id="{496B5CEB-FF79-14EB-047A-DEEC6E68C827}"/>
              </a:ext>
            </a:extLst>
          </p:cNvPr>
          <p:cNvCxnSpPr>
            <a:cxnSpLocks/>
          </p:cNvCxnSpPr>
          <p:nvPr/>
        </p:nvCxnSpPr>
        <p:spPr>
          <a:xfrm flipH="1" flipV="1">
            <a:off x="7561006" y="4265709"/>
            <a:ext cx="6384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2AAA48C-562C-D54A-7138-0F7FD237F7C6}"/>
              </a:ext>
            </a:extLst>
          </p:cNvPr>
          <p:cNvCxnSpPr>
            <a:cxnSpLocks/>
          </p:cNvCxnSpPr>
          <p:nvPr/>
        </p:nvCxnSpPr>
        <p:spPr>
          <a:xfrm>
            <a:off x="8199418" y="4265706"/>
            <a:ext cx="0" cy="668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06D9AED-8B95-47DF-9CAA-90B2698DAD67}"/>
              </a:ext>
            </a:extLst>
          </p:cNvPr>
          <p:cNvCxnSpPr>
            <a:cxnSpLocks/>
            <a:stCxn id="17" idx="0"/>
          </p:cNvCxnSpPr>
          <p:nvPr/>
        </p:nvCxnSpPr>
        <p:spPr>
          <a:xfrm flipH="1" flipV="1">
            <a:off x="9363200" y="2182761"/>
            <a:ext cx="581891" cy="49815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D875E8B-24E5-5AA8-711E-2210D2DB02EF}"/>
              </a:ext>
            </a:extLst>
          </p:cNvPr>
          <p:cNvSpPr txBox="1"/>
          <p:nvPr/>
        </p:nvSpPr>
        <p:spPr>
          <a:xfrm>
            <a:off x="8070258" y="1742079"/>
            <a:ext cx="2585884" cy="307777"/>
          </a:xfrm>
          <a:prstGeom prst="rect">
            <a:avLst/>
          </a:prstGeom>
          <a:noFill/>
        </p:spPr>
        <p:txBody>
          <a:bodyPr wrap="square" rtlCol="0">
            <a:spAutoFit/>
          </a:bodyPr>
          <a:lstStyle/>
          <a:p>
            <a:pPr algn="ctr"/>
            <a:r>
              <a:rPr lang="vi-VN" sz="1400" dirty="0">
                <a:solidFill>
                  <a:srgbClr val="FF0000"/>
                </a:solidFill>
                <a:latin typeface="+mj-lt"/>
              </a:rPr>
              <a:t>Ô (1, 2) có cx là 1, cy là 2</a:t>
            </a:r>
            <a:endParaRPr lang="en-US" sz="1400" dirty="0">
              <a:solidFill>
                <a:srgbClr val="FF0000"/>
              </a:solidFill>
              <a:latin typeface="+mj-lt"/>
            </a:endParaRPr>
          </a:p>
        </p:txBody>
      </p:sp>
      <p:cxnSp>
        <p:nvCxnSpPr>
          <p:cNvPr id="35" name="Straight Arrow Connector 34">
            <a:extLst>
              <a:ext uri="{FF2B5EF4-FFF2-40B4-BE49-F238E27FC236}">
                <a16:creationId xmlns:a16="http://schemas.microsoft.com/office/drawing/2014/main" id="{5368AF8E-0406-4FDC-233E-F673A8701E4D}"/>
              </a:ext>
            </a:extLst>
          </p:cNvPr>
          <p:cNvCxnSpPr>
            <a:cxnSpLocks/>
          </p:cNvCxnSpPr>
          <p:nvPr/>
        </p:nvCxnSpPr>
        <p:spPr>
          <a:xfrm>
            <a:off x="10697497" y="3223880"/>
            <a:ext cx="0" cy="5135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7AD390B-9340-5EC2-5331-2F5FCB07F56B}"/>
                  </a:ext>
                </a:extLst>
              </p:cNvPr>
              <p:cNvSpPr txBox="1"/>
              <p:nvPr/>
            </p:nvSpPr>
            <p:spPr>
              <a:xfrm>
                <a:off x="6640663" y="4365074"/>
                <a:ext cx="11995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y</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r>
                        <a:rPr lang="vi-VN" i="1">
                          <a:latin typeface="Cambria Math" panose="02040503050406030204" pitchFamily="18" charset="0"/>
                        </a:rPr>
                        <m:t>20</m:t>
                      </m:r>
                    </m:oMath>
                  </m:oMathPara>
                </a14:m>
                <a:endParaRPr lang="en-US" dirty="0"/>
              </a:p>
            </p:txBody>
          </p:sp>
        </mc:Choice>
        <mc:Fallback xmlns="">
          <p:sp>
            <p:nvSpPr>
              <p:cNvPr id="12" name="TextBox 11">
                <a:extLst>
                  <a:ext uri="{FF2B5EF4-FFF2-40B4-BE49-F238E27FC236}">
                    <a16:creationId xmlns:a16="http://schemas.microsoft.com/office/drawing/2014/main" id="{17AD390B-9340-5EC2-5331-2F5FCB07F56B}"/>
                  </a:ext>
                </a:extLst>
              </p:cNvPr>
              <p:cNvSpPr txBox="1">
                <a:spLocks noRot="1" noChangeAspect="1" noMove="1" noResize="1" noEditPoints="1" noAdjustHandles="1" noChangeArrowheads="1" noChangeShapeType="1" noTextEdit="1"/>
              </p:cNvSpPr>
              <p:nvPr/>
            </p:nvSpPr>
            <p:spPr>
              <a:xfrm>
                <a:off x="6640663" y="4365074"/>
                <a:ext cx="1199534" cy="369332"/>
              </a:xfrm>
              <a:prstGeom prst="rect">
                <a:avLst/>
              </a:prstGeom>
              <a:blipFill>
                <a:blip r:embed="rId3"/>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EB9D86B-B8E9-0277-C325-C32EAAC969A7}"/>
                  </a:ext>
                </a:extLst>
              </p:cNvPr>
              <p:cNvSpPr txBox="1"/>
              <p:nvPr/>
            </p:nvSpPr>
            <p:spPr>
              <a:xfrm>
                <a:off x="7452166" y="5033898"/>
                <a:ext cx="149450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x</m:t>
                          </m:r>
                        </m:e>
                        <m:sub>
                          <m:r>
                            <m:rPr>
                              <m:sty m:val="p"/>
                            </m:rPr>
                            <a:rPr lang="vi-VN" i="1">
                              <a:latin typeface="Cambria Math" panose="02040503050406030204" pitchFamily="18" charset="0"/>
                            </a:rPr>
                            <m:t>min</m:t>
                          </m:r>
                        </m:sub>
                      </m:sSub>
                      <m:r>
                        <a:rPr lang="vi-VN" b="0" i="1" smtClean="0">
                          <a:latin typeface="Cambria Math" panose="02040503050406030204" pitchFamily="18" charset="0"/>
                        </a:rPr>
                        <m:t>=</m:t>
                      </m:r>
                      <m:r>
                        <a:rPr lang="vi-VN" i="1">
                          <a:latin typeface="Cambria Math" panose="02040503050406030204" pitchFamily="18" charset="0"/>
                        </a:rPr>
                        <m:t>10</m:t>
                      </m:r>
                    </m:oMath>
                  </m:oMathPara>
                </a14:m>
                <a:endParaRPr lang="en-US" dirty="0"/>
              </a:p>
            </p:txBody>
          </p:sp>
        </mc:Choice>
        <mc:Fallback xmlns="">
          <p:sp>
            <p:nvSpPr>
              <p:cNvPr id="14" name="TextBox 13">
                <a:extLst>
                  <a:ext uri="{FF2B5EF4-FFF2-40B4-BE49-F238E27FC236}">
                    <a16:creationId xmlns:a16="http://schemas.microsoft.com/office/drawing/2014/main" id="{3EB9D86B-B8E9-0277-C325-C32EAAC969A7}"/>
                  </a:ext>
                </a:extLst>
              </p:cNvPr>
              <p:cNvSpPr txBox="1">
                <a:spLocks noRot="1" noChangeAspect="1" noMove="1" noResize="1" noEditPoints="1" noAdjustHandles="1" noChangeArrowheads="1" noChangeShapeType="1" noTextEdit="1"/>
              </p:cNvSpPr>
              <p:nvPr/>
            </p:nvSpPr>
            <p:spPr>
              <a:xfrm>
                <a:off x="7452166" y="5033898"/>
                <a:ext cx="1494504" cy="369332"/>
              </a:xfrm>
              <a:prstGeom prst="rect">
                <a:avLst/>
              </a:prstGeom>
              <a:blipFill>
                <a:blip r:embed="rId4"/>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8F2BB849-6647-B346-307A-AC364C7D101D}"/>
              </a:ext>
            </a:extLst>
          </p:cNvPr>
          <p:cNvSpPr txBox="1"/>
          <p:nvPr/>
        </p:nvSpPr>
        <p:spPr>
          <a:xfrm>
            <a:off x="10636045" y="3319422"/>
            <a:ext cx="1139227" cy="307777"/>
          </a:xfrm>
          <a:prstGeom prst="rect">
            <a:avLst/>
          </a:prstGeom>
          <a:noFill/>
        </p:spPr>
        <p:txBody>
          <a:bodyPr wrap="square" rtlCol="0">
            <a:spAutoFit/>
          </a:bodyPr>
          <a:lstStyle/>
          <a:p>
            <a:pPr algn="ctr"/>
            <a:r>
              <a:rPr lang="en-US" sz="1400" dirty="0" err="1">
                <a:latin typeface="Times New Roman" panose="02020603050405020304" pitchFamily="18" charset="0"/>
                <a:cs typeface="Times New Roman" panose="02020603050405020304" pitchFamily="18" charset="0"/>
              </a:rPr>
              <a:t>cell_size</a:t>
            </a:r>
            <a:r>
              <a:rPr lang="vi-VN" sz="1400" dirty="0">
                <a:latin typeface="Times New Roman" panose="02020603050405020304" pitchFamily="18" charset="0"/>
                <a:cs typeface="Times New Roman" panose="02020603050405020304" pitchFamily="18" charset="0"/>
              </a:rPr>
              <a:t> = 5</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32952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E7BAA-A02C-62DD-7C7F-E5E2881898C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D1F667-0E94-73A8-36FB-D1203F1EED0F}"/>
              </a:ext>
            </a:extLst>
          </p:cNvPr>
          <p:cNvSpPr>
            <a:spLocks noGrp="1"/>
          </p:cNvSpPr>
          <p:nvPr>
            <p:ph type="sldNum" sz="quarter" idx="12"/>
          </p:nvPr>
        </p:nvSpPr>
        <p:spPr/>
        <p:txBody>
          <a:bodyPr/>
          <a:lstStyle/>
          <a:p>
            <a:fld id="{9B618960-8005-486C-9A75-10CB2AAC16F9}" type="slidenum">
              <a:rPr lang="en-US" smtClean="0"/>
              <a:t>46</a:t>
            </a:fld>
            <a:endParaRPr lang="en-US" dirty="0"/>
          </a:p>
        </p:txBody>
      </p:sp>
      <p:sp>
        <p:nvSpPr>
          <p:cNvPr id="5" name="TextBox 3">
            <a:extLst>
              <a:ext uri="{FF2B5EF4-FFF2-40B4-BE49-F238E27FC236}">
                <a16:creationId xmlns:a16="http://schemas.microsoft.com/office/drawing/2014/main" id="{3DC653DF-9EAA-04DB-8AFB-195C084DF4BF}"/>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EFFC9727-642D-D4CD-08DB-DCAF251A956E}"/>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0C660B29-88B2-8BE8-F35D-0AE455B36AE9}"/>
                  </a:ext>
                </a:extLst>
              </p:cNvPr>
              <p:cNvSpPr txBox="1"/>
              <p:nvPr/>
            </p:nvSpPr>
            <p:spPr>
              <a:xfrm>
                <a:off x="1079999" y="2097332"/>
                <a:ext cx="5146709" cy="2909643"/>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Vai </a:t>
                </a:r>
                <a:r>
                  <a:rPr lang="vi-VN" dirty="0">
                    <a:latin typeface="Times New Roman" panose="02020603050405020304" pitchFamily="18" charset="0"/>
                    <a:cs typeface="Times New Roman" panose="02020603050405020304" pitchFamily="18" charset="0"/>
                  </a:rPr>
                  <a:t>trò của biên ô trong cơ chế cắt tỉa (Pruning)</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Sau khi tính được 4 đường biên </a:t>
                </a:r>
                <a14:m>
                  <m:oMath xmlns:m="http://schemas.openxmlformats.org/officeDocument/2006/math">
                    <m:d>
                      <m:dPr>
                        <m:begChr m:val="["/>
                        <m:endChr m:val="]"/>
                        <m:ctrlPr>
                          <a:rPr lang="vi-VN" i="1" smtClean="0">
                            <a:latin typeface="Cambria Math" panose="02040503050406030204" pitchFamily="18" charset="0"/>
                            <a:cs typeface="Times New Roman" panose="02020603050405020304" pitchFamily="18" charset="0"/>
                          </a:rPr>
                        </m:ctrlPr>
                      </m:dPr>
                      <m:e>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1</m:t>
                            </m:r>
                          </m:sub>
                        </m:sSub>
                        <m:r>
                          <a:rPr lang="vi-VN" b="0" i="1" smtClean="0">
                            <a:latin typeface="Cambria Math" panose="02040503050406030204" pitchFamily="18" charset="0"/>
                            <a:cs typeface="Times New Roman" panose="02020603050405020304" pitchFamily="18" charset="0"/>
                          </a:rPr>
                          <m:t>,</m:t>
                        </m:r>
                        <m:sSub>
                          <m:sSubPr>
                            <m:ctrlPr>
                              <a:rPr lang="vi-VN" b="0"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x</m:t>
                            </m:r>
                          </m:e>
                          <m:sub>
                            <m:r>
                              <a:rPr lang="vi-VN" i="1">
                                <a:latin typeface="Cambria Math" panose="02040503050406030204" pitchFamily="18" charset="0"/>
                                <a:cs typeface="Times New Roman" panose="02020603050405020304" pitchFamily="18" charset="0"/>
                              </a:rPr>
                              <m:t>2</m:t>
                            </m:r>
                          </m:sub>
                        </m:sSub>
                      </m:e>
                    </m:d>
                  </m:oMath>
                </a14:m>
                <a:r>
                  <a:rPr lang="vi-VN" dirty="0">
                    <a:latin typeface="Times New Roman" panose="02020603050405020304" pitchFamily="18" charset="0"/>
                    <a:cs typeface="Times New Roman" panose="02020603050405020304" pitchFamily="18" charset="0"/>
                  </a:rPr>
                  <a:t> và </a:t>
                </a:r>
                <a14:m>
                  <m:oMath xmlns:m="http://schemas.openxmlformats.org/officeDocument/2006/math">
                    <m:d>
                      <m:dPr>
                        <m:begChr m:val="["/>
                        <m:endChr m:val="]"/>
                        <m:ctrlPr>
                          <a:rPr lang="vi-VN" i="1" smtClean="0">
                            <a:latin typeface="Cambria Math" panose="02040503050406030204" pitchFamily="18" charset="0"/>
                            <a:cs typeface="Times New Roman" panose="02020603050405020304" pitchFamily="18" charset="0"/>
                          </a:rPr>
                        </m:ctrlPr>
                      </m:dPr>
                      <m:e>
                        <m:sSub>
                          <m:sSubPr>
                            <m:ctrlPr>
                              <a:rPr lang="vi-VN"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1</m:t>
                            </m:r>
                          </m:sub>
                        </m:sSub>
                        <m:r>
                          <a:rPr lang="vi-VN" b="0" i="1" smtClean="0">
                            <a:latin typeface="Cambria Math" panose="02040503050406030204" pitchFamily="18" charset="0"/>
                            <a:cs typeface="Times New Roman" panose="02020603050405020304" pitchFamily="18" charset="0"/>
                          </a:rPr>
                          <m:t>,</m:t>
                        </m:r>
                        <m:sSub>
                          <m:sSubPr>
                            <m:ctrlPr>
                              <a:rPr lang="vi-VN" b="0" i="1" smtClean="0">
                                <a:latin typeface="Cambria Math" panose="02040503050406030204" pitchFamily="18" charset="0"/>
                                <a:cs typeface="Times New Roman" panose="02020603050405020304" pitchFamily="18" charset="0"/>
                              </a:rPr>
                            </m:ctrlPr>
                          </m:sSubPr>
                          <m:e>
                            <m:r>
                              <m:rPr>
                                <m:sty m:val="p"/>
                              </m:rPr>
                              <a:rPr lang="vi-VN" i="1">
                                <a:latin typeface="Cambria Math" panose="02040503050406030204" pitchFamily="18" charset="0"/>
                                <a:cs typeface="Times New Roman" panose="02020603050405020304" pitchFamily="18" charset="0"/>
                              </a:rPr>
                              <m:t>y</m:t>
                            </m:r>
                          </m:e>
                          <m:sub>
                            <m:r>
                              <a:rPr lang="vi-VN" i="1">
                                <a:latin typeface="Cambria Math" panose="02040503050406030204" pitchFamily="18" charset="0"/>
                                <a:cs typeface="Times New Roman" panose="02020603050405020304" pitchFamily="18" charset="0"/>
                              </a:rPr>
                              <m:t>2</m:t>
                            </m:r>
                          </m:sub>
                        </m:sSub>
                      </m:e>
                    </m:d>
                  </m:oMath>
                </a14:m>
                <a:r>
                  <a:rPr lang="vi-VN" dirty="0">
                    <a:latin typeface="Times New Roman" panose="02020603050405020304" pitchFamily="18" charset="0"/>
                    <a:cs typeface="Times New Roman" panose="02020603050405020304" pitchFamily="18" charset="0"/>
                  </a:rPr>
                  <a:t> của ô, thuật toán sẽ dùng chúng để làm gì?</a:t>
                </a:r>
              </a:p>
              <a:p>
                <a:pPr algn="just">
                  <a:lnSpc>
                    <a:spcPct val="114000"/>
                  </a:lnSpc>
                </a:pP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Tính khoảng cách ngắn nhất (min_possible)</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Thuật toán sẽ so sánh tọa độ của một điểm hiện tại point(px, py) với 4 đường biên này để tìm ra khoảng cách ngắn nhất từ điểm đó tới rìa của ô.</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Hình bên mô tả cách tính khoảng cách ngắn nhất từ một điểm đến một ô</a:t>
                </a:r>
              </a:p>
            </p:txBody>
          </p:sp>
        </mc:Choice>
        <mc:Fallback xmlns="">
          <p:sp>
            <p:nvSpPr>
              <p:cNvPr id="3" name="TextBox 5">
                <a:extLst>
                  <a:ext uri="{FF2B5EF4-FFF2-40B4-BE49-F238E27FC236}">
                    <a16:creationId xmlns:a16="http://schemas.microsoft.com/office/drawing/2014/main" id="{0C660B29-88B2-8BE8-F35D-0AE455B36AE9}"/>
                  </a:ext>
                </a:extLst>
              </p:cNvPr>
              <p:cNvSpPr txBox="1">
                <a:spLocks noRot="1" noChangeAspect="1" noMove="1" noResize="1" noEditPoints="1" noAdjustHandles="1" noChangeArrowheads="1" noChangeShapeType="1" noTextEdit="1"/>
              </p:cNvSpPr>
              <p:nvPr/>
            </p:nvSpPr>
            <p:spPr>
              <a:xfrm>
                <a:off x="1079999" y="2097332"/>
                <a:ext cx="5146709" cy="2909643"/>
              </a:xfrm>
              <a:prstGeom prst="rect">
                <a:avLst/>
              </a:prstGeom>
              <a:blipFill>
                <a:blip r:embed="rId2"/>
                <a:stretch>
                  <a:fillRect l="-711" t="-629" r="-1066" b="-2516"/>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911F4C61-C75D-E983-0C53-59BB7FB59051}"/>
              </a:ext>
            </a:extLst>
          </p:cNvPr>
          <p:cNvSpPr/>
          <p:nvPr/>
        </p:nvSpPr>
        <p:spPr>
          <a:xfrm>
            <a:off x="7300448" y="3549251"/>
            <a:ext cx="2743201" cy="146779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Bounding Box</a:t>
            </a:r>
            <a:endParaRPr lang="en-US" dirty="0"/>
          </a:p>
        </p:txBody>
      </p:sp>
      <p:sp>
        <p:nvSpPr>
          <p:cNvPr id="51" name="Flowchart: Connector 50">
            <a:extLst>
              <a:ext uri="{FF2B5EF4-FFF2-40B4-BE49-F238E27FC236}">
                <a16:creationId xmlns:a16="http://schemas.microsoft.com/office/drawing/2014/main" id="{55EB1D95-CEB1-B02A-6A72-A36A2D10E8B5}"/>
              </a:ext>
            </a:extLst>
          </p:cNvPr>
          <p:cNvSpPr/>
          <p:nvPr/>
        </p:nvSpPr>
        <p:spPr>
          <a:xfrm>
            <a:off x="10726025" y="4219236"/>
            <a:ext cx="127819" cy="12781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44A1931F-4F26-D7A4-C868-CBE8C0AE9177}"/>
              </a:ext>
            </a:extLst>
          </p:cNvPr>
          <p:cNvCxnSpPr>
            <a:cxnSpLocks/>
            <a:stCxn id="50" idx="3"/>
          </p:cNvCxnSpPr>
          <p:nvPr/>
        </p:nvCxnSpPr>
        <p:spPr>
          <a:xfrm>
            <a:off x="10043649" y="4283147"/>
            <a:ext cx="663459"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CB12286-FE5C-C198-23A9-09E964A6997A}"/>
                  </a:ext>
                </a:extLst>
              </p:cNvPr>
              <p:cNvSpPr txBox="1"/>
              <p:nvPr/>
            </p:nvSpPr>
            <p:spPr>
              <a:xfrm>
                <a:off x="7032248" y="5368714"/>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a:rPr lang="vi-VN" sz="1400" i="1">
                              <a:latin typeface="Cambria Math" panose="02040503050406030204" pitchFamily="18" charset="0"/>
                            </a:rPr>
                            <m:t>2</m:t>
                          </m:r>
                        </m:sub>
                      </m:sSub>
                    </m:oMath>
                  </m:oMathPara>
                </a14:m>
                <a:endParaRPr lang="en-US" sz="1400" dirty="0"/>
              </a:p>
            </p:txBody>
          </p:sp>
        </mc:Choice>
        <mc:Fallback xmlns="">
          <p:sp>
            <p:nvSpPr>
              <p:cNvPr id="53" name="TextBox 52">
                <a:extLst>
                  <a:ext uri="{FF2B5EF4-FFF2-40B4-BE49-F238E27FC236}">
                    <a16:creationId xmlns:a16="http://schemas.microsoft.com/office/drawing/2014/main" id="{0CB12286-FE5C-C198-23A9-09E964A6997A}"/>
                  </a:ext>
                </a:extLst>
              </p:cNvPr>
              <p:cNvSpPr txBox="1">
                <a:spLocks noRot="1" noChangeAspect="1" noMove="1" noResize="1" noEditPoints="1" noAdjustHandles="1" noChangeArrowheads="1" noChangeShapeType="1" noTextEdit="1"/>
              </p:cNvSpPr>
              <p:nvPr/>
            </p:nvSpPr>
            <p:spPr>
              <a:xfrm>
                <a:off x="7032248" y="5368714"/>
                <a:ext cx="629264"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5BA6DCB-978C-FFE5-683C-5222B6EBE5AF}"/>
                  </a:ext>
                </a:extLst>
              </p:cNvPr>
              <p:cNvSpPr txBox="1"/>
              <p:nvPr/>
            </p:nvSpPr>
            <p:spPr>
              <a:xfrm>
                <a:off x="9766044" y="5436644"/>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a:rPr lang="vi-VN" sz="1400" i="1">
                              <a:latin typeface="Cambria Math" panose="02040503050406030204" pitchFamily="18" charset="0"/>
                            </a:rPr>
                            <m:t>2</m:t>
                          </m:r>
                        </m:sub>
                      </m:sSub>
                    </m:oMath>
                  </m:oMathPara>
                </a14:m>
                <a:endParaRPr lang="en-US" sz="1400" dirty="0"/>
              </a:p>
            </p:txBody>
          </p:sp>
        </mc:Choice>
        <mc:Fallback xmlns="">
          <p:sp>
            <p:nvSpPr>
              <p:cNvPr id="54" name="TextBox 53">
                <a:extLst>
                  <a:ext uri="{FF2B5EF4-FFF2-40B4-BE49-F238E27FC236}">
                    <a16:creationId xmlns:a16="http://schemas.microsoft.com/office/drawing/2014/main" id="{85BA6DCB-978C-FFE5-683C-5222B6EBE5AF}"/>
                  </a:ext>
                </a:extLst>
              </p:cNvPr>
              <p:cNvSpPr txBox="1">
                <a:spLocks noRot="1" noChangeAspect="1" noMove="1" noResize="1" noEditPoints="1" noAdjustHandles="1" noChangeArrowheads="1" noChangeShapeType="1" noTextEdit="1"/>
              </p:cNvSpPr>
              <p:nvPr/>
            </p:nvSpPr>
            <p:spPr>
              <a:xfrm>
                <a:off x="9766044" y="5436644"/>
                <a:ext cx="629264"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9488A27-AA8C-3AD5-48AB-7C171AAB1B1B}"/>
                  </a:ext>
                </a:extLst>
              </p:cNvPr>
              <p:cNvSpPr txBox="1"/>
              <p:nvPr/>
            </p:nvSpPr>
            <p:spPr>
              <a:xfrm>
                <a:off x="6402984" y="4788648"/>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a:rPr lang="vi-VN" sz="1400" i="1">
                              <a:latin typeface="Cambria Math" panose="02040503050406030204" pitchFamily="18" charset="0"/>
                            </a:rPr>
                            <m:t>1</m:t>
                          </m:r>
                        </m:sub>
                      </m:sSub>
                    </m:oMath>
                  </m:oMathPara>
                </a14:m>
                <a:endParaRPr lang="en-US" sz="1400" dirty="0"/>
              </a:p>
            </p:txBody>
          </p:sp>
        </mc:Choice>
        <mc:Fallback xmlns="">
          <p:sp>
            <p:nvSpPr>
              <p:cNvPr id="55" name="TextBox 54">
                <a:extLst>
                  <a:ext uri="{FF2B5EF4-FFF2-40B4-BE49-F238E27FC236}">
                    <a16:creationId xmlns:a16="http://schemas.microsoft.com/office/drawing/2014/main" id="{F9488A27-AA8C-3AD5-48AB-7C171AAB1B1B}"/>
                  </a:ext>
                </a:extLst>
              </p:cNvPr>
              <p:cNvSpPr txBox="1">
                <a:spLocks noRot="1" noChangeAspect="1" noMove="1" noResize="1" noEditPoints="1" noAdjustHandles="1" noChangeArrowheads="1" noChangeShapeType="1" noTextEdit="1"/>
              </p:cNvSpPr>
              <p:nvPr/>
            </p:nvSpPr>
            <p:spPr>
              <a:xfrm>
                <a:off x="6402984" y="4788648"/>
                <a:ext cx="629264" cy="307777"/>
              </a:xfrm>
              <a:prstGeom prst="rect">
                <a:avLst/>
              </a:prstGeom>
              <a:blipFill>
                <a:blip r:embed="rId4"/>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7B45986-D88C-B513-4187-95DD99ADA0B5}"/>
                  </a:ext>
                </a:extLst>
              </p:cNvPr>
              <p:cNvSpPr txBox="1"/>
              <p:nvPr/>
            </p:nvSpPr>
            <p:spPr>
              <a:xfrm>
                <a:off x="6396438" y="3374030"/>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a:rPr lang="vi-VN" sz="1400" i="1">
                              <a:latin typeface="Cambria Math" panose="02040503050406030204" pitchFamily="18" charset="0"/>
                            </a:rPr>
                            <m:t>2</m:t>
                          </m:r>
                        </m:sub>
                      </m:sSub>
                    </m:oMath>
                  </m:oMathPara>
                </a14:m>
                <a:endParaRPr lang="en-US" sz="1400" dirty="0"/>
              </a:p>
            </p:txBody>
          </p:sp>
        </mc:Choice>
        <mc:Fallback xmlns="">
          <p:sp>
            <p:nvSpPr>
              <p:cNvPr id="56" name="TextBox 55">
                <a:extLst>
                  <a:ext uri="{FF2B5EF4-FFF2-40B4-BE49-F238E27FC236}">
                    <a16:creationId xmlns:a16="http://schemas.microsoft.com/office/drawing/2014/main" id="{D7B45986-D88C-B513-4187-95DD99ADA0B5}"/>
                  </a:ext>
                </a:extLst>
              </p:cNvPr>
              <p:cNvSpPr txBox="1">
                <a:spLocks noRot="1" noChangeAspect="1" noMove="1" noResize="1" noEditPoints="1" noAdjustHandles="1" noChangeArrowheads="1" noChangeShapeType="1" noTextEdit="1"/>
              </p:cNvSpPr>
              <p:nvPr/>
            </p:nvSpPr>
            <p:spPr>
              <a:xfrm>
                <a:off x="6396438" y="3374030"/>
                <a:ext cx="629264" cy="307777"/>
              </a:xfrm>
              <a:prstGeom prst="rect">
                <a:avLst/>
              </a:prstGeom>
              <a:blipFill>
                <a:blip r:embed="rId5"/>
                <a:stretch>
                  <a:fillRect/>
                </a:stretch>
              </a:blipFill>
            </p:spPr>
            <p:txBody>
              <a:bodyPr/>
              <a:lstStyle/>
              <a:p>
                <a:r>
                  <a:rPr lang="en-US">
                    <a:noFill/>
                  </a:rPr>
                  <a:t> </a:t>
                </a:r>
              </a:p>
            </p:txBody>
          </p:sp>
        </mc:Fallback>
      </mc:AlternateContent>
      <p:grpSp>
        <p:nvGrpSpPr>
          <p:cNvPr id="57" name="Group 56">
            <a:extLst>
              <a:ext uri="{FF2B5EF4-FFF2-40B4-BE49-F238E27FC236}">
                <a16:creationId xmlns:a16="http://schemas.microsoft.com/office/drawing/2014/main" id="{10E4CD55-98E2-31C7-90D1-40AE9E1AD31C}"/>
              </a:ext>
            </a:extLst>
          </p:cNvPr>
          <p:cNvGrpSpPr/>
          <p:nvPr/>
        </p:nvGrpSpPr>
        <p:grpSpPr>
          <a:xfrm>
            <a:off x="6910736" y="2574967"/>
            <a:ext cx="3542504" cy="2761267"/>
            <a:chOff x="2197511" y="651698"/>
            <a:chExt cx="5014451" cy="3908602"/>
          </a:xfrm>
        </p:grpSpPr>
        <p:cxnSp>
          <p:nvCxnSpPr>
            <p:cNvPr id="58" name="Straight Arrow Connector 57">
              <a:extLst>
                <a:ext uri="{FF2B5EF4-FFF2-40B4-BE49-F238E27FC236}">
                  <a16:creationId xmlns:a16="http://schemas.microsoft.com/office/drawing/2014/main" id="{2E694A3C-BBAA-4CFE-DD76-29209BD969E1}"/>
                </a:ext>
              </a:extLst>
            </p:cNvPr>
            <p:cNvCxnSpPr>
              <a:cxnSpLocks/>
            </p:cNvCxnSpPr>
            <p:nvPr/>
          </p:nvCxnSpPr>
          <p:spPr>
            <a:xfrm>
              <a:off x="2197511" y="4548600"/>
              <a:ext cx="50144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8AA99C3D-4163-2FF3-6466-E1DF990ECA5E}"/>
                </a:ext>
              </a:extLst>
            </p:cNvPr>
            <p:cNvCxnSpPr>
              <a:cxnSpLocks/>
            </p:cNvCxnSpPr>
            <p:nvPr/>
          </p:nvCxnSpPr>
          <p:spPr>
            <a:xfrm flipH="1" flipV="1">
              <a:off x="2197511" y="651698"/>
              <a:ext cx="4915" cy="39086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60" name="Straight Arrow Connector 59">
            <a:extLst>
              <a:ext uri="{FF2B5EF4-FFF2-40B4-BE49-F238E27FC236}">
                <a16:creationId xmlns:a16="http://schemas.microsoft.com/office/drawing/2014/main" id="{4EB4A11C-C9C7-4018-909C-4FB915AD1FE9}"/>
              </a:ext>
            </a:extLst>
          </p:cNvPr>
          <p:cNvCxnSpPr>
            <a:cxnSpLocks/>
          </p:cNvCxnSpPr>
          <p:nvPr/>
        </p:nvCxnSpPr>
        <p:spPr>
          <a:xfrm flipH="1">
            <a:off x="6910736" y="5011662"/>
            <a:ext cx="389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2EBD9D96-10D8-4DE0-F512-65ED7999C87D}"/>
              </a:ext>
            </a:extLst>
          </p:cNvPr>
          <p:cNvCxnSpPr>
            <a:cxnSpLocks/>
          </p:cNvCxnSpPr>
          <p:nvPr/>
        </p:nvCxnSpPr>
        <p:spPr>
          <a:xfrm>
            <a:off x="7300448" y="5011662"/>
            <a:ext cx="0" cy="3245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3F909A39-7288-DA89-CB3F-A9801241B0DF}"/>
              </a:ext>
            </a:extLst>
          </p:cNvPr>
          <p:cNvCxnSpPr>
            <a:cxnSpLocks/>
          </p:cNvCxnSpPr>
          <p:nvPr/>
        </p:nvCxnSpPr>
        <p:spPr>
          <a:xfrm flipH="1">
            <a:off x="6910736" y="3562379"/>
            <a:ext cx="389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FD6D3539-9716-8580-6CF5-59B6DF0C7961}"/>
              </a:ext>
            </a:extLst>
          </p:cNvPr>
          <p:cNvCxnSpPr>
            <a:cxnSpLocks/>
          </p:cNvCxnSpPr>
          <p:nvPr/>
        </p:nvCxnSpPr>
        <p:spPr>
          <a:xfrm flipH="1">
            <a:off x="10038681" y="5011662"/>
            <a:ext cx="4968" cy="336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E4ACF74-906B-DC78-A2C8-EFA50F9F05BE}"/>
                  </a:ext>
                </a:extLst>
              </p:cNvPr>
              <p:cNvSpPr txBox="1"/>
              <p:nvPr/>
            </p:nvSpPr>
            <p:spPr>
              <a:xfrm>
                <a:off x="10872761" y="4129256"/>
                <a:ext cx="1120876" cy="307777"/>
              </a:xfrm>
              <a:prstGeom prst="rect">
                <a:avLst/>
              </a:prstGeom>
              <a:noFill/>
            </p:spPr>
            <p:txBody>
              <a:bodyPr wrap="square" rtlCol="0">
                <a:spAutoFit/>
              </a:bodyPr>
              <a:lstStyle/>
              <a:p>
                <a:r>
                  <a:rPr lang="vi-VN" sz="1400" dirty="0"/>
                  <a:t>A(</a:t>
                </a:r>
                <a14:m>
                  <m:oMath xmlns:m="http://schemas.openxmlformats.org/officeDocument/2006/math">
                    <m:sSub>
                      <m:sSubPr>
                        <m:ctrlPr>
                          <a:rPr lang="vi-VN"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A</m:t>
                        </m:r>
                      </m:sub>
                    </m:sSub>
                    <m:r>
                      <a:rPr lang="vi-VN" sz="1400" b="0" i="1" smtClean="0">
                        <a:latin typeface="Cambria Math" panose="02040503050406030204" pitchFamily="18" charset="0"/>
                      </a:rPr>
                      <m:t>,</m:t>
                    </m:r>
                    <m:sSub>
                      <m:sSubPr>
                        <m:ctrlPr>
                          <a:rPr lang="vi-VN" sz="1400" b="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A</m:t>
                        </m:r>
                      </m:sub>
                    </m:sSub>
                  </m:oMath>
                </a14:m>
                <a:r>
                  <a:rPr lang="vi-VN" sz="1400" dirty="0"/>
                  <a:t>)</a:t>
                </a:r>
                <a:endParaRPr lang="en-US" sz="1400" dirty="0"/>
              </a:p>
            </p:txBody>
          </p:sp>
        </mc:Choice>
        <mc:Fallback xmlns="">
          <p:sp>
            <p:nvSpPr>
              <p:cNvPr id="64" name="TextBox 63">
                <a:extLst>
                  <a:ext uri="{FF2B5EF4-FFF2-40B4-BE49-F238E27FC236}">
                    <a16:creationId xmlns:a16="http://schemas.microsoft.com/office/drawing/2014/main" id="{FE4ACF74-906B-DC78-A2C8-EFA50F9F05BE}"/>
                  </a:ext>
                </a:extLst>
              </p:cNvPr>
              <p:cNvSpPr txBox="1">
                <a:spLocks noRot="1" noChangeAspect="1" noMove="1" noResize="1" noEditPoints="1" noAdjustHandles="1" noChangeArrowheads="1" noChangeShapeType="1" noTextEdit="1"/>
              </p:cNvSpPr>
              <p:nvPr/>
            </p:nvSpPr>
            <p:spPr>
              <a:xfrm>
                <a:off x="10872761" y="4129256"/>
                <a:ext cx="1120876" cy="307777"/>
              </a:xfrm>
              <a:prstGeom prst="rect">
                <a:avLst/>
              </a:prstGeom>
              <a:blipFill>
                <a:blip r:embed="rId6"/>
                <a:stretch>
                  <a:fillRect l="-1639" t="-1961"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493A208-39A3-9600-F79C-1AE8BFA14F7F}"/>
                  </a:ext>
                </a:extLst>
              </p:cNvPr>
              <p:cNvSpPr txBox="1"/>
              <p:nvPr/>
            </p:nvSpPr>
            <p:spPr>
              <a:xfrm>
                <a:off x="10970035" y="2395303"/>
                <a:ext cx="1120876" cy="307777"/>
              </a:xfrm>
              <a:prstGeom prst="rect">
                <a:avLst/>
              </a:prstGeom>
              <a:noFill/>
            </p:spPr>
            <p:txBody>
              <a:bodyPr wrap="square" rtlCol="0">
                <a:spAutoFit/>
              </a:bodyPr>
              <a:lstStyle/>
              <a:p>
                <a:r>
                  <a:rPr lang="vi-VN" sz="1400" dirty="0"/>
                  <a:t>B(</a:t>
                </a:r>
                <a14:m>
                  <m:oMath xmlns:m="http://schemas.openxmlformats.org/officeDocument/2006/math">
                    <m:sSub>
                      <m:sSubPr>
                        <m:ctrlPr>
                          <a:rPr lang="vi-VN"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B</m:t>
                        </m:r>
                      </m:sub>
                    </m:sSub>
                    <m:r>
                      <a:rPr lang="vi-VN" sz="1400" b="0" i="1" smtClean="0">
                        <a:latin typeface="Cambria Math" panose="02040503050406030204" pitchFamily="18" charset="0"/>
                      </a:rPr>
                      <m:t>,</m:t>
                    </m:r>
                    <m:sSub>
                      <m:sSubPr>
                        <m:ctrlPr>
                          <a:rPr lang="vi-VN" sz="1400" b="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B</m:t>
                        </m:r>
                      </m:sub>
                    </m:sSub>
                  </m:oMath>
                </a14:m>
                <a:r>
                  <a:rPr lang="vi-VN" sz="1400" dirty="0"/>
                  <a:t>)</a:t>
                </a:r>
                <a:endParaRPr lang="en-US" sz="1400" dirty="0"/>
              </a:p>
            </p:txBody>
          </p:sp>
        </mc:Choice>
        <mc:Fallback xmlns="">
          <p:sp>
            <p:nvSpPr>
              <p:cNvPr id="65" name="TextBox 64">
                <a:extLst>
                  <a:ext uri="{FF2B5EF4-FFF2-40B4-BE49-F238E27FC236}">
                    <a16:creationId xmlns:a16="http://schemas.microsoft.com/office/drawing/2014/main" id="{D493A208-39A3-9600-F79C-1AE8BFA14F7F}"/>
                  </a:ext>
                </a:extLst>
              </p:cNvPr>
              <p:cNvSpPr txBox="1">
                <a:spLocks noRot="1" noChangeAspect="1" noMove="1" noResize="1" noEditPoints="1" noAdjustHandles="1" noChangeArrowheads="1" noChangeShapeType="1" noTextEdit="1"/>
              </p:cNvSpPr>
              <p:nvPr/>
            </p:nvSpPr>
            <p:spPr>
              <a:xfrm>
                <a:off x="10970035" y="2395303"/>
                <a:ext cx="1120876" cy="307777"/>
              </a:xfrm>
              <a:prstGeom prst="rect">
                <a:avLst/>
              </a:prstGeom>
              <a:blipFill>
                <a:blip r:embed="rId7"/>
                <a:stretch>
                  <a:fillRect l="-1639" t="-4000" b="-20000"/>
                </a:stretch>
              </a:blipFill>
            </p:spPr>
            <p:txBody>
              <a:bodyPr/>
              <a:lstStyle/>
              <a:p>
                <a:r>
                  <a:rPr lang="en-US">
                    <a:noFill/>
                  </a:rPr>
                  <a:t> </a:t>
                </a:r>
              </a:p>
            </p:txBody>
          </p:sp>
        </mc:Fallback>
      </mc:AlternateContent>
      <p:sp>
        <p:nvSpPr>
          <p:cNvPr id="66" name="Flowchart: Connector 65">
            <a:extLst>
              <a:ext uri="{FF2B5EF4-FFF2-40B4-BE49-F238E27FC236}">
                <a16:creationId xmlns:a16="http://schemas.microsoft.com/office/drawing/2014/main" id="{2A295954-A8AE-8841-7250-4F433369724B}"/>
              </a:ext>
            </a:extLst>
          </p:cNvPr>
          <p:cNvSpPr/>
          <p:nvPr/>
        </p:nvSpPr>
        <p:spPr>
          <a:xfrm>
            <a:off x="10842973" y="2485283"/>
            <a:ext cx="127819" cy="12781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A285E59F-9F0B-2E66-F2E9-638801E73DD2}"/>
              </a:ext>
            </a:extLst>
          </p:cNvPr>
          <p:cNvCxnSpPr>
            <a:cxnSpLocks/>
          </p:cNvCxnSpPr>
          <p:nvPr/>
        </p:nvCxnSpPr>
        <p:spPr>
          <a:xfrm flipV="1">
            <a:off x="10038681" y="2626271"/>
            <a:ext cx="815163" cy="90981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F3B2F2E0-4B90-0A5A-F99F-5A8FEDE5D029}"/>
              </a:ext>
            </a:extLst>
          </p:cNvPr>
          <p:cNvCxnSpPr>
            <a:cxnSpLocks/>
          </p:cNvCxnSpPr>
          <p:nvPr/>
        </p:nvCxnSpPr>
        <p:spPr>
          <a:xfrm flipV="1">
            <a:off x="10911632" y="2626271"/>
            <a:ext cx="0" cy="93610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49A9EF23-36FA-0062-2470-52300A4643DC}"/>
              </a:ext>
            </a:extLst>
          </p:cNvPr>
          <p:cNvCxnSpPr>
            <a:cxnSpLocks/>
          </p:cNvCxnSpPr>
          <p:nvPr/>
        </p:nvCxnSpPr>
        <p:spPr>
          <a:xfrm>
            <a:off x="10080676" y="3549251"/>
            <a:ext cx="830956"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12108E9-C4D9-3823-9A5B-56FBADBFF16F}"/>
                  </a:ext>
                </a:extLst>
              </p:cNvPr>
              <p:cNvSpPr txBox="1"/>
              <p:nvPr/>
            </p:nvSpPr>
            <p:spPr>
              <a:xfrm>
                <a:off x="10752575" y="2902338"/>
                <a:ext cx="121919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70" name="TextBox 69">
                <a:extLst>
                  <a:ext uri="{FF2B5EF4-FFF2-40B4-BE49-F238E27FC236}">
                    <a16:creationId xmlns:a16="http://schemas.microsoft.com/office/drawing/2014/main" id="{612108E9-C4D9-3823-9A5B-56FBADBFF16F}"/>
                  </a:ext>
                </a:extLst>
              </p:cNvPr>
              <p:cNvSpPr txBox="1">
                <a:spLocks noRot="1" noChangeAspect="1" noMove="1" noResize="1" noEditPoints="1" noAdjustHandles="1" noChangeArrowheads="1" noChangeShapeType="1" noTextEdit="1"/>
              </p:cNvSpPr>
              <p:nvPr/>
            </p:nvSpPr>
            <p:spPr>
              <a:xfrm>
                <a:off x="10752575" y="2902338"/>
                <a:ext cx="1219199"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19A2815-CBE5-CEC2-41C3-69CDFC9C7B09}"/>
                  </a:ext>
                </a:extLst>
              </p:cNvPr>
              <p:cNvSpPr txBox="1"/>
              <p:nvPr/>
            </p:nvSpPr>
            <p:spPr>
              <a:xfrm>
                <a:off x="9892802" y="4378527"/>
                <a:ext cx="121919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71" name="TextBox 70">
                <a:extLst>
                  <a:ext uri="{FF2B5EF4-FFF2-40B4-BE49-F238E27FC236}">
                    <a16:creationId xmlns:a16="http://schemas.microsoft.com/office/drawing/2014/main" id="{F19A2815-CBE5-CEC2-41C3-69CDFC9C7B09}"/>
                  </a:ext>
                </a:extLst>
              </p:cNvPr>
              <p:cNvSpPr txBox="1">
                <a:spLocks noRot="1" noChangeAspect="1" noMove="1" noResize="1" noEditPoints="1" noAdjustHandles="1" noChangeArrowheads="1" noChangeShapeType="1" noTextEdit="1"/>
              </p:cNvSpPr>
              <p:nvPr/>
            </p:nvSpPr>
            <p:spPr>
              <a:xfrm>
                <a:off x="9892802" y="4378527"/>
                <a:ext cx="1219199"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A119CC29-7264-864D-AB44-1E0BFFE13EE1}"/>
                  </a:ext>
                </a:extLst>
              </p:cNvPr>
              <p:cNvSpPr txBox="1"/>
              <p:nvPr/>
            </p:nvSpPr>
            <p:spPr>
              <a:xfrm>
                <a:off x="7803490" y="2764413"/>
                <a:ext cx="2890683" cy="3532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sz="1400" i="1" smtClean="0">
                              <a:latin typeface="Cambria Math" panose="02040503050406030204" pitchFamily="18" charset="0"/>
                            </a:rPr>
                          </m:ctrlPr>
                        </m:radPr>
                        <m:deg/>
                        <m:e>
                          <m:sSup>
                            <m:sSupPr>
                              <m:ctrlPr>
                                <a:rPr lang="vi-VN" sz="1400" i="1" smtClean="0">
                                  <a:latin typeface="Cambria Math" panose="02040503050406030204" pitchFamily="18" charset="0"/>
                                </a:rPr>
                              </m:ctrlPr>
                            </m:sSupPr>
                            <m:e>
                              <m:d>
                                <m:dPr>
                                  <m:ctrlPr>
                                    <a:rPr lang="vi-VN" sz="1400" i="1" smtClean="0">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e>
                              </m:d>
                            </m:e>
                            <m:sup>
                              <m:r>
                                <a:rPr lang="vi-VN" sz="1400" i="1">
                                  <a:latin typeface="Cambria Math" panose="02040503050406030204" pitchFamily="18" charset="0"/>
                                </a:rPr>
                                <m:t>2</m:t>
                              </m:r>
                            </m:sup>
                          </m:sSup>
                          <m:r>
                            <a:rPr lang="vi-VN" sz="1400" i="1" smtClean="0">
                              <a:latin typeface="Cambria Math" panose="02040503050406030204" pitchFamily="18" charset="0"/>
                              <a:ea typeface="Cambria Math" panose="02040503050406030204" pitchFamily="18" charset="0"/>
                            </a:rPr>
                            <m:t>+</m:t>
                          </m:r>
                          <m:sSup>
                            <m:sSupPr>
                              <m:ctrlPr>
                                <a:rPr lang="vi-VN" sz="1400" i="1" smtClean="0">
                                  <a:latin typeface="Cambria Math" panose="02040503050406030204" pitchFamily="18" charset="0"/>
                                  <a:ea typeface="Cambria Math" panose="02040503050406030204" pitchFamily="18" charset="0"/>
                                </a:rPr>
                              </m:ctrlPr>
                            </m:sSupPr>
                            <m:e>
                              <m:d>
                                <m:dPr>
                                  <m:ctrlPr>
                                    <a:rPr lang="vi-VN" sz="1400" i="1" smtClean="0">
                                      <a:latin typeface="Cambria Math" panose="02040503050406030204" pitchFamily="18" charset="0"/>
                                      <a:ea typeface="Cambria Math" panose="02040503050406030204" pitchFamily="18" charset="0"/>
                                    </a:rPr>
                                  </m:ctrlPr>
                                </m:dPr>
                                <m:e>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max</m:t>
                                      </m:r>
                                    </m:sub>
                                  </m:sSub>
                                </m:e>
                              </m:d>
                            </m:e>
                            <m:sup>
                              <m:r>
                                <a:rPr lang="vi-VN" sz="1400" i="1">
                                  <a:latin typeface="Cambria Math" panose="02040503050406030204" pitchFamily="18" charset="0"/>
                                  <a:ea typeface="Cambria Math" panose="02040503050406030204" pitchFamily="18" charset="0"/>
                                </a:rPr>
                                <m:t>2</m:t>
                              </m:r>
                            </m:sup>
                          </m:sSup>
                        </m:e>
                      </m:rad>
                    </m:oMath>
                  </m:oMathPara>
                </a14:m>
                <a:endParaRPr lang="en-US" sz="1400" dirty="0"/>
              </a:p>
            </p:txBody>
          </p:sp>
        </mc:Choice>
        <mc:Fallback xmlns="">
          <p:sp>
            <p:nvSpPr>
              <p:cNvPr id="72" name="TextBox 71">
                <a:extLst>
                  <a:ext uri="{FF2B5EF4-FFF2-40B4-BE49-F238E27FC236}">
                    <a16:creationId xmlns:a16="http://schemas.microsoft.com/office/drawing/2014/main" id="{A119CC29-7264-864D-AB44-1E0BFFE13EE1}"/>
                  </a:ext>
                </a:extLst>
              </p:cNvPr>
              <p:cNvSpPr txBox="1">
                <a:spLocks noRot="1" noChangeAspect="1" noMove="1" noResize="1" noEditPoints="1" noAdjustHandles="1" noChangeArrowheads="1" noChangeShapeType="1" noTextEdit="1"/>
              </p:cNvSpPr>
              <p:nvPr/>
            </p:nvSpPr>
            <p:spPr>
              <a:xfrm>
                <a:off x="7803490" y="2764413"/>
                <a:ext cx="2890683" cy="353238"/>
              </a:xfrm>
              <a:prstGeom prst="rect">
                <a:avLst/>
              </a:prstGeom>
              <a:blipFill>
                <a:blip r:embed="rId10"/>
                <a:stretch>
                  <a:fillRect b="-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5AF64C3D-26DB-0BE2-4DB4-3B38ECC2783D}"/>
                  </a:ext>
                </a:extLst>
              </p:cNvPr>
              <p:cNvSpPr txBox="1"/>
              <p:nvPr/>
            </p:nvSpPr>
            <p:spPr>
              <a:xfrm>
                <a:off x="9941722" y="3560787"/>
                <a:ext cx="121919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A</m:t>
                          </m:r>
                        </m:sub>
                      </m:sSub>
                      <m:r>
                        <a:rPr lang="vi-VN" sz="1400" i="1">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73" name="TextBox 72">
                <a:extLst>
                  <a:ext uri="{FF2B5EF4-FFF2-40B4-BE49-F238E27FC236}">
                    <a16:creationId xmlns:a16="http://schemas.microsoft.com/office/drawing/2014/main" id="{5AF64C3D-26DB-0BE2-4DB4-3B38ECC2783D}"/>
                  </a:ext>
                </a:extLst>
              </p:cNvPr>
              <p:cNvSpPr txBox="1">
                <a:spLocks noRot="1" noChangeAspect="1" noMove="1" noResize="1" noEditPoints="1" noAdjustHandles="1" noChangeArrowheads="1" noChangeShapeType="1" noTextEdit="1"/>
              </p:cNvSpPr>
              <p:nvPr/>
            </p:nvSpPr>
            <p:spPr>
              <a:xfrm>
                <a:off x="9941722" y="3560787"/>
                <a:ext cx="1219199" cy="307777"/>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069328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D3885-B263-E6CE-56E6-FE02C0ABFC6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855353-8653-F54F-B477-10859DF28D08}"/>
              </a:ext>
            </a:extLst>
          </p:cNvPr>
          <p:cNvSpPr>
            <a:spLocks noGrp="1"/>
          </p:cNvSpPr>
          <p:nvPr>
            <p:ph type="sldNum" sz="quarter" idx="12"/>
          </p:nvPr>
        </p:nvSpPr>
        <p:spPr/>
        <p:txBody>
          <a:bodyPr/>
          <a:lstStyle/>
          <a:p>
            <a:fld id="{9B618960-8005-486C-9A75-10CB2AAC16F9}" type="slidenum">
              <a:rPr lang="en-US" smtClean="0"/>
              <a:t>47</a:t>
            </a:fld>
            <a:endParaRPr lang="en-US" dirty="0"/>
          </a:p>
        </p:txBody>
      </p:sp>
      <p:sp>
        <p:nvSpPr>
          <p:cNvPr id="5" name="TextBox 3">
            <a:extLst>
              <a:ext uri="{FF2B5EF4-FFF2-40B4-BE49-F238E27FC236}">
                <a16:creationId xmlns:a16="http://schemas.microsoft.com/office/drawing/2014/main" id="{9D0EDCC0-74AE-E37A-DD40-17C581BA4377}"/>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F2E7F776-4235-9A4C-4DE6-4B34CF779C3B}"/>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CD293BB9-D9BB-4B16-A74B-1494FEAE0C5A}"/>
                  </a:ext>
                </a:extLst>
              </p:cNvPr>
              <p:cNvSpPr txBox="1"/>
              <p:nvPr/>
            </p:nvSpPr>
            <p:spPr>
              <a:xfrm>
                <a:off x="1079999" y="2097332"/>
                <a:ext cx="5146709" cy="2909643"/>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Ý nghĩa quyết định dừng/duyệt</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Nếu khoảng cách tới cái rìa này mà còn lớn hơn hoặc bằng khoảng cách tốt nhất hiện tại (min_possible &gt;= best), thuật toán lập tức đóng cửa ô này lại, không cho phép duyệt các điểm bên trong nữa.</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Phép tính biên này chỉ tốn chi phí </a:t>
                </a:r>
                <a14:m>
                  <m:oMath xmlns:m="http://schemas.openxmlformats.org/officeDocument/2006/math">
                    <m:r>
                      <m:rPr>
                        <m:sty m:val="p"/>
                      </m:rPr>
                      <a:rPr lang="vi-VN" dirty="0">
                        <a:latin typeface="Cambria Math" panose="02040503050406030204" pitchFamily="18" charset="0"/>
                        <a:cs typeface="Times New Roman" panose="02020603050405020304" pitchFamily="18" charset="0"/>
                      </a:rPr>
                      <m:t>O</m:t>
                    </m:r>
                  </m:oMath>
                </a14:m>
                <a:r>
                  <a:rPr lang="vi-VN" dirty="0">
                    <a:latin typeface="Times New Roman" panose="02020603050405020304" pitchFamily="18" charset="0"/>
                    <a:cs typeface="Times New Roman" panose="02020603050405020304" pitchFamily="18" charset="0"/>
                  </a:rPr>
                  <a:t>(1) nhưng giúp thuật toán cắt tỉa hàng ngàn phép tính khoảng cách giữa các cặp điểm.</a:t>
                </a:r>
              </a:p>
            </p:txBody>
          </p:sp>
        </mc:Choice>
        <mc:Fallback xmlns="">
          <p:sp>
            <p:nvSpPr>
              <p:cNvPr id="3" name="TextBox 5">
                <a:extLst>
                  <a:ext uri="{FF2B5EF4-FFF2-40B4-BE49-F238E27FC236}">
                    <a16:creationId xmlns:a16="http://schemas.microsoft.com/office/drawing/2014/main" id="{CD293BB9-D9BB-4B16-A74B-1494FEAE0C5A}"/>
                  </a:ext>
                </a:extLst>
              </p:cNvPr>
              <p:cNvSpPr txBox="1">
                <a:spLocks noRot="1" noChangeAspect="1" noMove="1" noResize="1" noEditPoints="1" noAdjustHandles="1" noChangeArrowheads="1" noChangeShapeType="1" noTextEdit="1"/>
              </p:cNvSpPr>
              <p:nvPr/>
            </p:nvSpPr>
            <p:spPr>
              <a:xfrm>
                <a:off x="1079999" y="2097332"/>
                <a:ext cx="5146709" cy="2909643"/>
              </a:xfrm>
              <a:prstGeom prst="rect">
                <a:avLst/>
              </a:prstGeom>
              <a:blipFill>
                <a:blip r:embed="rId2"/>
                <a:stretch>
                  <a:fillRect l="-711" t="-629" r="-1066" b="-2516"/>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0DF699C4-16B5-281C-9013-C3CFE0D1789A}"/>
              </a:ext>
            </a:extLst>
          </p:cNvPr>
          <p:cNvSpPr/>
          <p:nvPr/>
        </p:nvSpPr>
        <p:spPr>
          <a:xfrm>
            <a:off x="7300448" y="3549251"/>
            <a:ext cx="2743201" cy="146779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Bounding Box</a:t>
            </a:r>
            <a:endParaRPr lang="en-US" dirty="0"/>
          </a:p>
        </p:txBody>
      </p:sp>
      <p:sp>
        <p:nvSpPr>
          <p:cNvPr id="51" name="Flowchart: Connector 50">
            <a:extLst>
              <a:ext uri="{FF2B5EF4-FFF2-40B4-BE49-F238E27FC236}">
                <a16:creationId xmlns:a16="http://schemas.microsoft.com/office/drawing/2014/main" id="{49E327F3-96FA-9B13-501F-B2D2BCB2C75A}"/>
              </a:ext>
            </a:extLst>
          </p:cNvPr>
          <p:cNvSpPr/>
          <p:nvPr/>
        </p:nvSpPr>
        <p:spPr>
          <a:xfrm>
            <a:off x="10726025" y="4219236"/>
            <a:ext cx="127819" cy="12781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C20058F8-2DD8-8FEF-1998-19782E7D9AE3}"/>
              </a:ext>
            </a:extLst>
          </p:cNvPr>
          <p:cNvCxnSpPr>
            <a:cxnSpLocks/>
            <a:stCxn id="50" idx="3"/>
          </p:cNvCxnSpPr>
          <p:nvPr/>
        </p:nvCxnSpPr>
        <p:spPr>
          <a:xfrm>
            <a:off x="10043649" y="4283147"/>
            <a:ext cx="663459"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ADF5132-A2A2-3D47-1930-D00AA4A75CF0}"/>
                  </a:ext>
                </a:extLst>
              </p:cNvPr>
              <p:cNvSpPr txBox="1"/>
              <p:nvPr/>
            </p:nvSpPr>
            <p:spPr>
              <a:xfrm>
                <a:off x="7032248" y="5368714"/>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a:rPr lang="vi-VN" sz="1400" i="1">
                              <a:latin typeface="Cambria Math" panose="02040503050406030204" pitchFamily="18" charset="0"/>
                            </a:rPr>
                            <m:t>2</m:t>
                          </m:r>
                        </m:sub>
                      </m:sSub>
                    </m:oMath>
                  </m:oMathPara>
                </a14:m>
                <a:endParaRPr lang="en-US" sz="1400" dirty="0"/>
              </a:p>
            </p:txBody>
          </p:sp>
        </mc:Choice>
        <mc:Fallback xmlns="">
          <p:sp>
            <p:nvSpPr>
              <p:cNvPr id="53" name="TextBox 52">
                <a:extLst>
                  <a:ext uri="{FF2B5EF4-FFF2-40B4-BE49-F238E27FC236}">
                    <a16:creationId xmlns:a16="http://schemas.microsoft.com/office/drawing/2014/main" id="{5ADF5132-A2A2-3D47-1930-D00AA4A75CF0}"/>
                  </a:ext>
                </a:extLst>
              </p:cNvPr>
              <p:cNvSpPr txBox="1">
                <a:spLocks noRot="1" noChangeAspect="1" noMove="1" noResize="1" noEditPoints="1" noAdjustHandles="1" noChangeArrowheads="1" noChangeShapeType="1" noTextEdit="1"/>
              </p:cNvSpPr>
              <p:nvPr/>
            </p:nvSpPr>
            <p:spPr>
              <a:xfrm>
                <a:off x="7032248" y="5368714"/>
                <a:ext cx="629264"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749A8D9E-8FA1-EBD6-11BA-74D90606185F}"/>
                  </a:ext>
                </a:extLst>
              </p:cNvPr>
              <p:cNvSpPr txBox="1"/>
              <p:nvPr/>
            </p:nvSpPr>
            <p:spPr>
              <a:xfrm>
                <a:off x="9766044" y="5436644"/>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a:rPr lang="vi-VN" sz="1400" i="1">
                              <a:latin typeface="Cambria Math" panose="02040503050406030204" pitchFamily="18" charset="0"/>
                            </a:rPr>
                            <m:t>2</m:t>
                          </m:r>
                        </m:sub>
                      </m:sSub>
                    </m:oMath>
                  </m:oMathPara>
                </a14:m>
                <a:endParaRPr lang="en-US" sz="1400" dirty="0"/>
              </a:p>
            </p:txBody>
          </p:sp>
        </mc:Choice>
        <mc:Fallback xmlns="">
          <p:sp>
            <p:nvSpPr>
              <p:cNvPr id="54" name="TextBox 53">
                <a:extLst>
                  <a:ext uri="{FF2B5EF4-FFF2-40B4-BE49-F238E27FC236}">
                    <a16:creationId xmlns:a16="http://schemas.microsoft.com/office/drawing/2014/main" id="{749A8D9E-8FA1-EBD6-11BA-74D90606185F}"/>
                  </a:ext>
                </a:extLst>
              </p:cNvPr>
              <p:cNvSpPr txBox="1">
                <a:spLocks noRot="1" noChangeAspect="1" noMove="1" noResize="1" noEditPoints="1" noAdjustHandles="1" noChangeArrowheads="1" noChangeShapeType="1" noTextEdit="1"/>
              </p:cNvSpPr>
              <p:nvPr/>
            </p:nvSpPr>
            <p:spPr>
              <a:xfrm>
                <a:off x="9766044" y="5436644"/>
                <a:ext cx="629264"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15C26A2-C9FC-967F-E5EF-B33262843A3D}"/>
                  </a:ext>
                </a:extLst>
              </p:cNvPr>
              <p:cNvSpPr txBox="1"/>
              <p:nvPr/>
            </p:nvSpPr>
            <p:spPr>
              <a:xfrm>
                <a:off x="6402984" y="4788648"/>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a:rPr lang="vi-VN" sz="1400" i="1">
                              <a:latin typeface="Cambria Math" panose="02040503050406030204" pitchFamily="18" charset="0"/>
                            </a:rPr>
                            <m:t>1</m:t>
                          </m:r>
                        </m:sub>
                      </m:sSub>
                    </m:oMath>
                  </m:oMathPara>
                </a14:m>
                <a:endParaRPr lang="en-US" sz="1400" dirty="0"/>
              </a:p>
            </p:txBody>
          </p:sp>
        </mc:Choice>
        <mc:Fallback xmlns="">
          <p:sp>
            <p:nvSpPr>
              <p:cNvPr id="55" name="TextBox 54">
                <a:extLst>
                  <a:ext uri="{FF2B5EF4-FFF2-40B4-BE49-F238E27FC236}">
                    <a16:creationId xmlns:a16="http://schemas.microsoft.com/office/drawing/2014/main" id="{F15C26A2-C9FC-967F-E5EF-B33262843A3D}"/>
                  </a:ext>
                </a:extLst>
              </p:cNvPr>
              <p:cNvSpPr txBox="1">
                <a:spLocks noRot="1" noChangeAspect="1" noMove="1" noResize="1" noEditPoints="1" noAdjustHandles="1" noChangeArrowheads="1" noChangeShapeType="1" noTextEdit="1"/>
              </p:cNvSpPr>
              <p:nvPr/>
            </p:nvSpPr>
            <p:spPr>
              <a:xfrm>
                <a:off x="6402984" y="4788648"/>
                <a:ext cx="629264" cy="307777"/>
              </a:xfrm>
              <a:prstGeom prst="rect">
                <a:avLst/>
              </a:prstGeom>
              <a:blipFill>
                <a:blip r:embed="rId4"/>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AD5D907-5FB9-E9F0-12F7-85040E6EB079}"/>
                  </a:ext>
                </a:extLst>
              </p:cNvPr>
              <p:cNvSpPr txBox="1"/>
              <p:nvPr/>
            </p:nvSpPr>
            <p:spPr>
              <a:xfrm>
                <a:off x="6396438" y="3374030"/>
                <a:ext cx="62926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a:rPr lang="vi-VN" sz="1400" i="1">
                              <a:latin typeface="Cambria Math" panose="02040503050406030204" pitchFamily="18" charset="0"/>
                            </a:rPr>
                            <m:t>2</m:t>
                          </m:r>
                        </m:sub>
                      </m:sSub>
                    </m:oMath>
                  </m:oMathPara>
                </a14:m>
                <a:endParaRPr lang="en-US" sz="1400" dirty="0"/>
              </a:p>
            </p:txBody>
          </p:sp>
        </mc:Choice>
        <mc:Fallback xmlns="">
          <p:sp>
            <p:nvSpPr>
              <p:cNvPr id="56" name="TextBox 55">
                <a:extLst>
                  <a:ext uri="{FF2B5EF4-FFF2-40B4-BE49-F238E27FC236}">
                    <a16:creationId xmlns:a16="http://schemas.microsoft.com/office/drawing/2014/main" id="{0AD5D907-5FB9-E9F0-12F7-85040E6EB079}"/>
                  </a:ext>
                </a:extLst>
              </p:cNvPr>
              <p:cNvSpPr txBox="1">
                <a:spLocks noRot="1" noChangeAspect="1" noMove="1" noResize="1" noEditPoints="1" noAdjustHandles="1" noChangeArrowheads="1" noChangeShapeType="1" noTextEdit="1"/>
              </p:cNvSpPr>
              <p:nvPr/>
            </p:nvSpPr>
            <p:spPr>
              <a:xfrm>
                <a:off x="6396438" y="3374030"/>
                <a:ext cx="629264" cy="307777"/>
              </a:xfrm>
              <a:prstGeom prst="rect">
                <a:avLst/>
              </a:prstGeom>
              <a:blipFill>
                <a:blip r:embed="rId5"/>
                <a:stretch>
                  <a:fillRect/>
                </a:stretch>
              </a:blipFill>
            </p:spPr>
            <p:txBody>
              <a:bodyPr/>
              <a:lstStyle/>
              <a:p>
                <a:r>
                  <a:rPr lang="en-US">
                    <a:noFill/>
                  </a:rPr>
                  <a:t> </a:t>
                </a:r>
              </a:p>
            </p:txBody>
          </p:sp>
        </mc:Fallback>
      </mc:AlternateContent>
      <p:grpSp>
        <p:nvGrpSpPr>
          <p:cNvPr id="57" name="Group 56">
            <a:extLst>
              <a:ext uri="{FF2B5EF4-FFF2-40B4-BE49-F238E27FC236}">
                <a16:creationId xmlns:a16="http://schemas.microsoft.com/office/drawing/2014/main" id="{3B46EBCF-CEF9-2A55-AA75-8C98DF242FFA}"/>
              </a:ext>
            </a:extLst>
          </p:cNvPr>
          <p:cNvGrpSpPr/>
          <p:nvPr/>
        </p:nvGrpSpPr>
        <p:grpSpPr>
          <a:xfrm>
            <a:off x="6910736" y="2574967"/>
            <a:ext cx="3542504" cy="2761267"/>
            <a:chOff x="2197511" y="651698"/>
            <a:chExt cx="5014451" cy="3908602"/>
          </a:xfrm>
        </p:grpSpPr>
        <p:cxnSp>
          <p:nvCxnSpPr>
            <p:cNvPr id="58" name="Straight Arrow Connector 57">
              <a:extLst>
                <a:ext uri="{FF2B5EF4-FFF2-40B4-BE49-F238E27FC236}">
                  <a16:creationId xmlns:a16="http://schemas.microsoft.com/office/drawing/2014/main" id="{F8B6A3E7-B1D4-5F36-D9A7-03B53CF8A2E1}"/>
                </a:ext>
              </a:extLst>
            </p:cNvPr>
            <p:cNvCxnSpPr>
              <a:cxnSpLocks/>
            </p:cNvCxnSpPr>
            <p:nvPr/>
          </p:nvCxnSpPr>
          <p:spPr>
            <a:xfrm>
              <a:off x="2197511" y="4548600"/>
              <a:ext cx="50144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F5133A90-ACBB-5A80-13E7-4826A76BF6B3}"/>
                </a:ext>
              </a:extLst>
            </p:cNvPr>
            <p:cNvCxnSpPr>
              <a:cxnSpLocks/>
            </p:cNvCxnSpPr>
            <p:nvPr/>
          </p:nvCxnSpPr>
          <p:spPr>
            <a:xfrm flipH="1" flipV="1">
              <a:off x="2197511" y="651698"/>
              <a:ext cx="4915" cy="39086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60" name="Straight Arrow Connector 59">
            <a:extLst>
              <a:ext uri="{FF2B5EF4-FFF2-40B4-BE49-F238E27FC236}">
                <a16:creationId xmlns:a16="http://schemas.microsoft.com/office/drawing/2014/main" id="{4B45ED18-515E-065B-9EB8-86B4B664F561}"/>
              </a:ext>
            </a:extLst>
          </p:cNvPr>
          <p:cNvCxnSpPr>
            <a:cxnSpLocks/>
          </p:cNvCxnSpPr>
          <p:nvPr/>
        </p:nvCxnSpPr>
        <p:spPr>
          <a:xfrm flipH="1">
            <a:off x="6910736" y="5011662"/>
            <a:ext cx="389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4257D64F-2072-4390-4763-25DE7C0677EF}"/>
              </a:ext>
            </a:extLst>
          </p:cNvPr>
          <p:cNvCxnSpPr>
            <a:cxnSpLocks/>
          </p:cNvCxnSpPr>
          <p:nvPr/>
        </p:nvCxnSpPr>
        <p:spPr>
          <a:xfrm>
            <a:off x="7300448" y="5011662"/>
            <a:ext cx="0" cy="3245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72BB46C0-4138-09EF-11EA-FF10024E18CA}"/>
              </a:ext>
            </a:extLst>
          </p:cNvPr>
          <p:cNvCxnSpPr>
            <a:cxnSpLocks/>
          </p:cNvCxnSpPr>
          <p:nvPr/>
        </p:nvCxnSpPr>
        <p:spPr>
          <a:xfrm flipH="1">
            <a:off x="6910736" y="3562379"/>
            <a:ext cx="389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E3142DBC-6F0E-AD9A-7F03-CAD8619044B3}"/>
              </a:ext>
            </a:extLst>
          </p:cNvPr>
          <p:cNvCxnSpPr>
            <a:cxnSpLocks/>
          </p:cNvCxnSpPr>
          <p:nvPr/>
        </p:nvCxnSpPr>
        <p:spPr>
          <a:xfrm flipH="1">
            <a:off x="10038681" y="5011662"/>
            <a:ext cx="4968" cy="336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51108BB-1574-1C9C-7D1B-3FF23E5683F2}"/>
                  </a:ext>
                </a:extLst>
              </p:cNvPr>
              <p:cNvSpPr txBox="1"/>
              <p:nvPr/>
            </p:nvSpPr>
            <p:spPr>
              <a:xfrm>
                <a:off x="10872761" y="4129256"/>
                <a:ext cx="1120876" cy="307777"/>
              </a:xfrm>
              <a:prstGeom prst="rect">
                <a:avLst/>
              </a:prstGeom>
              <a:noFill/>
            </p:spPr>
            <p:txBody>
              <a:bodyPr wrap="square" rtlCol="0">
                <a:spAutoFit/>
              </a:bodyPr>
              <a:lstStyle/>
              <a:p>
                <a:r>
                  <a:rPr lang="vi-VN" sz="1400" dirty="0"/>
                  <a:t>A(</a:t>
                </a:r>
                <a14:m>
                  <m:oMath xmlns:m="http://schemas.openxmlformats.org/officeDocument/2006/math">
                    <m:sSub>
                      <m:sSubPr>
                        <m:ctrlPr>
                          <a:rPr lang="vi-VN"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A</m:t>
                        </m:r>
                      </m:sub>
                    </m:sSub>
                    <m:r>
                      <a:rPr lang="vi-VN" sz="1400" b="0" i="1" smtClean="0">
                        <a:latin typeface="Cambria Math" panose="02040503050406030204" pitchFamily="18" charset="0"/>
                      </a:rPr>
                      <m:t>,</m:t>
                    </m:r>
                    <m:sSub>
                      <m:sSubPr>
                        <m:ctrlPr>
                          <a:rPr lang="vi-VN" sz="1400" b="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A</m:t>
                        </m:r>
                      </m:sub>
                    </m:sSub>
                  </m:oMath>
                </a14:m>
                <a:r>
                  <a:rPr lang="vi-VN" sz="1400" dirty="0"/>
                  <a:t>)</a:t>
                </a:r>
                <a:endParaRPr lang="en-US" sz="1400" dirty="0"/>
              </a:p>
            </p:txBody>
          </p:sp>
        </mc:Choice>
        <mc:Fallback xmlns="">
          <p:sp>
            <p:nvSpPr>
              <p:cNvPr id="64" name="TextBox 63">
                <a:extLst>
                  <a:ext uri="{FF2B5EF4-FFF2-40B4-BE49-F238E27FC236}">
                    <a16:creationId xmlns:a16="http://schemas.microsoft.com/office/drawing/2014/main" id="{051108BB-1574-1C9C-7D1B-3FF23E5683F2}"/>
                  </a:ext>
                </a:extLst>
              </p:cNvPr>
              <p:cNvSpPr txBox="1">
                <a:spLocks noRot="1" noChangeAspect="1" noMove="1" noResize="1" noEditPoints="1" noAdjustHandles="1" noChangeArrowheads="1" noChangeShapeType="1" noTextEdit="1"/>
              </p:cNvSpPr>
              <p:nvPr/>
            </p:nvSpPr>
            <p:spPr>
              <a:xfrm>
                <a:off x="10872761" y="4129256"/>
                <a:ext cx="1120876" cy="307777"/>
              </a:xfrm>
              <a:prstGeom prst="rect">
                <a:avLst/>
              </a:prstGeom>
              <a:blipFill>
                <a:blip r:embed="rId6"/>
                <a:stretch>
                  <a:fillRect l="-1639" t="-1961"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A09D73B-6C0A-BBF4-43C6-1362AAD2CF61}"/>
                  </a:ext>
                </a:extLst>
              </p:cNvPr>
              <p:cNvSpPr txBox="1"/>
              <p:nvPr/>
            </p:nvSpPr>
            <p:spPr>
              <a:xfrm>
                <a:off x="10970035" y="2395303"/>
                <a:ext cx="1120876" cy="307777"/>
              </a:xfrm>
              <a:prstGeom prst="rect">
                <a:avLst/>
              </a:prstGeom>
              <a:noFill/>
            </p:spPr>
            <p:txBody>
              <a:bodyPr wrap="square" rtlCol="0">
                <a:spAutoFit/>
              </a:bodyPr>
              <a:lstStyle/>
              <a:p>
                <a:r>
                  <a:rPr lang="vi-VN" sz="1400" dirty="0"/>
                  <a:t>B(</a:t>
                </a:r>
                <a14:m>
                  <m:oMath xmlns:m="http://schemas.openxmlformats.org/officeDocument/2006/math">
                    <m:sSub>
                      <m:sSubPr>
                        <m:ctrlPr>
                          <a:rPr lang="vi-VN"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B</m:t>
                        </m:r>
                      </m:sub>
                    </m:sSub>
                    <m:r>
                      <a:rPr lang="vi-VN" sz="1400" b="0" i="1" smtClean="0">
                        <a:latin typeface="Cambria Math" panose="02040503050406030204" pitchFamily="18" charset="0"/>
                      </a:rPr>
                      <m:t>,</m:t>
                    </m:r>
                    <m:sSub>
                      <m:sSubPr>
                        <m:ctrlPr>
                          <a:rPr lang="vi-VN" sz="1400" b="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B</m:t>
                        </m:r>
                      </m:sub>
                    </m:sSub>
                  </m:oMath>
                </a14:m>
                <a:r>
                  <a:rPr lang="vi-VN" sz="1400" dirty="0"/>
                  <a:t>)</a:t>
                </a:r>
                <a:endParaRPr lang="en-US" sz="1400" dirty="0"/>
              </a:p>
            </p:txBody>
          </p:sp>
        </mc:Choice>
        <mc:Fallback xmlns="">
          <p:sp>
            <p:nvSpPr>
              <p:cNvPr id="65" name="TextBox 64">
                <a:extLst>
                  <a:ext uri="{FF2B5EF4-FFF2-40B4-BE49-F238E27FC236}">
                    <a16:creationId xmlns:a16="http://schemas.microsoft.com/office/drawing/2014/main" id="{6A09D73B-6C0A-BBF4-43C6-1362AAD2CF61}"/>
                  </a:ext>
                </a:extLst>
              </p:cNvPr>
              <p:cNvSpPr txBox="1">
                <a:spLocks noRot="1" noChangeAspect="1" noMove="1" noResize="1" noEditPoints="1" noAdjustHandles="1" noChangeArrowheads="1" noChangeShapeType="1" noTextEdit="1"/>
              </p:cNvSpPr>
              <p:nvPr/>
            </p:nvSpPr>
            <p:spPr>
              <a:xfrm>
                <a:off x="10970035" y="2395303"/>
                <a:ext cx="1120876" cy="307777"/>
              </a:xfrm>
              <a:prstGeom prst="rect">
                <a:avLst/>
              </a:prstGeom>
              <a:blipFill>
                <a:blip r:embed="rId7"/>
                <a:stretch>
                  <a:fillRect l="-1639" t="-4000" b="-20000"/>
                </a:stretch>
              </a:blipFill>
            </p:spPr>
            <p:txBody>
              <a:bodyPr/>
              <a:lstStyle/>
              <a:p>
                <a:r>
                  <a:rPr lang="en-US">
                    <a:noFill/>
                  </a:rPr>
                  <a:t> </a:t>
                </a:r>
              </a:p>
            </p:txBody>
          </p:sp>
        </mc:Fallback>
      </mc:AlternateContent>
      <p:sp>
        <p:nvSpPr>
          <p:cNvPr id="66" name="Flowchart: Connector 65">
            <a:extLst>
              <a:ext uri="{FF2B5EF4-FFF2-40B4-BE49-F238E27FC236}">
                <a16:creationId xmlns:a16="http://schemas.microsoft.com/office/drawing/2014/main" id="{B260E489-2ECF-23A9-7786-FC49456A18D6}"/>
              </a:ext>
            </a:extLst>
          </p:cNvPr>
          <p:cNvSpPr/>
          <p:nvPr/>
        </p:nvSpPr>
        <p:spPr>
          <a:xfrm>
            <a:off x="10842973" y="2485283"/>
            <a:ext cx="127819" cy="12781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1F9B4B28-7CCD-5C00-6DFA-57FCD0C09985}"/>
              </a:ext>
            </a:extLst>
          </p:cNvPr>
          <p:cNvCxnSpPr>
            <a:cxnSpLocks/>
          </p:cNvCxnSpPr>
          <p:nvPr/>
        </p:nvCxnSpPr>
        <p:spPr>
          <a:xfrm flipV="1">
            <a:off x="10038681" y="2626271"/>
            <a:ext cx="815163" cy="90981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2E810696-30F1-A5BB-7E7B-3CFD85DBA150}"/>
              </a:ext>
            </a:extLst>
          </p:cNvPr>
          <p:cNvCxnSpPr>
            <a:cxnSpLocks/>
          </p:cNvCxnSpPr>
          <p:nvPr/>
        </p:nvCxnSpPr>
        <p:spPr>
          <a:xfrm flipV="1">
            <a:off x="10911632" y="2626271"/>
            <a:ext cx="0" cy="93610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A90306D2-1594-63CE-413F-36AF5EEAA8D8}"/>
              </a:ext>
            </a:extLst>
          </p:cNvPr>
          <p:cNvCxnSpPr>
            <a:cxnSpLocks/>
          </p:cNvCxnSpPr>
          <p:nvPr/>
        </p:nvCxnSpPr>
        <p:spPr>
          <a:xfrm>
            <a:off x="10080676" y="3549251"/>
            <a:ext cx="830956"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7071121-5D29-A8F5-B307-CB5C7E0AB9A1}"/>
                  </a:ext>
                </a:extLst>
              </p:cNvPr>
              <p:cNvSpPr txBox="1"/>
              <p:nvPr/>
            </p:nvSpPr>
            <p:spPr>
              <a:xfrm>
                <a:off x="10752575" y="2902338"/>
                <a:ext cx="121919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70" name="TextBox 69">
                <a:extLst>
                  <a:ext uri="{FF2B5EF4-FFF2-40B4-BE49-F238E27FC236}">
                    <a16:creationId xmlns:a16="http://schemas.microsoft.com/office/drawing/2014/main" id="{A7071121-5D29-A8F5-B307-CB5C7E0AB9A1}"/>
                  </a:ext>
                </a:extLst>
              </p:cNvPr>
              <p:cNvSpPr txBox="1">
                <a:spLocks noRot="1" noChangeAspect="1" noMove="1" noResize="1" noEditPoints="1" noAdjustHandles="1" noChangeArrowheads="1" noChangeShapeType="1" noTextEdit="1"/>
              </p:cNvSpPr>
              <p:nvPr/>
            </p:nvSpPr>
            <p:spPr>
              <a:xfrm>
                <a:off x="10752575" y="2902338"/>
                <a:ext cx="1219199"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C2DD170-9725-B15E-C498-A4BD799994C0}"/>
                  </a:ext>
                </a:extLst>
              </p:cNvPr>
              <p:cNvSpPr txBox="1"/>
              <p:nvPr/>
            </p:nvSpPr>
            <p:spPr>
              <a:xfrm>
                <a:off x="9892802" y="4378527"/>
                <a:ext cx="121919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71" name="TextBox 70">
                <a:extLst>
                  <a:ext uri="{FF2B5EF4-FFF2-40B4-BE49-F238E27FC236}">
                    <a16:creationId xmlns:a16="http://schemas.microsoft.com/office/drawing/2014/main" id="{DC2DD170-9725-B15E-C498-A4BD799994C0}"/>
                  </a:ext>
                </a:extLst>
              </p:cNvPr>
              <p:cNvSpPr txBox="1">
                <a:spLocks noRot="1" noChangeAspect="1" noMove="1" noResize="1" noEditPoints="1" noAdjustHandles="1" noChangeArrowheads="1" noChangeShapeType="1" noTextEdit="1"/>
              </p:cNvSpPr>
              <p:nvPr/>
            </p:nvSpPr>
            <p:spPr>
              <a:xfrm>
                <a:off x="9892802" y="4378527"/>
                <a:ext cx="1219199"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7B96C69-ED57-660C-4079-E2571BEC6101}"/>
                  </a:ext>
                </a:extLst>
              </p:cNvPr>
              <p:cNvSpPr txBox="1"/>
              <p:nvPr/>
            </p:nvSpPr>
            <p:spPr>
              <a:xfrm>
                <a:off x="7803490" y="2764413"/>
                <a:ext cx="2890683" cy="3532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sz="1400" i="1" smtClean="0">
                              <a:latin typeface="Cambria Math" panose="02040503050406030204" pitchFamily="18" charset="0"/>
                            </a:rPr>
                          </m:ctrlPr>
                        </m:radPr>
                        <m:deg/>
                        <m:e>
                          <m:sSup>
                            <m:sSupPr>
                              <m:ctrlPr>
                                <a:rPr lang="vi-VN" sz="1400" i="1" smtClean="0">
                                  <a:latin typeface="Cambria Math" panose="02040503050406030204" pitchFamily="18" charset="0"/>
                                </a:rPr>
                              </m:ctrlPr>
                            </m:sSupPr>
                            <m:e>
                              <m:d>
                                <m:dPr>
                                  <m:ctrlPr>
                                    <a:rPr lang="vi-VN" sz="1400" i="1" smtClean="0">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e>
                              </m:d>
                            </m:e>
                            <m:sup>
                              <m:r>
                                <a:rPr lang="vi-VN" sz="1400" i="1">
                                  <a:latin typeface="Cambria Math" panose="02040503050406030204" pitchFamily="18" charset="0"/>
                                </a:rPr>
                                <m:t>2</m:t>
                              </m:r>
                            </m:sup>
                          </m:sSup>
                          <m:r>
                            <a:rPr lang="vi-VN" sz="1400" i="1" smtClean="0">
                              <a:latin typeface="Cambria Math" panose="02040503050406030204" pitchFamily="18" charset="0"/>
                              <a:ea typeface="Cambria Math" panose="02040503050406030204" pitchFamily="18" charset="0"/>
                            </a:rPr>
                            <m:t>+</m:t>
                          </m:r>
                          <m:sSup>
                            <m:sSupPr>
                              <m:ctrlPr>
                                <a:rPr lang="vi-VN" sz="1400" i="1" smtClean="0">
                                  <a:latin typeface="Cambria Math" panose="02040503050406030204" pitchFamily="18" charset="0"/>
                                  <a:ea typeface="Cambria Math" panose="02040503050406030204" pitchFamily="18" charset="0"/>
                                </a:rPr>
                              </m:ctrlPr>
                            </m:sSupPr>
                            <m:e>
                              <m:d>
                                <m:dPr>
                                  <m:ctrlPr>
                                    <a:rPr lang="vi-VN" sz="1400" i="1" smtClean="0">
                                      <a:latin typeface="Cambria Math" panose="02040503050406030204" pitchFamily="18" charset="0"/>
                                      <a:ea typeface="Cambria Math" panose="02040503050406030204" pitchFamily="18" charset="0"/>
                                    </a:rPr>
                                  </m:ctrlPr>
                                </m:dPr>
                                <m:e>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B</m:t>
                                      </m:r>
                                    </m:sub>
                                  </m:sSub>
                                  <m:r>
                                    <a:rPr lang="vi-VN" sz="1400" i="1">
                                      <a:latin typeface="Cambria Math" panose="02040503050406030204" pitchFamily="18" charset="0"/>
                                      <a:ea typeface="Cambria Math" panose="02040503050406030204" pitchFamily="18" charset="0"/>
                                    </a:rPr>
                                    <m:t>−</m:t>
                                  </m:r>
                                  <m:sSub>
                                    <m:sSubPr>
                                      <m:ctrlPr>
                                        <a:rPr lang="en-US" sz="1400" i="1">
                                          <a:latin typeface="Cambria Math" panose="02040503050406030204" pitchFamily="18" charset="0"/>
                                        </a:rPr>
                                      </m:ctrlPr>
                                    </m:sSubPr>
                                    <m:e>
                                      <m:r>
                                        <m:rPr>
                                          <m:sty m:val="p"/>
                                        </m:rPr>
                                        <a:rPr lang="vi-VN" sz="1400" i="1">
                                          <a:latin typeface="Cambria Math" panose="02040503050406030204" pitchFamily="18" charset="0"/>
                                        </a:rPr>
                                        <m:t>y</m:t>
                                      </m:r>
                                    </m:e>
                                    <m:sub>
                                      <m:r>
                                        <m:rPr>
                                          <m:sty m:val="p"/>
                                        </m:rPr>
                                        <a:rPr lang="vi-VN" sz="1400" i="1">
                                          <a:latin typeface="Cambria Math" panose="02040503050406030204" pitchFamily="18" charset="0"/>
                                        </a:rPr>
                                        <m:t>max</m:t>
                                      </m:r>
                                    </m:sub>
                                  </m:sSub>
                                </m:e>
                              </m:d>
                            </m:e>
                            <m:sup>
                              <m:r>
                                <a:rPr lang="vi-VN" sz="1400" i="1">
                                  <a:latin typeface="Cambria Math" panose="02040503050406030204" pitchFamily="18" charset="0"/>
                                  <a:ea typeface="Cambria Math" panose="02040503050406030204" pitchFamily="18" charset="0"/>
                                </a:rPr>
                                <m:t>2</m:t>
                              </m:r>
                            </m:sup>
                          </m:sSup>
                        </m:e>
                      </m:rad>
                    </m:oMath>
                  </m:oMathPara>
                </a14:m>
                <a:endParaRPr lang="en-US" sz="1400" dirty="0"/>
              </a:p>
            </p:txBody>
          </p:sp>
        </mc:Choice>
        <mc:Fallback xmlns="">
          <p:sp>
            <p:nvSpPr>
              <p:cNvPr id="72" name="TextBox 71">
                <a:extLst>
                  <a:ext uri="{FF2B5EF4-FFF2-40B4-BE49-F238E27FC236}">
                    <a16:creationId xmlns:a16="http://schemas.microsoft.com/office/drawing/2014/main" id="{B7B96C69-ED57-660C-4079-E2571BEC6101}"/>
                  </a:ext>
                </a:extLst>
              </p:cNvPr>
              <p:cNvSpPr txBox="1">
                <a:spLocks noRot="1" noChangeAspect="1" noMove="1" noResize="1" noEditPoints="1" noAdjustHandles="1" noChangeArrowheads="1" noChangeShapeType="1" noTextEdit="1"/>
              </p:cNvSpPr>
              <p:nvPr/>
            </p:nvSpPr>
            <p:spPr>
              <a:xfrm>
                <a:off x="7803490" y="2764413"/>
                <a:ext cx="2890683" cy="353238"/>
              </a:xfrm>
              <a:prstGeom prst="rect">
                <a:avLst/>
              </a:prstGeom>
              <a:blipFill>
                <a:blip r:embed="rId10"/>
                <a:stretch>
                  <a:fillRect b="-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E5AF9FF-D8D0-B310-24FD-00E36DED01CB}"/>
                  </a:ext>
                </a:extLst>
              </p:cNvPr>
              <p:cNvSpPr txBox="1"/>
              <p:nvPr/>
            </p:nvSpPr>
            <p:spPr>
              <a:xfrm>
                <a:off x="9941722" y="3560787"/>
                <a:ext cx="121919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A</m:t>
                          </m:r>
                        </m:sub>
                      </m:sSub>
                      <m:r>
                        <a:rPr lang="vi-VN" sz="1400" i="1">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rPr>
                          </m:ctrlPr>
                        </m:sSubPr>
                        <m:e>
                          <m:r>
                            <m:rPr>
                              <m:sty m:val="p"/>
                            </m:rPr>
                            <a:rPr lang="vi-VN" sz="1400" i="1">
                              <a:latin typeface="Cambria Math" panose="02040503050406030204" pitchFamily="18" charset="0"/>
                            </a:rPr>
                            <m:t>x</m:t>
                          </m:r>
                        </m:e>
                        <m:sub>
                          <m:r>
                            <m:rPr>
                              <m:sty m:val="p"/>
                            </m:rPr>
                            <a:rPr lang="vi-VN" sz="1400" i="1">
                              <a:latin typeface="Cambria Math" panose="02040503050406030204" pitchFamily="18" charset="0"/>
                            </a:rPr>
                            <m:t>max</m:t>
                          </m:r>
                        </m:sub>
                      </m:sSub>
                    </m:oMath>
                  </m:oMathPara>
                </a14:m>
                <a:endParaRPr lang="en-US" sz="1400" dirty="0"/>
              </a:p>
            </p:txBody>
          </p:sp>
        </mc:Choice>
        <mc:Fallback xmlns="">
          <p:sp>
            <p:nvSpPr>
              <p:cNvPr id="73" name="TextBox 72">
                <a:extLst>
                  <a:ext uri="{FF2B5EF4-FFF2-40B4-BE49-F238E27FC236}">
                    <a16:creationId xmlns:a16="http://schemas.microsoft.com/office/drawing/2014/main" id="{2E5AF9FF-D8D0-B310-24FD-00E36DED01CB}"/>
                  </a:ext>
                </a:extLst>
              </p:cNvPr>
              <p:cNvSpPr txBox="1">
                <a:spLocks noRot="1" noChangeAspect="1" noMove="1" noResize="1" noEditPoints="1" noAdjustHandles="1" noChangeArrowheads="1" noChangeShapeType="1" noTextEdit="1"/>
              </p:cNvSpPr>
              <p:nvPr/>
            </p:nvSpPr>
            <p:spPr>
              <a:xfrm>
                <a:off x="9941722" y="3560787"/>
                <a:ext cx="1219199" cy="307777"/>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449696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F3ED2-1083-281F-A54F-4230BA5A5D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AE8273-6F9E-CA3C-6DC8-449FC867DD50}"/>
              </a:ext>
            </a:extLst>
          </p:cNvPr>
          <p:cNvSpPr>
            <a:spLocks noGrp="1"/>
          </p:cNvSpPr>
          <p:nvPr>
            <p:ph type="sldNum" sz="quarter" idx="12"/>
          </p:nvPr>
        </p:nvSpPr>
        <p:spPr/>
        <p:txBody>
          <a:bodyPr/>
          <a:lstStyle/>
          <a:p>
            <a:fld id="{9B618960-8005-486C-9A75-10CB2AAC16F9}" type="slidenum">
              <a:rPr lang="en-US" smtClean="0"/>
              <a:t>48</a:t>
            </a:fld>
            <a:endParaRPr lang="en-US" dirty="0"/>
          </a:p>
        </p:txBody>
      </p:sp>
      <p:sp>
        <p:nvSpPr>
          <p:cNvPr id="5" name="TextBox 3">
            <a:extLst>
              <a:ext uri="{FF2B5EF4-FFF2-40B4-BE49-F238E27FC236}">
                <a16:creationId xmlns:a16="http://schemas.microsoft.com/office/drawing/2014/main" id="{C2A5E3F5-188A-5AB4-6DE7-FC0F69591454}"/>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BEBA54E9-5497-620B-0B63-9B6E829D0B05}"/>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614199E4-E5EC-22C7-510F-B39C008E1BD7}"/>
                  </a:ext>
                </a:extLst>
              </p:cNvPr>
              <p:cNvSpPr txBox="1"/>
              <p:nvPr/>
            </p:nvSpPr>
            <p:spPr>
              <a:xfrm>
                <a:off x="1079999" y="2097332"/>
                <a:ext cx="5016001" cy="4488601"/>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Các ô xung quanh theo bán kính đồng tâm </a:t>
                </a:r>
                <a14:m>
                  <m:oMath xmlns:m="http://schemas.openxmlformats.org/officeDocument/2006/math">
                    <m:d>
                      <m:dPr>
                        <m:ctrlPr>
                          <a:rPr lang="vi-VN" i="1" smtClean="0">
                            <a:latin typeface="Cambria Math" panose="02040503050406030204" pitchFamily="18" charset="0"/>
                            <a:cs typeface="Times New Roman" panose="02020603050405020304" pitchFamily="18" charset="0"/>
                          </a:rPr>
                        </m:ctrlPr>
                      </m:dPr>
                      <m:e>
                        <m:r>
                          <m:rPr>
                            <m:sty m:val="p"/>
                          </m:rPr>
                          <a:rPr lang="vi-VN" i="1">
                            <a:latin typeface="Cambria Math" panose="02040503050406030204" pitchFamily="18" charset="0"/>
                            <a:cs typeface="Times New Roman" panose="02020603050405020304" pitchFamily="18" charset="0"/>
                          </a:rPr>
                          <m:t>r</m:t>
                        </m:r>
                      </m:e>
                    </m:d>
                  </m:oMath>
                </a14:m>
                <a:endParaRPr lang="vi-VN" dirty="0">
                  <a:latin typeface="Times New Roman" panose="02020603050405020304" pitchFamily="18" charset="0"/>
                  <a:cs typeface="Times New Roman" panose="02020603050405020304" pitchFamily="18" charset="0"/>
                </a:endParaRP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Thuật toán không quét toàn bộ lưới cùng một lúc mà mở rộng không gian tìm kiếm từ trong ra ngoài theo từng lớp vỏ hình học, ký hiệu là bán kính r (với r = 0, 1, 2, ...).</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Cấu trúc các lớp vỏ không gian</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Khi r = 0: thuật toán chỉ xét chính ô chứa điểm hiện tại.</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Khi r = 1: thuật toán quét lớp vỏ sát vách gồm 8 ô xung quanh.</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Khi r = 2: thuật toán quét lớp vỏ tiếp theo gồm 16 ô xung quanh.</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Tổng quát: Tại một bán kính r, số lượng ô nằm trên viền vỏ cần quét là 8 </a:t>
                </a: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r ô.</a:t>
                </a:r>
              </a:p>
            </p:txBody>
          </p:sp>
        </mc:Choice>
        <mc:Fallback xmlns="">
          <p:sp>
            <p:nvSpPr>
              <p:cNvPr id="3" name="TextBox 5">
                <a:extLst>
                  <a:ext uri="{FF2B5EF4-FFF2-40B4-BE49-F238E27FC236}">
                    <a16:creationId xmlns:a16="http://schemas.microsoft.com/office/drawing/2014/main" id="{614199E4-E5EC-22C7-510F-B39C008E1BD7}"/>
                  </a:ext>
                </a:extLst>
              </p:cNvPr>
              <p:cNvSpPr txBox="1">
                <a:spLocks noRot="1" noChangeAspect="1" noMove="1" noResize="1" noEditPoints="1" noAdjustHandles="1" noChangeArrowheads="1" noChangeShapeType="1" noTextEdit="1"/>
              </p:cNvSpPr>
              <p:nvPr/>
            </p:nvSpPr>
            <p:spPr>
              <a:xfrm>
                <a:off x="1079999" y="2097332"/>
                <a:ext cx="5016001" cy="4488601"/>
              </a:xfrm>
              <a:prstGeom prst="rect">
                <a:avLst/>
              </a:prstGeom>
              <a:blipFill>
                <a:blip r:embed="rId2"/>
                <a:stretch>
                  <a:fillRect l="-729" t="-408" r="-1094" b="-1223"/>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0EE3FCA1-40D6-7C58-587C-909A72488614}"/>
              </a:ext>
            </a:extLst>
          </p:cNvPr>
          <p:cNvGrpSpPr/>
          <p:nvPr/>
        </p:nvGrpSpPr>
        <p:grpSpPr>
          <a:xfrm>
            <a:off x="7680222" y="1909419"/>
            <a:ext cx="2480186" cy="2477728"/>
            <a:chOff x="7678994" y="2263414"/>
            <a:chExt cx="2480186" cy="2477728"/>
          </a:xfrm>
          <a:solidFill>
            <a:srgbClr val="00B0F0"/>
          </a:solidFill>
        </p:grpSpPr>
        <p:sp>
          <p:nvSpPr>
            <p:cNvPr id="2" name="Rectangle 1">
              <a:extLst>
                <a:ext uri="{FF2B5EF4-FFF2-40B4-BE49-F238E27FC236}">
                  <a16:creationId xmlns:a16="http://schemas.microsoft.com/office/drawing/2014/main" id="{39A8FDDA-408C-B687-409D-5B077442FBF2}"/>
                </a:ext>
              </a:extLst>
            </p:cNvPr>
            <p:cNvSpPr/>
            <p:nvPr/>
          </p:nvSpPr>
          <p:spPr>
            <a:xfrm>
              <a:off x="8300884" y="4121710"/>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9" name="Rectangle 8">
              <a:extLst>
                <a:ext uri="{FF2B5EF4-FFF2-40B4-BE49-F238E27FC236}">
                  <a16:creationId xmlns:a16="http://schemas.microsoft.com/office/drawing/2014/main" id="{8D3FB204-30CB-17E7-C50E-3BF6DED515A6}"/>
                </a:ext>
              </a:extLst>
            </p:cNvPr>
            <p:cNvSpPr/>
            <p:nvPr/>
          </p:nvSpPr>
          <p:spPr>
            <a:xfrm>
              <a:off x="8300884" y="3502278"/>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0</a:t>
              </a:r>
              <a:endParaRPr lang="en-US" sz="1400" dirty="0">
                <a:latin typeface="+mj-lt"/>
              </a:endParaRPr>
            </a:p>
          </p:txBody>
        </p:sp>
        <p:sp>
          <p:nvSpPr>
            <p:cNvPr id="10" name="Rectangle 9">
              <a:extLst>
                <a:ext uri="{FF2B5EF4-FFF2-40B4-BE49-F238E27FC236}">
                  <a16:creationId xmlns:a16="http://schemas.microsoft.com/office/drawing/2014/main" id="{86432B36-CA71-8A4B-3361-A11FDC982C3E}"/>
                </a:ext>
              </a:extLst>
            </p:cNvPr>
            <p:cNvSpPr/>
            <p:nvPr/>
          </p:nvSpPr>
          <p:spPr>
            <a:xfrm>
              <a:off x="8920316" y="2882846"/>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11" name="Rectangle 10">
              <a:extLst>
                <a:ext uri="{FF2B5EF4-FFF2-40B4-BE49-F238E27FC236}">
                  <a16:creationId xmlns:a16="http://schemas.microsoft.com/office/drawing/2014/main" id="{5510842F-86BF-3CE5-ED85-3727F8F472AA}"/>
                </a:ext>
              </a:extLst>
            </p:cNvPr>
            <p:cNvSpPr/>
            <p:nvPr/>
          </p:nvSpPr>
          <p:spPr>
            <a:xfrm>
              <a:off x="8920316" y="4121710"/>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18" name="Rectangle 17">
              <a:extLst>
                <a:ext uri="{FF2B5EF4-FFF2-40B4-BE49-F238E27FC236}">
                  <a16:creationId xmlns:a16="http://schemas.microsoft.com/office/drawing/2014/main" id="{95A6E7C6-B096-B017-8366-299EE3D07570}"/>
                </a:ext>
              </a:extLst>
            </p:cNvPr>
            <p:cNvSpPr/>
            <p:nvPr/>
          </p:nvSpPr>
          <p:spPr>
            <a:xfrm>
              <a:off x="7681452" y="4121710"/>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19" name="Rectangle 18">
              <a:extLst>
                <a:ext uri="{FF2B5EF4-FFF2-40B4-BE49-F238E27FC236}">
                  <a16:creationId xmlns:a16="http://schemas.microsoft.com/office/drawing/2014/main" id="{6583C411-0AB9-F170-6C30-8454C5414613}"/>
                </a:ext>
              </a:extLst>
            </p:cNvPr>
            <p:cNvSpPr/>
            <p:nvPr/>
          </p:nvSpPr>
          <p:spPr>
            <a:xfrm>
              <a:off x="7678994" y="3502278"/>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20" name="Rectangle 19">
              <a:extLst>
                <a:ext uri="{FF2B5EF4-FFF2-40B4-BE49-F238E27FC236}">
                  <a16:creationId xmlns:a16="http://schemas.microsoft.com/office/drawing/2014/main" id="{9EAAFE7A-DE1B-EAA1-1E6F-89DE4BCFD2C9}"/>
                </a:ext>
              </a:extLst>
            </p:cNvPr>
            <p:cNvSpPr/>
            <p:nvPr/>
          </p:nvSpPr>
          <p:spPr>
            <a:xfrm>
              <a:off x="8920316" y="3502278"/>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21" name="Rectangle 20">
              <a:extLst>
                <a:ext uri="{FF2B5EF4-FFF2-40B4-BE49-F238E27FC236}">
                  <a16:creationId xmlns:a16="http://schemas.microsoft.com/office/drawing/2014/main" id="{1D66DBEF-C66C-59DA-6AC7-585B15C0FA94}"/>
                </a:ext>
              </a:extLst>
            </p:cNvPr>
            <p:cNvSpPr/>
            <p:nvPr/>
          </p:nvSpPr>
          <p:spPr>
            <a:xfrm>
              <a:off x="8300884" y="2882846"/>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22" name="Rectangle 21">
              <a:extLst>
                <a:ext uri="{FF2B5EF4-FFF2-40B4-BE49-F238E27FC236}">
                  <a16:creationId xmlns:a16="http://schemas.microsoft.com/office/drawing/2014/main" id="{E391AE63-81A4-56F3-27CE-624560F57BC1}"/>
                </a:ext>
              </a:extLst>
            </p:cNvPr>
            <p:cNvSpPr/>
            <p:nvPr/>
          </p:nvSpPr>
          <p:spPr>
            <a:xfrm>
              <a:off x="7678994" y="2882846"/>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1</a:t>
              </a:r>
              <a:endParaRPr lang="en-US" sz="1400" dirty="0">
                <a:latin typeface="+mj-lt"/>
              </a:endParaRPr>
            </a:p>
          </p:txBody>
        </p:sp>
        <p:sp>
          <p:nvSpPr>
            <p:cNvPr id="23" name="Rectangle 22">
              <a:extLst>
                <a:ext uri="{FF2B5EF4-FFF2-40B4-BE49-F238E27FC236}">
                  <a16:creationId xmlns:a16="http://schemas.microsoft.com/office/drawing/2014/main" id="{00AE7C9A-5CBE-AC9B-3AE3-4E5E47B5ED50}"/>
                </a:ext>
              </a:extLst>
            </p:cNvPr>
            <p:cNvSpPr/>
            <p:nvPr/>
          </p:nvSpPr>
          <p:spPr>
            <a:xfrm>
              <a:off x="8300884" y="2263414"/>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2</a:t>
              </a:r>
              <a:endParaRPr lang="en-US" sz="1400" dirty="0">
                <a:latin typeface="+mj-lt"/>
              </a:endParaRPr>
            </a:p>
          </p:txBody>
        </p:sp>
        <p:sp>
          <p:nvSpPr>
            <p:cNvPr id="24" name="Rectangle 23">
              <a:extLst>
                <a:ext uri="{FF2B5EF4-FFF2-40B4-BE49-F238E27FC236}">
                  <a16:creationId xmlns:a16="http://schemas.microsoft.com/office/drawing/2014/main" id="{2954A138-8D56-A1F8-7803-20FA40999139}"/>
                </a:ext>
              </a:extLst>
            </p:cNvPr>
            <p:cNvSpPr/>
            <p:nvPr/>
          </p:nvSpPr>
          <p:spPr>
            <a:xfrm>
              <a:off x="9539748" y="3502278"/>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2</a:t>
              </a:r>
              <a:endParaRPr lang="en-US" sz="1400" dirty="0">
                <a:latin typeface="+mj-lt"/>
              </a:endParaRPr>
            </a:p>
          </p:txBody>
        </p:sp>
        <p:sp>
          <p:nvSpPr>
            <p:cNvPr id="25" name="Rectangle 24">
              <a:extLst>
                <a:ext uri="{FF2B5EF4-FFF2-40B4-BE49-F238E27FC236}">
                  <a16:creationId xmlns:a16="http://schemas.microsoft.com/office/drawing/2014/main" id="{ABF1D95D-DB38-82CF-151B-938BE067A8F5}"/>
                </a:ext>
              </a:extLst>
            </p:cNvPr>
            <p:cNvSpPr/>
            <p:nvPr/>
          </p:nvSpPr>
          <p:spPr>
            <a:xfrm>
              <a:off x="9539748" y="2263414"/>
              <a:ext cx="619432" cy="619432"/>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latin typeface="+mj-lt"/>
                </a:rPr>
                <a:t>r = 2</a:t>
              </a:r>
              <a:endParaRPr lang="en-US" sz="1400" dirty="0">
                <a:latin typeface="+mj-lt"/>
              </a:endParaRPr>
            </a:p>
          </p:txBody>
        </p:sp>
      </p:grpSp>
      <p:sp>
        <p:nvSpPr>
          <p:cNvPr id="27" name="TextBox 26">
            <a:extLst>
              <a:ext uri="{FF2B5EF4-FFF2-40B4-BE49-F238E27FC236}">
                <a16:creationId xmlns:a16="http://schemas.microsoft.com/office/drawing/2014/main" id="{D27A12C5-361D-2829-20E0-D73DBCD50C64}"/>
              </a:ext>
            </a:extLst>
          </p:cNvPr>
          <p:cNvSpPr txBox="1"/>
          <p:nvPr/>
        </p:nvSpPr>
        <p:spPr>
          <a:xfrm>
            <a:off x="6877663" y="4633084"/>
            <a:ext cx="4087761" cy="1477328"/>
          </a:xfrm>
          <a:prstGeom prst="rect">
            <a:avLst/>
          </a:prstGeom>
          <a:noFill/>
        </p:spPr>
        <p:txBody>
          <a:bodyPr wrap="square" rtlCol="0">
            <a:spAutoFit/>
          </a:bodyPr>
          <a:lstStyle/>
          <a:p>
            <a:pPr marL="285750" indent="-285750">
              <a:buFont typeface="Wingdings" panose="05000000000000000000" pitchFamily="2" charset="2"/>
              <a:buChar char="v"/>
            </a:pPr>
            <a:r>
              <a:rPr lang="vi-VN" dirty="0">
                <a:latin typeface="+mj-lt"/>
              </a:rPr>
              <a:t>Cơ chế định vị viền ngoài</a:t>
            </a:r>
          </a:p>
          <a:p>
            <a:pPr marL="285750" indent="-285750">
              <a:buFontTx/>
              <a:buChar char="-"/>
            </a:pPr>
            <a:r>
              <a:rPr lang="vi-VN" dirty="0">
                <a:latin typeface="+mj-lt"/>
              </a:rPr>
              <a:t>Để đảm bảo hiệu năng, thuật toán chỉ quét những ô nằm đúng ở lớp vỏ ngoài cùng của bán kính r, tuyệt đối không quét lại các ô ở vòng bên trong (r – 1)</a:t>
            </a:r>
          </a:p>
        </p:txBody>
      </p:sp>
    </p:spTree>
    <p:extLst>
      <p:ext uri="{BB962C8B-B14F-4D97-AF65-F5344CB8AC3E}">
        <p14:creationId xmlns:p14="http://schemas.microsoft.com/office/powerpoint/2010/main" val="27633633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0D0AD-8047-28E0-6D54-748C34C0796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B38422-8573-9821-C151-08BCE3636B85}"/>
              </a:ext>
            </a:extLst>
          </p:cNvPr>
          <p:cNvSpPr>
            <a:spLocks noGrp="1"/>
          </p:cNvSpPr>
          <p:nvPr>
            <p:ph type="sldNum" sz="quarter" idx="12"/>
          </p:nvPr>
        </p:nvSpPr>
        <p:spPr/>
        <p:txBody>
          <a:bodyPr/>
          <a:lstStyle/>
          <a:p>
            <a:fld id="{9B618960-8005-486C-9A75-10CB2AAC16F9}" type="slidenum">
              <a:rPr lang="en-US" smtClean="0"/>
              <a:t>49</a:t>
            </a:fld>
            <a:endParaRPr lang="en-US" dirty="0"/>
          </a:p>
        </p:txBody>
      </p:sp>
      <p:sp>
        <p:nvSpPr>
          <p:cNvPr id="5" name="TextBox 3">
            <a:extLst>
              <a:ext uri="{FF2B5EF4-FFF2-40B4-BE49-F238E27FC236}">
                <a16:creationId xmlns:a16="http://schemas.microsoft.com/office/drawing/2014/main" id="{2F0760F2-C201-FA61-E39C-38EE04F32370}"/>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4F66D148-3205-D204-8405-AD31D43311D2}"/>
              </a:ext>
            </a:extLst>
          </p:cNvPr>
          <p:cNvSpPr txBox="1"/>
          <p:nvPr/>
        </p:nvSpPr>
        <p:spPr>
          <a:xfrm>
            <a:off x="1079999" y="1728000"/>
            <a:ext cx="3774103" cy="369332"/>
          </a:xfrm>
          <a:prstGeom prst="rect">
            <a:avLst/>
          </a:prstGeom>
          <a:noFill/>
        </p:spPr>
        <p:txBody>
          <a:bodyPr wrap="square" rtlCol="0">
            <a:spAutoFit/>
          </a:bodyPr>
          <a:lstStyle/>
          <a:p>
            <a:r>
              <a:rPr lang="vi-VN" dirty="0">
                <a:latin typeface="+mj-lt"/>
              </a:rPr>
              <a:t>MỘT SỐ KIẾN THỨC NỀN TẢNG </a:t>
            </a:r>
            <a:endParaRPr lang="en-US" dirty="0">
              <a:latin typeface="+mj-lt"/>
            </a:endParaRPr>
          </a:p>
        </p:txBody>
      </p:sp>
      <p:sp>
        <p:nvSpPr>
          <p:cNvPr id="3" name="TextBox 5">
            <a:extLst>
              <a:ext uri="{FF2B5EF4-FFF2-40B4-BE49-F238E27FC236}">
                <a16:creationId xmlns:a16="http://schemas.microsoft.com/office/drawing/2014/main" id="{D578910A-A720-FE8F-CE21-E9305557A502}"/>
              </a:ext>
            </a:extLst>
          </p:cNvPr>
          <p:cNvSpPr txBox="1"/>
          <p:nvPr/>
        </p:nvSpPr>
        <p:spPr>
          <a:xfrm>
            <a:off x="1079999" y="2097332"/>
            <a:ext cx="4416233" cy="4172809"/>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Thứ tự duyệt chi tiết của 8 ô xung quanh (khi r = 1)</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Quy luật quét hình học: Cố định cột (dx), quét từ dưới lên trên (dy). Xong một cột thì dịch sang phải (tăng dx).</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Thứ tự này hoàn toàn tuân theo logic toán học của vòng lặp lồng nhau (Nested Loop) trong lập trình cơ bản, chứ chưa có sự ưu tiên theo khoảng cách.</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Nó cứ bốc lần lượt từng ô theo thứ tự hình học từ trái sang phải như trên để kiểm tra. Ô nào rỗng hoặc quá xa thì bị loại bỏ ngay tại thời điểm gọi tên ô đó.</a:t>
            </a:r>
          </a:p>
        </p:txBody>
      </p:sp>
      <p:grpSp>
        <p:nvGrpSpPr>
          <p:cNvPr id="45" name="Group 44">
            <a:extLst>
              <a:ext uri="{FF2B5EF4-FFF2-40B4-BE49-F238E27FC236}">
                <a16:creationId xmlns:a16="http://schemas.microsoft.com/office/drawing/2014/main" id="{408A384B-21D2-79B4-923E-D3FC1B14E953}"/>
              </a:ext>
            </a:extLst>
          </p:cNvPr>
          <p:cNvGrpSpPr/>
          <p:nvPr/>
        </p:nvGrpSpPr>
        <p:grpSpPr>
          <a:xfrm>
            <a:off x="6870293" y="1536894"/>
            <a:ext cx="2910348" cy="3364522"/>
            <a:chOff x="6693312" y="2028473"/>
            <a:chExt cx="2910348" cy="3364522"/>
          </a:xfrm>
        </p:grpSpPr>
        <p:sp>
          <p:nvSpPr>
            <p:cNvPr id="12" name="Rectangle 11">
              <a:extLst>
                <a:ext uri="{FF2B5EF4-FFF2-40B4-BE49-F238E27FC236}">
                  <a16:creationId xmlns:a16="http://schemas.microsoft.com/office/drawing/2014/main" id="{C62A25B6-F0CD-8D92-A658-C84AB6890CEF}"/>
                </a:ext>
              </a:extLst>
            </p:cNvPr>
            <p:cNvSpPr/>
            <p:nvPr/>
          </p:nvSpPr>
          <p:spPr>
            <a:xfrm>
              <a:off x="6703143" y="4429433"/>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1</a:t>
              </a:r>
              <a:endParaRPr lang="en-US" sz="1600" dirty="0">
                <a:solidFill>
                  <a:srgbClr val="00B0F0"/>
                </a:solidFill>
                <a:latin typeface="+mj-lt"/>
              </a:endParaRPr>
            </a:p>
          </p:txBody>
        </p:sp>
        <p:sp>
          <p:nvSpPr>
            <p:cNvPr id="14" name="Rectangle 13">
              <a:extLst>
                <a:ext uri="{FF2B5EF4-FFF2-40B4-BE49-F238E27FC236}">
                  <a16:creationId xmlns:a16="http://schemas.microsoft.com/office/drawing/2014/main" id="{CCCF801E-B973-B31B-9AA4-6C97CFEDA195}"/>
                </a:ext>
              </a:extLst>
            </p:cNvPr>
            <p:cNvSpPr/>
            <p:nvPr/>
          </p:nvSpPr>
          <p:spPr>
            <a:xfrm>
              <a:off x="6703143" y="3465871"/>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2</a:t>
              </a:r>
              <a:endParaRPr lang="en-US" sz="1600" dirty="0">
                <a:solidFill>
                  <a:srgbClr val="00B0F0"/>
                </a:solidFill>
                <a:latin typeface="+mj-lt"/>
              </a:endParaRPr>
            </a:p>
          </p:txBody>
        </p:sp>
        <p:sp>
          <p:nvSpPr>
            <p:cNvPr id="16" name="Rectangle 15">
              <a:extLst>
                <a:ext uri="{FF2B5EF4-FFF2-40B4-BE49-F238E27FC236}">
                  <a16:creationId xmlns:a16="http://schemas.microsoft.com/office/drawing/2014/main" id="{2F72A27F-FE83-B8FE-75C4-8BE8033A2FD3}"/>
                </a:ext>
              </a:extLst>
            </p:cNvPr>
            <p:cNvSpPr/>
            <p:nvPr/>
          </p:nvSpPr>
          <p:spPr>
            <a:xfrm>
              <a:off x="7666705" y="2502309"/>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6</a:t>
              </a:r>
              <a:endParaRPr lang="en-US" sz="1600" dirty="0">
                <a:solidFill>
                  <a:srgbClr val="00B0F0"/>
                </a:solidFill>
                <a:latin typeface="+mj-lt"/>
              </a:endParaRPr>
            </a:p>
          </p:txBody>
        </p:sp>
        <p:sp>
          <p:nvSpPr>
            <p:cNvPr id="28" name="Rectangle 27">
              <a:extLst>
                <a:ext uri="{FF2B5EF4-FFF2-40B4-BE49-F238E27FC236}">
                  <a16:creationId xmlns:a16="http://schemas.microsoft.com/office/drawing/2014/main" id="{EE665901-3E9E-70A7-6A51-BD9E0EABCE5C}"/>
                </a:ext>
              </a:extLst>
            </p:cNvPr>
            <p:cNvSpPr/>
            <p:nvPr/>
          </p:nvSpPr>
          <p:spPr>
            <a:xfrm>
              <a:off x="6703143" y="2502309"/>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3</a:t>
              </a:r>
              <a:endParaRPr lang="en-US" sz="1600" dirty="0">
                <a:solidFill>
                  <a:srgbClr val="00B0F0"/>
                </a:solidFill>
                <a:latin typeface="+mj-lt"/>
              </a:endParaRPr>
            </a:p>
          </p:txBody>
        </p:sp>
        <p:sp>
          <p:nvSpPr>
            <p:cNvPr id="30" name="Rectangle 29">
              <a:extLst>
                <a:ext uri="{FF2B5EF4-FFF2-40B4-BE49-F238E27FC236}">
                  <a16:creationId xmlns:a16="http://schemas.microsoft.com/office/drawing/2014/main" id="{057ED4C0-B004-18EB-0ADE-D5A9C1AC3992}"/>
                </a:ext>
              </a:extLst>
            </p:cNvPr>
            <p:cNvSpPr/>
            <p:nvPr/>
          </p:nvSpPr>
          <p:spPr>
            <a:xfrm>
              <a:off x="7666705" y="3465871"/>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5 (ô gốc)</a:t>
              </a:r>
              <a:endParaRPr lang="en-US" sz="1600" dirty="0">
                <a:solidFill>
                  <a:srgbClr val="00B0F0"/>
                </a:solidFill>
                <a:latin typeface="+mj-lt"/>
              </a:endParaRPr>
            </a:p>
          </p:txBody>
        </p:sp>
        <p:sp>
          <p:nvSpPr>
            <p:cNvPr id="32" name="Rectangle 31">
              <a:extLst>
                <a:ext uri="{FF2B5EF4-FFF2-40B4-BE49-F238E27FC236}">
                  <a16:creationId xmlns:a16="http://schemas.microsoft.com/office/drawing/2014/main" id="{F151E7D7-E68A-0CC0-71EA-718B8D2DDFFC}"/>
                </a:ext>
              </a:extLst>
            </p:cNvPr>
            <p:cNvSpPr/>
            <p:nvPr/>
          </p:nvSpPr>
          <p:spPr>
            <a:xfrm>
              <a:off x="8630267" y="2502309"/>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9</a:t>
              </a:r>
              <a:endParaRPr lang="en-US" sz="1600" dirty="0">
                <a:solidFill>
                  <a:srgbClr val="00B0F0"/>
                </a:solidFill>
                <a:latin typeface="+mj-lt"/>
              </a:endParaRPr>
            </a:p>
          </p:txBody>
        </p:sp>
        <p:sp>
          <p:nvSpPr>
            <p:cNvPr id="34" name="Rectangle 33">
              <a:extLst>
                <a:ext uri="{FF2B5EF4-FFF2-40B4-BE49-F238E27FC236}">
                  <a16:creationId xmlns:a16="http://schemas.microsoft.com/office/drawing/2014/main" id="{202A4657-65B0-CB55-A87B-65F697914B79}"/>
                </a:ext>
              </a:extLst>
            </p:cNvPr>
            <p:cNvSpPr/>
            <p:nvPr/>
          </p:nvSpPr>
          <p:spPr>
            <a:xfrm>
              <a:off x="8630267" y="3465871"/>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8</a:t>
              </a:r>
              <a:endParaRPr lang="en-US" sz="1600" dirty="0">
                <a:solidFill>
                  <a:srgbClr val="00B0F0"/>
                </a:solidFill>
                <a:latin typeface="+mj-lt"/>
              </a:endParaRPr>
            </a:p>
          </p:txBody>
        </p:sp>
        <p:sp>
          <p:nvSpPr>
            <p:cNvPr id="36" name="Rectangle 35">
              <a:extLst>
                <a:ext uri="{FF2B5EF4-FFF2-40B4-BE49-F238E27FC236}">
                  <a16:creationId xmlns:a16="http://schemas.microsoft.com/office/drawing/2014/main" id="{1E9BE692-FB91-BB4A-6102-A5CBA72234ED}"/>
                </a:ext>
              </a:extLst>
            </p:cNvPr>
            <p:cNvSpPr/>
            <p:nvPr/>
          </p:nvSpPr>
          <p:spPr>
            <a:xfrm>
              <a:off x="7666705" y="4429433"/>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4</a:t>
              </a:r>
              <a:endParaRPr lang="en-US" sz="1600" dirty="0">
                <a:solidFill>
                  <a:srgbClr val="00B0F0"/>
                </a:solidFill>
                <a:latin typeface="+mj-lt"/>
              </a:endParaRPr>
            </a:p>
          </p:txBody>
        </p:sp>
        <p:sp>
          <p:nvSpPr>
            <p:cNvPr id="38" name="Rectangle 37">
              <a:extLst>
                <a:ext uri="{FF2B5EF4-FFF2-40B4-BE49-F238E27FC236}">
                  <a16:creationId xmlns:a16="http://schemas.microsoft.com/office/drawing/2014/main" id="{213C38A5-82E6-E17E-AE2C-DD9DB331F0AA}"/>
                </a:ext>
              </a:extLst>
            </p:cNvPr>
            <p:cNvSpPr/>
            <p:nvPr/>
          </p:nvSpPr>
          <p:spPr>
            <a:xfrm>
              <a:off x="8630267" y="4429433"/>
              <a:ext cx="963562" cy="9635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solidFill>
                    <a:srgbClr val="00B0F0"/>
                  </a:solidFill>
                  <a:latin typeface="+mj-lt"/>
                </a:rPr>
                <a:t>7</a:t>
              </a:r>
              <a:endParaRPr lang="en-US" sz="1600" dirty="0">
                <a:solidFill>
                  <a:srgbClr val="00B0F0"/>
                </a:solidFill>
                <a:latin typeface="+mj-lt"/>
              </a:endParaRPr>
            </a:p>
          </p:txBody>
        </p:sp>
        <p:sp>
          <p:nvSpPr>
            <p:cNvPr id="40" name="TextBox 39">
              <a:extLst>
                <a:ext uri="{FF2B5EF4-FFF2-40B4-BE49-F238E27FC236}">
                  <a16:creationId xmlns:a16="http://schemas.microsoft.com/office/drawing/2014/main" id="{61E4E4BE-308E-72A0-F663-15BB14404573}"/>
                </a:ext>
              </a:extLst>
            </p:cNvPr>
            <p:cNvSpPr txBox="1"/>
            <p:nvPr/>
          </p:nvSpPr>
          <p:spPr>
            <a:xfrm>
              <a:off x="6693312" y="2028473"/>
              <a:ext cx="963562" cy="338554"/>
            </a:xfrm>
            <a:prstGeom prst="rect">
              <a:avLst/>
            </a:prstGeom>
            <a:noFill/>
          </p:spPr>
          <p:txBody>
            <a:bodyPr wrap="square" rtlCol="0" anchor="ctr">
              <a:spAutoFit/>
            </a:bodyPr>
            <a:lstStyle/>
            <a:p>
              <a:pPr algn="ctr"/>
              <a:r>
                <a:rPr lang="vi-VN" sz="1600" dirty="0">
                  <a:latin typeface="+mj-lt"/>
                </a:rPr>
                <a:t>Cột trái</a:t>
              </a:r>
            </a:p>
          </p:txBody>
        </p:sp>
        <p:sp>
          <p:nvSpPr>
            <p:cNvPr id="42" name="TextBox 41">
              <a:extLst>
                <a:ext uri="{FF2B5EF4-FFF2-40B4-BE49-F238E27FC236}">
                  <a16:creationId xmlns:a16="http://schemas.microsoft.com/office/drawing/2014/main" id="{1726DF14-1190-BC47-847B-BF28C3684DF7}"/>
                </a:ext>
              </a:extLst>
            </p:cNvPr>
            <p:cNvSpPr txBox="1"/>
            <p:nvPr/>
          </p:nvSpPr>
          <p:spPr>
            <a:xfrm>
              <a:off x="7666705" y="2050302"/>
              <a:ext cx="963562" cy="338554"/>
            </a:xfrm>
            <a:prstGeom prst="rect">
              <a:avLst/>
            </a:prstGeom>
            <a:noFill/>
          </p:spPr>
          <p:txBody>
            <a:bodyPr wrap="square" rtlCol="0" anchor="ctr">
              <a:spAutoFit/>
            </a:bodyPr>
            <a:lstStyle/>
            <a:p>
              <a:pPr algn="ctr"/>
              <a:r>
                <a:rPr lang="vi-VN" sz="1600" dirty="0">
                  <a:latin typeface="+mj-lt"/>
                </a:rPr>
                <a:t>Cột giữa</a:t>
              </a:r>
              <a:endParaRPr lang="en-US" sz="1600" dirty="0">
                <a:latin typeface="+mj-lt"/>
              </a:endParaRPr>
            </a:p>
          </p:txBody>
        </p:sp>
        <p:sp>
          <p:nvSpPr>
            <p:cNvPr id="44" name="TextBox 43">
              <a:extLst>
                <a:ext uri="{FF2B5EF4-FFF2-40B4-BE49-F238E27FC236}">
                  <a16:creationId xmlns:a16="http://schemas.microsoft.com/office/drawing/2014/main" id="{624CDA09-5C4F-B02A-64C0-F77FF57E3E7E}"/>
                </a:ext>
              </a:extLst>
            </p:cNvPr>
            <p:cNvSpPr txBox="1"/>
            <p:nvPr/>
          </p:nvSpPr>
          <p:spPr>
            <a:xfrm>
              <a:off x="8640098" y="2033699"/>
              <a:ext cx="963562" cy="338554"/>
            </a:xfrm>
            <a:prstGeom prst="rect">
              <a:avLst/>
            </a:prstGeom>
            <a:noFill/>
          </p:spPr>
          <p:txBody>
            <a:bodyPr wrap="square" rtlCol="0" anchor="ctr">
              <a:spAutoFit/>
            </a:bodyPr>
            <a:lstStyle/>
            <a:p>
              <a:pPr algn="ctr"/>
              <a:r>
                <a:rPr lang="vi-VN" sz="1600" dirty="0">
                  <a:latin typeface="+mj-lt"/>
                </a:rPr>
                <a:t>Cột phải</a:t>
              </a:r>
              <a:endParaRPr lang="en-US" sz="1600" dirty="0">
                <a:latin typeface="+mj-lt"/>
              </a:endParaRPr>
            </a:p>
          </p:txBody>
        </p:sp>
      </p:grpSp>
      <p:sp>
        <p:nvSpPr>
          <p:cNvPr id="47" name="TextBox 5">
            <a:extLst>
              <a:ext uri="{FF2B5EF4-FFF2-40B4-BE49-F238E27FC236}">
                <a16:creationId xmlns:a16="http://schemas.microsoft.com/office/drawing/2014/main" id="{31DD32A0-8504-90CA-F550-A566BE2A6331}"/>
              </a:ext>
            </a:extLst>
          </p:cNvPr>
          <p:cNvSpPr txBox="1"/>
          <p:nvPr/>
        </p:nvSpPr>
        <p:spPr>
          <a:xfrm>
            <a:off x="6096000" y="5121436"/>
            <a:ext cx="4416233" cy="1014893"/>
          </a:xfrm>
          <a:prstGeom prst="rect">
            <a:avLst/>
          </a:prstGeom>
          <a:noFill/>
        </p:spPr>
        <p:txBody>
          <a:bodyPr wrap="square" rtlCol="0">
            <a:spAutoFit/>
          </a:bodyPr>
          <a:lstStyle/>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Quét qua 8 ô xung quanh theo chiều mũi tên từ cột trái sang cột phải, trong mỗi cột quét từ dưới lên trên.</a:t>
            </a:r>
          </a:p>
        </p:txBody>
      </p:sp>
    </p:spTree>
    <p:extLst>
      <p:ext uri="{BB962C8B-B14F-4D97-AF65-F5344CB8AC3E}">
        <p14:creationId xmlns:p14="http://schemas.microsoft.com/office/powerpoint/2010/main" val="30180584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597D8-7FFA-4CFC-E715-68B0518A8C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AFF0F0-857A-7AAD-C825-6827CFFB9B01}"/>
              </a:ext>
            </a:extLst>
          </p:cNvPr>
          <p:cNvSpPr>
            <a:spLocks noGrp="1"/>
          </p:cNvSpPr>
          <p:nvPr>
            <p:ph type="sldNum" sz="quarter" idx="12"/>
          </p:nvPr>
        </p:nvSpPr>
        <p:spPr/>
        <p:txBody>
          <a:bodyPr/>
          <a:lstStyle/>
          <a:p>
            <a:fld id="{9B618960-8005-486C-9A75-10CB2AAC16F9}" type="slidenum">
              <a:rPr lang="en-US" smtClean="0"/>
              <a:t>50</a:t>
            </a:fld>
            <a:endParaRPr lang="en-US" dirty="0"/>
          </a:p>
        </p:txBody>
      </p:sp>
      <p:sp>
        <p:nvSpPr>
          <p:cNvPr id="5" name="TextBox 3">
            <a:extLst>
              <a:ext uri="{FF2B5EF4-FFF2-40B4-BE49-F238E27FC236}">
                <a16:creationId xmlns:a16="http://schemas.microsoft.com/office/drawing/2014/main" id="{41D68BFB-D7E9-8208-A346-32A0BA6BC3F6}"/>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0E3A198D-A602-9FD2-35A4-5A0657F7FA74}"/>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6768121F-1B01-89A6-C3F2-626A3306DFFB}"/>
                  </a:ext>
                </a:extLst>
              </p:cNvPr>
              <p:cNvSpPr txBox="1"/>
              <p:nvPr/>
            </p:nvSpPr>
            <p:spPr>
              <a:xfrm>
                <a:off x="1079999" y="2097332"/>
                <a:ext cx="5016001" cy="3225435"/>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Ví dụ minh họa</a:t>
                </a:r>
                <a:endParaRPr lang="en-US" dirty="0">
                  <a:latin typeface="Times New Roman" panose="02020603050405020304" pitchFamily="18" charset="0"/>
                  <a:cs typeface="Times New Roman" panose="02020603050405020304" pitchFamily="18" charset="0"/>
                </a:endParaRP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Kích thước ô: cell_size = 4</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Tập dữ liệu đầu vào gồm 4 điểm A, B, C, D</a:t>
                </a:r>
              </a:p>
              <a:p>
                <a:pPr marL="285750" indent="-285750" algn="just">
                  <a:lnSpc>
                    <a:spcPct val="114000"/>
                  </a:lnSpc>
                  <a:buFontTx/>
                  <a:buChar char="-"/>
                </a:pPr>
                <a:r>
                  <a:rPr lang="vi-VN" dirty="0">
                    <a:latin typeface="Times New Roman" panose="02020603050405020304" pitchFamily="18" charset="0"/>
                    <a:cs typeface="Times New Roman" panose="02020603050405020304" pitchFamily="18" charset="0"/>
                  </a:rPr>
                  <a:t>Đối với cách tính của thuật toán gốc:</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Sắp xếp các điểm theo mật độ giảm dần: A </a:t>
                </a: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B </a:t>
                </a:r>
                <a14:m>
                  <m:oMath xmlns:m="http://schemas.openxmlformats.org/officeDocument/2006/math">
                    <m:r>
                      <a:rPr lang="vi-VN" i="1">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C </a:t>
                </a:r>
                <a14:m>
                  <m:oMath xmlns:m="http://schemas.openxmlformats.org/officeDocument/2006/math">
                    <m:r>
                      <a:rPr lang="vi-VN" i="1">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D.</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Vì A có mật độ cao nhất, nên </a:t>
                </a:r>
                <a14:m>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a:rPr lang="vi-VN" i="1" smtClean="0">
                            <a:latin typeface="Cambria Math" panose="02040503050406030204" pitchFamily="18" charset="0"/>
                            <a:ea typeface="Cambria Math" panose="02040503050406030204" pitchFamily="18" charset="0"/>
                            <a:cs typeface="Times New Roman" panose="02020603050405020304" pitchFamily="18" charset="0"/>
                          </a:rPr>
                          <m:t>𝛿</m:t>
                        </m:r>
                      </m:e>
                      <m:sub>
                        <m:r>
                          <m:rPr>
                            <m:sty m:val="p"/>
                          </m:rPr>
                          <a:rPr lang="vi-VN" i="1">
                            <a:latin typeface="Cambria Math" panose="02040503050406030204" pitchFamily="18" charset="0"/>
                            <a:cs typeface="Times New Roman" panose="02020603050405020304" pitchFamily="18" charset="0"/>
                          </a:rPr>
                          <m:t>A</m:t>
                        </m:r>
                      </m:sub>
                    </m:sSub>
                    <m:r>
                      <a:rPr lang="vi-VN" b="0" i="1" smtClean="0">
                        <a:latin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max(d(A,B), d(A, C), d(A, D)) = 6.08</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Xét B, vì B chỉ có điểm có mật độ cao hơn là A nên </a:t>
                </a:r>
                <a14:m>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a:rPr lang="vi-VN" i="1" smtClean="0">
                            <a:latin typeface="Cambria Math" panose="02040503050406030204" pitchFamily="18" charset="0"/>
                            <a:ea typeface="Cambria Math" panose="02040503050406030204" pitchFamily="18" charset="0"/>
                            <a:cs typeface="Times New Roman" panose="02020603050405020304" pitchFamily="18" charset="0"/>
                          </a:rPr>
                          <m:t>𝛿</m:t>
                        </m:r>
                      </m:e>
                      <m:sub>
                        <m:r>
                          <m:rPr>
                            <m:sty m:val="p"/>
                          </m:rPr>
                          <a:rPr lang="vi-VN" i="1">
                            <a:latin typeface="Cambria Math" panose="02040503050406030204" pitchFamily="18" charset="0"/>
                            <a:cs typeface="Times New Roman" panose="02020603050405020304" pitchFamily="18" charset="0"/>
                          </a:rPr>
                          <m:t>B</m:t>
                        </m:r>
                      </m:sub>
                    </m:sSub>
                    <m:r>
                      <a:rPr lang="vi-VN" b="0" i="1" smtClean="0">
                        <a:latin typeface="Cambria Math" panose="02040503050406030204" pitchFamily="18" charset="0"/>
                        <a:cs typeface="Times New Roman" panose="02020603050405020304" pitchFamily="18" charset="0"/>
                      </a:rPr>
                      <m:t>=</m:t>
                    </m:r>
                    <m:r>
                      <m:rPr>
                        <m:sty m:val="p"/>
                      </m:rPr>
                      <a:rPr lang="vi-VN" i="1">
                        <a:latin typeface="Cambria Math" panose="02040503050406030204" pitchFamily="18" charset="0"/>
                        <a:cs typeface="Times New Roman" panose="02020603050405020304" pitchFamily="18" charset="0"/>
                      </a:rPr>
                      <m:t>d</m:t>
                    </m:r>
                  </m:oMath>
                </a14:m>
                <a:r>
                  <a:rPr lang="vi-VN" dirty="0">
                    <a:latin typeface="Times New Roman" panose="02020603050405020304" pitchFamily="18" charset="0"/>
                    <a:cs typeface="Times New Roman" panose="02020603050405020304" pitchFamily="18" charset="0"/>
                  </a:rPr>
                  <a:t>(B, A) = 3.16</a:t>
                </a:r>
              </a:p>
            </p:txBody>
          </p:sp>
        </mc:Choice>
        <mc:Fallback xmlns="">
          <p:sp>
            <p:nvSpPr>
              <p:cNvPr id="3" name="TextBox 5">
                <a:extLst>
                  <a:ext uri="{FF2B5EF4-FFF2-40B4-BE49-F238E27FC236}">
                    <a16:creationId xmlns:a16="http://schemas.microsoft.com/office/drawing/2014/main" id="{6768121F-1B01-89A6-C3F2-626A3306DFFB}"/>
                  </a:ext>
                </a:extLst>
              </p:cNvPr>
              <p:cNvSpPr txBox="1">
                <a:spLocks noRot="1" noChangeAspect="1" noMove="1" noResize="1" noEditPoints="1" noAdjustHandles="1" noChangeArrowheads="1" noChangeShapeType="1" noTextEdit="1"/>
              </p:cNvSpPr>
              <p:nvPr/>
            </p:nvSpPr>
            <p:spPr>
              <a:xfrm>
                <a:off x="1079999" y="2097332"/>
                <a:ext cx="5016001" cy="3225435"/>
              </a:xfrm>
              <a:prstGeom prst="rect">
                <a:avLst/>
              </a:prstGeom>
              <a:blipFill>
                <a:blip r:embed="rId2"/>
                <a:stretch>
                  <a:fillRect l="-729" t="-567" r="-1094" b="-2079"/>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012283A3-13B9-4DCC-ACBD-D37D4409CA95}"/>
              </a:ext>
            </a:extLst>
          </p:cNvPr>
          <p:cNvGraphicFramePr>
            <a:graphicFrameLocks noGrp="1"/>
          </p:cNvGraphicFramePr>
          <p:nvPr>
            <p:extLst>
              <p:ext uri="{D42A27DB-BD31-4B8C-83A1-F6EECF244321}">
                <p14:modId xmlns:p14="http://schemas.microsoft.com/office/powerpoint/2010/main" val="1430919365"/>
              </p:ext>
            </p:extLst>
          </p:nvPr>
        </p:nvGraphicFramePr>
        <p:xfrm>
          <a:off x="6758439" y="2221320"/>
          <a:ext cx="3493257" cy="2939845"/>
        </p:xfrm>
        <a:graphic>
          <a:graphicData uri="http://schemas.openxmlformats.org/drawingml/2006/table">
            <a:tbl>
              <a:tblPr firstRow="1" firstCol="1" bandRow="1"/>
              <a:tblGrid>
                <a:gridCol w="1164282">
                  <a:extLst>
                    <a:ext uri="{9D8B030D-6E8A-4147-A177-3AD203B41FA5}">
                      <a16:colId xmlns:a16="http://schemas.microsoft.com/office/drawing/2014/main" val="2669188839"/>
                    </a:ext>
                  </a:extLst>
                </a:gridCol>
                <a:gridCol w="1164282">
                  <a:extLst>
                    <a:ext uri="{9D8B030D-6E8A-4147-A177-3AD203B41FA5}">
                      <a16:colId xmlns:a16="http://schemas.microsoft.com/office/drawing/2014/main" val="1091641397"/>
                    </a:ext>
                  </a:extLst>
                </a:gridCol>
                <a:gridCol w="1164693">
                  <a:extLst>
                    <a:ext uri="{9D8B030D-6E8A-4147-A177-3AD203B41FA5}">
                      <a16:colId xmlns:a16="http://schemas.microsoft.com/office/drawing/2014/main" val="3187883711"/>
                    </a:ext>
                  </a:extLst>
                </a:gridCol>
              </a:tblGrid>
              <a:tr h="587969">
                <a:tc>
                  <a:txBody>
                    <a:bodyPr/>
                    <a:lstStyle/>
                    <a:p>
                      <a:pPr algn="ctr">
                        <a:lnSpc>
                          <a:spcPct val="115000"/>
                        </a:lnSpc>
                        <a:spcBef>
                          <a:spcPts val="600"/>
                        </a:spcBef>
                        <a:spcAft>
                          <a:spcPts val="600"/>
                        </a:spcAft>
                        <a:buNone/>
                      </a:pPr>
                      <a:r>
                        <a:rPr lang="vi-VN" sz="1300" b="1" kern="100">
                          <a:effectLst/>
                          <a:latin typeface="Times New Roman" panose="02020603050405020304" pitchFamily="18" charset="0"/>
                          <a:ea typeface="Aptos" panose="020B0004020202020204" pitchFamily="34" charset="0"/>
                          <a:cs typeface="Times New Roman" panose="02020603050405020304" pitchFamily="18" charset="0"/>
                        </a:rPr>
                        <a:t>Điểm</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b="1" kern="100" dirty="0" err="1">
                          <a:effectLst/>
                          <a:latin typeface="Times New Roman" panose="02020603050405020304" pitchFamily="18" charset="0"/>
                          <a:ea typeface="Aptos" panose="020B0004020202020204" pitchFamily="34" charset="0"/>
                          <a:cs typeface="Times New Roman" panose="02020603050405020304" pitchFamily="18" charset="0"/>
                        </a:rPr>
                        <a:t>Tọa</a:t>
                      </a:r>
                      <a:r>
                        <a:rPr lang="vi-VN" sz="1300" b="1" kern="100" dirty="0">
                          <a:effectLst/>
                          <a:latin typeface="Times New Roman" panose="02020603050405020304" pitchFamily="18" charset="0"/>
                          <a:ea typeface="Aptos" panose="020B0004020202020204" pitchFamily="34" charset="0"/>
                          <a:cs typeface="Times New Roman" panose="02020603050405020304" pitchFamily="18" charset="0"/>
                        </a:rPr>
                        <a:t> độ</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b="1" kern="100">
                          <a:effectLst/>
                          <a:latin typeface="Times New Roman" panose="02020603050405020304" pitchFamily="18" charset="0"/>
                          <a:ea typeface="Aptos" panose="020B0004020202020204" pitchFamily="34" charset="0"/>
                          <a:cs typeface="Times New Roman" panose="02020603050405020304" pitchFamily="18" charset="0"/>
                        </a:rPr>
                        <a:t>Mật</a:t>
                      </a:r>
                      <a:r>
                        <a:rPr lang="vi-VN" sz="1300" b="1" kern="100">
                          <a:effectLst/>
                          <a:latin typeface="Times New Roman" panose="02020603050405020304" pitchFamily="18" charset="0"/>
                          <a:ea typeface="Aptos" panose="020B0004020202020204" pitchFamily="34" charset="0"/>
                          <a:cs typeface="Times New Roman" panose="02020603050405020304" pitchFamily="18" charset="0"/>
                        </a:rPr>
                        <a:t> độ</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0614411"/>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dirty="0">
                          <a:effectLst/>
                          <a:latin typeface="Times New Roman" panose="02020603050405020304" pitchFamily="18" charset="0"/>
                          <a:ea typeface="Aptos" panose="020B0004020202020204" pitchFamily="34" charset="0"/>
                          <a:cs typeface="Times New Roman" panose="02020603050405020304" pitchFamily="18" charset="0"/>
                        </a:rPr>
                        <a:t>(1, 1)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10</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7568855"/>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a:effectLst/>
                          <a:latin typeface="Times New Roman" panose="02020603050405020304" pitchFamily="18" charset="0"/>
                          <a:ea typeface="Aptos" panose="020B0004020202020204" pitchFamily="34" charset="0"/>
                          <a:cs typeface="Times New Roman" panose="02020603050405020304" pitchFamily="18" charset="0"/>
                        </a:rPr>
                        <a:t>(2, 4)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5032057"/>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C</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a:effectLst/>
                          <a:latin typeface="Times New Roman" panose="02020603050405020304" pitchFamily="18" charset="0"/>
                          <a:ea typeface="Aptos" panose="020B0004020202020204" pitchFamily="34" charset="0"/>
                          <a:cs typeface="Times New Roman" panose="02020603050405020304" pitchFamily="18" charset="0"/>
                        </a:rPr>
                        <a:t>(7, 2)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7640738"/>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a:effectLst/>
                          <a:latin typeface="Times New Roman" panose="02020603050405020304" pitchFamily="18" charset="0"/>
                          <a:ea typeface="Aptos" panose="020B0004020202020204" pitchFamily="34" charset="0"/>
                          <a:cs typeface="Times New Roman" panose="02020603050405020304" pitchFamily="18" charset="0"/>
                        </a:rPr>
                        <a:t>(2, 6)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079263"/>
                  </a:ext>
                </a:extLst>
              </a:tr>
            </a:tbl>
          </a:graphicData>
        </a:graphic>
      </p:graphicFrame>
    </p:spTree>
    <p:extLst>
      <p:ext uri="{BB962C8B-B14F-4D97-AF65-F5344CB8AC3E}">
        <p14:creationId xmlns:p14="http://schemas.microsoft.com/office/powerpoint/2010/main" val="368963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4DC5-C84C-0D40-3942-0F51DA397C4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F499B3-AD32-7A73-A585-7DAD84A6B4C2}"/>
              </a:ext>
            </a:extLst>
          </p:cNvPr>
          <p:cNvSpPr>
            <a:spLocks noGrp="1"/>
          </p:cNvSpPr>
          <p:nvPr>
            <p:ph type="sldNum" sz="quarter" idx="12"/>
          </p:nvPr>
        </p:nvSpPr>
        <p:spPr/>
        <p:txBody>
          <a:bodyPr/>
          <a:lstStyle/>
          <a:p>
            <a:fld id="{9B618960-8005-486C-9A75-10CB2AAC16F9}" type="slidenum">
              <a:rPr lang="en-US" smtClean="0"/>
              <a:t>51</a:t>
            </a:fld>
            <a:endParaRPr lang="en-US" dirty="0"/>
          </a:p>
        </p:txBody>
      </p:sp>
      <p:sp>
        <p:nvSpPr>
          <p:cNvPr id="5" name="TextBox 3">
            <a:extLst>
              <a:ext uri="{FF2B5EF4-FFF2-40B4-BE49-F238E27FC236}">
                <a16:creationId xmlns:a16="http://schemas.microsoft.com/office/drawing/2014/main" id="{81A066B8-517E-971B-C9DF-0F3687C15AEB}"/>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92AF6D0D-3CAD-F2CE-3829-D45504295FBE}"/>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779BEFD5-C0FD-9A18-62D8-27A8F658DBC2}"/>
                  </a:ext>
                </a:extLst>
              </p:cNvPr>
              <p:cNvSpPr txBox="1"/>
              <p:nvPr/>
            </p:nvSpPr>
            <p:spPr>
              <a:xfrm>
                <a:off x="1079999" y="2097332"/>
                <a:ext cx="5016001" cy="4172809"/>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Ví dụ minh họa</a:t>
                </a:r>
                <a:endParaRPr lang="en-US" dirty="0">
                  <a:latin typeface="Times New Roman" panose="02020603050405020304" pitchFamily="18" charset="0"/>
                  <a:cs typeface="Times New Roman" panose="02020603050405020304" pitchFamily="18" charset="0"/>
                </a:endParaRP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Xét C, vì C có 2 điểm là A và B có mật độ cao hơn nên:</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d(C, A) </a:t>
                </a: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6.08, best = 6.08</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d(C, B) </a:t>
                </a:r>
                <a14:m>
                  <m:oMath xmlns:m="http://schemas.openxmlformats.org/officeDocument/2006/math">
                    <m:r>
                      <a:rPr lang="vi-VN" i="1">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5.38, best = 5.38</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Vậy </a:t>
                </a:r>
                <a14:m>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a:rPr lang="vi-VN" i="1" smtClean="0">
                            <a:latin typeface="Cambria Math" panose="02040503050406030204" pitchFamily="18" charset="0"/>
                            <a:ea typeface="Cambria Math" panose="02040503050406030204" pitchFamily="18" charset="0"/>
                            <a:cs typeface="Times New Roman" panose="02020603050405020304" pitchFamily="18" charset="0"/>
                          </a:rPr>
                          <m:t>𝛿</m:t>
                        </m:r>
                      </m:e>
                      <m:sub>
                        <m:r>
                          <m:rPr>
                            <m:sty m:val="p"/>
                          </m:rPr>
                          <a:rPr lang="vi-VN" i="1">
                            <a:latin typeface="Cambria Math" panose="02040503050406030204" pitchFamily="18" charset="0"/>
                            <a:cs typeface="Times New Roman" panose="02020603050405020304" pitchFamily="18" charset="0"/>
                          </a:rPr>
                          <m:t>C</m:t>
                        </m:r>
                      </m:sub>
                    </m:sSub>
                    <m:r>
                      <a:rPr lang="vi-VN" b="0" i="1" smtClean="0">
                        <a:latin typeface="Cambria Math" panose="02040503050406030204" pitchFamily="18" charset="0"/>
                        <a:cs typeface="Times New Roman" panose="02020603050405020304" pitchFamily="18" charset="0"/>
                      </a:rPr>
                      <m:t>= </m:t>
                    </m:r>
                    <m:r>
                      <a:rPr lang="vi-VN" i="1">
                        <a:latin typeface="Cambria Math" panose="02040503050406030204" pitchFamily="18" charset="0"/>
                        <a:cs typeface="Times New Roman" panose="02020603050405020304" pitchFamily="18" charset="0"/>
                      </a:rPr>
                      <m:t>5</m:t>
                    </m:r>
                  </m:oMath>
                </a14:m>
                <a:r>
                  <a:rPr lang="vi-VN" dirty="0">
                    <a:latin typeface="Times New Roman" panose="02020603050405020304" pitchFamily="18" charset="0"/>
                    <a:cs typeface="Times New Roman" panose="02020603050405020304" pitchFamily="18" charset="0"/>
                  </a:rPr>
                  <a:t>.38</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Xét D, vì D có 3 điểm là A, B, C có mật độ cao hơn nên:</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d(D, A) </a:t>
                </a:r>
                <a14:m>
                  <m:oMath xmlns:m="http://schemas.openxmlformats.org/officeDocument/2006/math">
                    <m:r>
                      <a:rPr lang="vi-VN" i="1">
                        <a:latin typeface="Cambria Math" panose="02040503050406030204" pitchFamily="18" charset="0"/>
                        <a:ea typeface="Cambria Math" panose="02040503050406030204" pitchFamily="18" charset="0"/>
                        <a:cs typeface="Times New Roman" panose="02020603050405020304" pitchFamily="18" charset="0"/>
                      </a:rPr>
                      <m:t>≈</m:t>
                    </m:r>
                    <m:r>
                      <a:rPr lang="vi-VN" b="0" i="1" smtClean="0">
                        <a:latin typeface="Cambria Math" panose="02040503050406030204" pitchFamily="18" charset="0"/>
                        <a:ea typeface="Cambria Math" panose="02040503050406030204" pitchFamily="18" charset="0"/>
                        <a:cs typeface="Times New Roman" panose="02020603050405020304" pitchFamily="18" charset="0"/>
                      </a:rPr>
                      <m:t> </m:t>
                    </m:r>
                    <m:r>
                      <a:rPr lang="vi-VN" i="1">
                        <a:latin typeface="Cambria Math" panose="02040503050406030204" pitchFamily="18" charset="0"/>
                        <a:ea typeface="Cambria Math" panose="02040503050406030204" pitchFamily="18" charset="0"/>
                        <a:cs typeface="Times New Roman" panose="02020603050405020304" pitchFamily="18" charset="0"/>
                      </a:rPr>
                      <m:t>5</m:t>
                    </m:r>
                  </m:oMath>
                </a14:m>
                <a:r>
                  <a:rPr lang="vi-VN" dirty="0">
                    <a:latin typeface="Times New Roman" panose="02020603050405020304" pitchFamily="18" charset="0"/>
                    <a:cs typeface="Times New Roman" panose="02020603050405020304" pitchFamily="18" charset="0"/>
                  </a:rPr>
                  <a:t>.09, best = 5.09</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d(D, B) = 2, best = 2</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d(D, C) </a:t>
                </a:r>
                <a14:m>
                  <m:oMath xmlns:m="http://schemas.openxmlformats.org/officeDocument/2006/math">
                    <m:r>
                      <a:rPr lang="vi-VN"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vi-VN" dirty="0">
                    <a:latin typeface="Times New Roman" panose="02020603050405020304" pitchFamily="18" charset="0"/>
                    <a:cs typeface="Times New Roman" panose="02020603050405020304" pitchFamily="18" charset="0"/>
                  </a:rPr>
                  <a:t> 6.4, best = 2</a:t>
                </a:r>
              </a:p>
              <a:p>
                <a:pPr marL="742950" lvl="1" indent="-285750" algn="just">
                  <a:lnSpc>
                    <a:spcPct val="114000"/>
                  </a:lnSpc>
                  <a:buFont typeface="Arial" panose="020B0604020202020204" pitchFamily="34" charset="0"/>
                  <a:buChar char="•"/>
                </a:pPr>
                <a:r>
                  <a:rPr lang="vi-VN" dirty="0">
                    <a:latin typeface="Times New Roman" panose="02020603050405020304" pitchFamily="18" charset="0"/>
                    <a:cs typeface="Times New Roman" panose="02020603050405020304" pitchFamily="18" charset="0"/>
                  </a:rPr>
                  <a:t>Vậy </a:t>
                </a:r>
                <a14:m>
                  <m:oMath xmlns:m="http://schemas.openxmlformats.org/officeDocument/2006/math">
                    <m:sSub>
                      <m:sSubPr>
                        <m:ctrlPr>
                          <a:rPr lang="vi-VN" i="1" smtClean="0">
                            <a:latin typeface="Cambria Math" panose="02040503050406030204" pitchFamily="18" charset="0"/>
                            <a:cs typeface="Times New Roman" panose="02020603050405020304" pitchFamily="18" charset="0"/>
                          </a:rPr>
                        </m:ctrlPr>
                      </m:sSubPr>
                      <m:e>
                        <m:r>
                          <a:rPr lang="vi-VN" i="1" smtClean="0">
                            <a:latin typeface="Cambria Math" panose="02040503050406030204" pitchFamily="18" charset="0"/>
                            <a:ea typeface="Cambria Math" panose="02040503050406030204" pitchFamily="18" charset="0"/>
                            <a:cs typeface="Times New Roman" panose="02020603050405020304" pitchFamily="18" charset="0"/>
                          </a:rPr>
                          <m:t>𝛿</m:t>
                        </m:r>
                      </m:e>
                      <m:sub>
                        <m:r>
                          <m:rPr>
                            <m:sty m:val="p"/>
                          </m:rPr>
                          <a:rPr lang="vi-VN" i="1">
                            <a:latin typeface="Cambria Math" panose="02040503050406030204" pitchFamily="18" charset="0"/>
                            <a:cs typeface="Times New Roman" panose="02020603050405020304" pitchFamily="18" charset="0"/>
                          </a:rPr>
                          <m:t>D</m:t>
                        </m:r>
                      </m:sub>
                    </m:sSub>
                    <m:r>
                      <a:rPr lang="vi-VN" b="0" i="1" smtClean="0">
                        <a:latin typeface="Cambria Math" panose="02040503050406030204" pitchFamily="18" charset="0"/>
                        <a:cs typeface="Times New Roman" panose="02020603050405020304" pitchFamily="18" charset="0"/>
                      </a:rPr>
                      <m:t> = </m:t>
                    </m:r>
                    <m:r>
                      <a:rPr lang="vi-VN" i="1">
                        <a:latin typeface="Cambria Math" panose="02040503050406030204" pitchFamily="18" charset="0"/>
                        <a:cs typeface="Times New Roman" panose="02020603050405020304" pitchFamily="18" charset="0"/>
                      </a:rPr>
                      <m:t>2</m:t>
                    </m:r>
                  </m:oMath>
                </a14:m>
                <a:endParaRPr lang="vi-VN" dirty="0">
                  <a:latin typeface="Times New Roman" panose="02020603050405020304" pitchFamily="18" charset="0"/>
                  <a:cs typeface="Times New Roman" panose="02020603050405020304" pitchFamily="18" charset="0"/>
                </a:endParaRPr>
              </a:p>
              <a:p>
                <a:pPr marL="285750" indent="-285750" algn="just">
                  <a:lnSpc>
                    <a:spcPct val="114000"/>
                  </a:lnSpc>
                  <a:buFontTx/>
                  <a:buChar char="-"/>
                </a:pPr>
                <a:endParaRPr lang="vi-VN" dirty="0">
                  <a:latin typeface="Times New Roman" panose="02020603050405020304" pitchFamily="18" charset="0"/>
                  <a:cs typeface="Times New Roman" panose="02020603050405020304" pitchFamily="18" charset="0"/>
                </a:endParaRPr>
              </a:p>
            </p:txBody>
          </p:sp>
        </mc:Choice>
        <mc:Fallback xmlns="">
          <p:sp>
            <p:nvSpPr>
              <p:cNvPr id="3" name="TextBox 5">
                <a:extLst>
                  <a:ext uri="{FF2B5EF4-FFF2-40B4-BE49-F238E27FC236}">
                    <a16:creationId xmlns:a16="http://schemas.microsoft.com/office/drawing/2014/main" id="{779BEFD5-C0FD-9A18-62D8-27A8F658DBC2}"/>
                  </a:ext>
                </a:extLst>
              </p:cNvPr>
              <p:cNvSpPr txBox="1">
                <a:spLocks noRot="1" noChangeAspect="1" noMove="1" noResize="1" noEditPoints="1" noAdjustHandles="1" noChangeArrowheads="1" noChangeShapeType="1" noTextEdit="1"/>
              </p:cNvSpPr>
              <p:nvPr/>
            </p:nvSpPr>
            <p:spPr>
              <a:xfrm>
                <a:off x="1079999" y="2097332"/>
                <a:ext cx="5016001" cy="4172809"/>
              </a:xfrm>
              <a:prstGeom prst="rect">
                <a:avLst/>
              </a:prstGeom>
              <a:blipFill>
                <a:blip r:embed="rId2"/>
                <a:stretch>
                  <a:fillRect l="-729" t="-438" r="-1094"/>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2C56CA04-EA1A-C557-FB70-0F2E30D7C05D}"/>
              </a:ext>
            </a:extLst>
          </p:cNvPr>
          <p:cNvGraphicFramePr>
            <a:graphicFrameLocks noGrp="1"/>
          </p:cNvGraphicFramePr>
          <p:nvPr/>
        </p:nvGraphicFramePr>
        <p:xfrm>
          <a:off x="6758439" y="2221320"/>
          <a:ext cx="3493257" cy="2939845"/>
        </p:xfrm>
        <a:graphic>
          <a:graphicData uri="http://schemas.openxmlformats.org/drawingml/2006/table">
            <a:tbl>
              <a:tblPr firstRow="1" firstCol="1" bandRow="1"/>
              <a:tblGrid>
                <a:gridCol w="1164282">
                  <a:extLst>
                    <a:ext uri="{9D8B030D-6E8A-4147-A177-3AD203B41FA5}">
                      <a16:colId xmlns:a16="http://schemas.microsoft.com/office/drawing/2014/main" val="2669188839"/>
                    </a:ext>
                  </a:extLst>
                </a:gridCol>
                <a:gridCol w="1164282">
                  <a:extLst>
                    <a:ext uri="{9D8B030D-6E8A-4147-A177-3AD203B41FA5}">
                      <a16:colId xmlns:a16="http://schemas.microsoft.com/office/drawing/2014/main" val="1091641397"/>
                    </a:ext>
                  </a:extLst>
                </a:gridCol>
                <a:gridCol w="1164693">
                  <a:extLst>
                    <a:ext uri="{9D8B030D-6E8A-4147-A177-3AD203B41FA5}">
                      <a16:colId xmlns:a16="http://schemas.microsoft.com/office/drawing/2014/main" val="3187883711"/>
                    </a:ext>
                  </a:extLst>
                </a:gridCol>
              </a:tblGrid>
              <a:tr h="587969">
                <a:tc>
                  <a:txBody>
                    <a:bodyPr/>
                    <a:lstStyle/>
                    <a:p>
                      <a:pPr algn="ctr">
                        <a:lnSpc>
                          <a:spcPct val="115000"/>
                        </a:lnSpc>
                        <a:spcBef>
                          <a:spcPts val="600"/>
                        </a:spcBef>
                        <a:spcAft>
                          <a:spcPts val="600"/>
                        </a:spcAft>
                        <a:buNone/>
                      </a:pPr>
                      <a:r>
                        <a:rPr lang="vi-VN" sz="1300" b="1" kern="100">
                          <a:effectLst/>
                          <a:latin typeface="Times New Roman" panose="02020603050405020304" pitchFamily="18" charset="0"/>
                          <a:ea typeface="Aptos" panose="020B0004020202020204" pitchFamily="34" charset="0"/>
                          <a:cs typeface="Times New Roman" panose="02020603050405020304" pitchFamily="18" charset="0"/>
                        </a:rPr>
                        <a:t>Điểm</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b="1" kern="100" dirty="0" err="1">
                          <a:effectLst/>
                          <a:latin typeface="Times New Roman" panose="02020603050405020304" pitchFamily="18" charset="0"/>
                          <a:ea typeface="Aptos" panose="020B0004020202020204" pitchFamily="34" charset="0"/>
                          <a:cs typeface="Times New Roman" panose="02020603050405020304" pitchFamily="18" charset="0"/>
                        </a:rPr>
                        <a:t>Tọa</a:t>
                      </a:r>
                      <a:r>
                        <a:rPr lang="vi-VN" sz="1300" b="1" kern="100" dirty="0">
                          <a:effectLst/>
                          <a:latin typeface="Times New Roman" panose="02020603050405020304" pitchFamily="18" charset="0"/>
                          <a:ea typeface="Aptos" panose="020B0004020202020204" pitchFamily="34" charset="0"/>
                          <a:cs typeface="Times New Roman" panose="02020603050405020304" pitchFamily="18" charset="0"/>
                        </a:rPr>
                        <a:t> độ</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b="1" kern="100">
                          <a:effectLst/>
                          <a:latin typeface="Times New Roman" panose="02020603050405020304" pitchFamily="18" charset="0"/>
                          <a:ea typeface="Aptos" panose="020B0004020202020204" pitchFamily="34" charset="0"/>
                          <a:cs typeface="Times New Roman" panose="02020603050405020304" pitchFamily="18" charset="0"/>
                        </a:rPr>
                        <a:t>Mật</a:t>
                      </a:r>
                      <a:r>
                        <a:rPr lang="vi-VN" sz="1300" b="1" kern="100">
                          <a:effectLst/>
                          <a:latin typeface="Times New Roman" panose="02020603050405020304" pitchFamily="18" charset="0"/>
                          <a:ea typeface="Aptos" panose="020B0004020202020204" pitchFamily="34" charset="0"/>
                          <a:cs typeface="Times New Roman" panose="02020603050405020304" pitchFamily="18" charset="0"/>
                        </a:rPr>
                        <a:t> độ</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0614411"/>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dirty="0">
                          <a:effectLst/>
                          <a:latin typeface="Times New Roman" panose="02020603050405020304" pitchFamily="18" charset="0"/>
                          <a:ea typeface="Aptos" panose="020B0004020202020204" pitchFamily="34" charset="0"/>
                          <a:cs typeface="Times New Roman" panose="02020603050405020304" pitchFamily="18" charset="0"/>
                        </a:rPr>
                        <a:t>(1, 1)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10</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7568855"/>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B</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a:effectLst/>
                          <a:latin typeface="Times New Roman" panose="02020603050405020304" pitchFamily="18" charset="0"/>
                          <a:ea typeface="Aptos" panose="020B0004020202020204" pitchFamily="34" charset="0"/>
                          <a:cs typeface="Times New Roman" panose="02020603050405020304" pitchFamily="18" charset="0"/>
                        </a:rPr>
                        <a:t>(2, 4)</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5032057"/>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C</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a:effectLst/>
                          <a:latin typeface="Times New Roman" panose="02020603050405020304" pitchFamily="18" charset="0"/>
                          <a:ea typeface="Aptos" panose="020B0004020202020204" pitchFamily="34" charset="0"/>
                          <a:cs typeface="Times New Roman" panose="02020603050405020304" pitchFamily="18" charset="0"/>
                        </a:rPr>
                        <a:t>(7, 2)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7640738"/>
                  </a:ext>
                </a:extLst>
              </a:tr>
              <a:tr h="587969">
                <a:tc>
                  <a:txBody>
                    <a:bodyPr/>
                    <a:lstStyle/>
                    <a:p>
                      <a:pPr algn="ctr">
                        <a:lnSpc>
                          <a:spcPct val="115000"/>
                        </a:lnSpc>
                        <a:spcBef>
                          <a:spcPts val="600"/>
                        </a:spcBef>
                        <a:spcAft>
                          <a:spcPts val="600"/>
                        </a:spcAft>
                        <a:buNone/>
                      </a:pPr>
                      <a:r>
                        <a:rPr lang="en-US" sz="1300" kern="100">
                          <a:effectLst/>
                          <a:latin typeface="Times New Roman" panose="02020603050405020304" pitchFamily="18" charset="0"/>
                          <a:ea typeface="Aptos" panose="020B0004020202020204" pitchFamily="34" charset="0"/>
                          <a:cs typeface="Times New Roman" panose="02020603050405020304" pitchFamily="18" charset="0"/>
                        </a:rPr>
                        <a:t>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vi-VN" sz="1300" kern="100">
                          <a:effectLst/>
                          <a:latin typeface="Times New Roman" panose="02020603050405020304" pitchFamily="18" charset="0"/>
                          <a:ea typeface="Aptos" panose="020B0004020202020204" pitchFamily="34" charset="0"/>
                          <a:cs typeface="Times New Roman" panose="02020603050405020304" pitchFamily="18" charset="0"/>
                        </a:rPr>
                        <a:t>(2, 6)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Bef>
                          <a:spcPts val="600"/>
                        </a:spcBef>
                        <a:spcAft>
                          <a:spcPts val="600"/>
                        </a:spcAft>
                        <a:buNone/>
                      </a:pPr>
                      <a:r>
                        <a:rPr lang="en-US" sz="1300" kern="100" dirty="0">
                          <a:effectLst/>
                          <a:latin typeface="Times New Roman" panose="02020603050405020304" pitchFamily="18" charset="0"/>
                          <a:ea typeface="Aptos" panose="020B0004020202020204" pitchFamily="34" charset="0"/>
                          <a:cs typeface="Times New Roman" panose="02020603050405020304" pitchFamily="18" charset="0"/>
                        </a:rPr>
                        <a:t>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079263"/>
                  </a:ext>
                </a:extLst>
              </a:tr>
            </a:tbl>
          </a:graphicData>
        </a:graphic>
      </p:graphicFrame>
    </p:spTree>
    <p:extLst>
      <p:ext uri="{BB962C8B-B14F-4D97-AF65-F5344CB8AC3E}">
        <p14:creationId xmlns:p14="http://schemas.microsoft.com/office/powerpoint/2010/main" val="24643397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131BF-0B7A-FE91-27A2-68CDC092910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4C9818-E4A7-FA7A-6C02-984157DC9EB8}"/>
              </a:ext>
            </a:extLst>
          </p:cNvPr>
          <p:cNvSpPr>
            <a:spLocks noGrp="1"/>
          </p:cNvSpPr>
          <p:nvPr>
            <p:ph type="sldNum" sz="quarter" idx="12"/>
          </p:nvPr>
        </p:nvSpPr>
        <p:spPr/>
        <p:txBody>
          <a:bodyPr/>
          <a:lstStyle/>
          <a:p>
            <a:fld id="{9B618960-8005-486C-9A75-10CB2AAC16F9}" type="slidenum">
              <a:rPr lang="en-US" smtClean="0"/>
              <a:t>52</a:t>
            </a:fld>
            <a:endParaRPr lang="en-US" dirty="0"/>
          </a:p>
        </p:txBody>
      </p:sp>
      <p:sp>
        <p:nvSpPr>
          <p:cNvPr id="5" name="TextBox 3">
            <a:extLst>
              <a:ext uri="{FF2B5EF4-FFF2-40B4-BE49-F238E27FC236}">
                <a16:creationId xmlns:a16="http://schemas.microsoft.com/office/drawing/2014/main" id="{86CCB8F3-5AA4-6444-9334-98173A20DDD7}"/>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D978B32B-8C47-92FB-A85A-EB1DF00A0F4D}"/>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E9BC9389-4EDC-7B9F-7553-91F7B08DFC62}"/>
                  </a:ext>
                </a:extLst>
              </p:cNvPr>
              <p:cNvSpPr txBox="1"/>
              <p:nvPr/>
            </p:nvSpPr>
            <p:spPr>
              <a:xfrm>
                <a:off x="1079999" y="2097332"/>
                <a:ext cx="4848853" cy="3767378"/>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Ví dụ minh họa</a:t>
                </a:r>
                <a:endParaRPr lang="en-US" dirty="0">
                  <a:latin typeface="Times New Roman" panose="02020603050405020304" pitchFamily="18" charset="0"/>
                  <a:cs typeface="Times New Roman" panose="02020603050405020304" pitchFamily="18" charset="0"/>
                </a:endParaRPr>
              </a:p>
              <a:p>
                <a:pPr algn="just">
                  <a:lnSpc>
                    <a:spcPct val="114000"/>
                  </a:lnSpc>
                </a:pPr>
                <a:r>
                  <a:rPr lang="vi-VN" dirty="0">
                    <a:latin typeface="Times New Roman" panose="02020603050405020304" pitchFamily="18" charset="0"/>
                    <a:cs typeface="Times New Roman" panose="02020603050405020304" pitchFamily="18" charset="0"/>
                  </a:rPr>
                  <a:t>Đối với cách tính của thuật toán cải tiến:</a:t>
                </a:r>
              </a:p>
              <a:p>
                <a:pPr marL="285750" indent="-285750" algn="just">
                  <a:lnSpc>
                    <a:spcPct val="114000"/>
                  </a:lnSpc>
                  <a:buFontTx/>
                  <a:buChar char="-"/>
                </a:pPr>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Biên của cả lưới như sau:</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tabLst>
                    <a:tab pos="914400" algn="l"/>
                  </a:tabLst>
                </a:pPr>
                <a14:m>
                  <m:oMath xmlns:m="http://schemas.openxmlformats.org/officeDocument/2006/math">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𝑥</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𝑚𝑖𝑛</m:t>
                        </m:r>
                      </m:sub>
                    </m:sSub>
                  </m:oMath>
                </a14:m>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 = min(1, 2, 7, 2) = 1</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tabLst>
                    <a:tab pos="914400" algn="l"/>
                  </a:tabLst>
                </a:pPr>
                <a14:m>
                  <m:oMath xmlns:m="http://schemas.openxmlformats.org/officeDocument/2006/math">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𝑥</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𝑚𝑎𝑥</m:t>
                        </m:r>
                      </m:sub>
                    </m:sSub>
                  </m:oMath>
                </a14:m>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 = max(1, 2, 7, 2) = 7</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tabLst>
                    <a:tab pos="914400" algn="l"/>
                  </a:tabLst>
                </a:pPr>
                <a14:m>
                  <m:oMath xmlns:m="http://schemas.openxmlformats.org/officeDocument/2006/math">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𝑦</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𝑚𝑖𝑛</m:t>
                        </m:r>
                      </m:sub>
                    </m:sSub>
                  </m:oMath>
                </a14:m>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 = min(1, 4, 2, 6) = 1</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tabLst>
                    <a:tab pos="914400" algn="l"/>
                  </a:tabLst>
                </a:pPr>
                <a14:m>
                  <m:oMath xmlns:m="http://schemas.openxmlformats.org/officeDocument/2006/math">
                    <m:sSub>
                      <m:sSub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i="1" kern="100">
                            <a:effectLst/>
                            <a:latin typeface="Cambria Math" panose="02040503050406030204" pitchFamily="18" charset="0"/>
                            <a:ea typeface="DengXian" panose="02010600030101010101" pitchFamily="2" charset="-122"/>
                            <a:cs typeface="Times New Roman" panose="02020603050405020304" pitchFamily="18" charset="0"/>
                          </a:rPr>
                          <m:t>𝑦</m:t>
                        </m:r>
                      </m:e>
                      <m:sub>
                        <m:r>
                          <a:rPr lang="en-US" i="1" kern="100">
                            <a:effectLst/>
                            <a:latin typeface="Cambria Math" panose="02040503050406030204" pitchFamily="18" charset="0"/>
                            <a:ea typeface="DengXian" panose="02010600030101010101" pitchFamily="2" charset="-122"/>
                            <a:cs typeface="Times New Roman" panose="02020603050405020304" pitchFamily="18" charset="0"/>
                          </a:rPr>
                          <m:t>𝑚𝑎𝑥</m:t>
                        </m:r>
                      </m:sub>
                    </m:sSub>
                  </m:oMath>
                </a14:m>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 = max(1, 4, 2, 6) = 6</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lnSpc>
                    <a:spcPct val="115000"/>
                  </a:lnSpc>
                  <a:spcAft>
                    <a:spcPts val="800"/>
                  </a:spcAft>
                  <a:buFont typeface="Arial" panose="020B0604020202020204" pitchFamily="34" charset="0"/>
                  <a:buChar char="•"/>
                  <a:tabLst>
                    <a:tab pos="914400" algn="l"/>
                  </a:tabLst>
                </a:pPr>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Hình chữ nhật bao quanh toàn bộ dữ liệu sẽ có góc dưới-trái là (1, 1) và góc trên-phải là (7, 6).</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3" name="TextBox 5">
                <a:extLst>
                  <a:ext uri="{FF2B5EF4-FFF2-40B4-BE49-F238E27FC236}">
                    <a16:creationId xmlns:a16="http://schemas.microsoft.com/office/drawing/2014/main" id="{E9BC9389-4EDC-7B9F-7553-91F7B08DFC62}"/>
                  </a:ext>
                </a:extLst>
              </p:cNvPr>
              <p:cNvSpPr txBox="1">
                <a:spLocks noRot="1" noChangeAspect="1" noMove="1" noResize="1" noEditPoints="1" noAdjustHandles="1" noChangeArrowheads="1" noChangeShapeType="1" noTextEdit="1"/>
              </p:cNvSpPr>
              <p:nvPr/>
            </p:nvSpPr>
            <p:spPr>
              <a:xfrm>
                <a:off x="1079999" y="2097332"/>
                <a:ext cx="4848853" cy="3767378"/>
              </a:xfrm>
              <a:prstGeom prst="rect">
                <a:avLst/>
              </a:prstGeom>
              <a:blipFill>
                <a:blip r:embed="rId2"/>
                <a:stretch>
                  <a:fillRect l="-1005" t="-485" r="-1005"/>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297DA024-B825-0B07-7145-6DC8A244941E}"/>
              </a:ext>
            </a:extLst>
          </p:cNvPr>
          <p:cNvPicPr>
            <a:picLocks noChangeAspect="1"/>
          </p:cNvPicPr>
          <p:nvPr/>
        </p:nvPicPr>
        <p:blipFill>
          <a:blip r:embed="rId3"/>
          <a:stretch>
            <a:fillRect/>
          </a:stretch>
        </p:blipFill>
        <p:spPr>
          <a:xfrm>
            <a:off x="7122160" y="2341777"/>
            <a:ext cx="2976880" cy="2980690"/>
          </a:xfrm>
          <a:prstGeom prst="rect">
            <a:avLst/>
          </a:prstGeom>
        </p:spPr>
      </p:pic>
    </p:spTree>
    <p:extLst>
      <p:ext uri="{BB962C8B-B14F-4D97-AF65-F5344CB8AC3E}">
        <p14:creationId xmlns:p14="http://schemas.microsoft.com/office/powerpoint/2010/main" val="28672590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B65BF-E745-9368-E3F7-2272A547047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838825-2971-2D5F-D1E8-7935E57BB21D}"/>
              </a:ext>
            </a:extLst>
          </p:cNvPr>
          <p:cNvSpPr>
            <a:spLocks noGrp="1"/>
          </p:cNvSpPr>
          <p:nvPr>
            <p:ph type="sldNum" sz="quarter" idx="12"/>
          </p:nvPr>
        </p:nvSpPr>
        <p:spPr/>
        <p:txBody>
          <a:bodyPr/>
          <a:lstStyle/>
          <a:p>
            <a:fld id="{9B618960-8005-486C-9A75-10CB2AAC16F9}" type="slidenum">
              <a:rPr lang="en-US" smtClean="0"/>
              <a:t>53</a:t>
            </a:fld>
            <a:endParaRPr lang="en-US" dirty="0"/>
          </a:p>
        </p:txBody>
      </p:sp>
      <p:sp>
        <p:nvSpPr>
          <p:cNvPr id="5" name="TextBox 3">
            <a:extLst>
              <a:ext uri="{FF2B5EF4-FFF2-40B4-BE49-F238E27FC236}">
                <a16:creationId xmlns:a16="http://schemas.microsoft.com/office/drawing/2014/main" id="{ADDDDD0E-7626-450A-4E43-9859DC340575}"/>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F5B283E1-2A63-62A8-ECAE-88CAE7EA6048}"/>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B4FEC3C5-8177-AA6E-A155-7F6EC3E86C1D}"/>
                  </a:ext>
                </a:extLst>
              </p:cNvPr>
              <p:cNvSpPr txBox="1"/>
              <p:nvPr/>
            </p:nvSpPr>
            <p:spPr>
              <a:xfrm>
                <a:off x="1079999" y="2097332"/>
                <a:ext cx="4848853" cy="2604816"/>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Ví dụ minh họa</a:t>
                </a:r>
                <a:endParaRPr lang="en-US" dirty="0">
                  <a:latin typeface="Times New Roman" panose="02020603050405020304" pitchFamily="18" charset="0"/>
                  <a:cs typeface="Times New Roman" panose="02020603050405020304" pitchFamily="18" charset="0"/>
                </a:endParaRPr>
              </a:p>
              <a:p>
                <a:pPr algn="just">
                  <a:lnSpc>
                    <a:spcPct val="115000"/>
                  </a:lnSpc>
                  <a:spcAft>
                    <a:spcPts val="800"/>
                  </a:spcAft>
                  <a:buNone/>
                </a:pPr>
                <a:r>
                  <a:rPr lang="vi-VN" kern="100" dirty="0">
                    <a:effectLst/>
                    <a:latin typeface="+mj-lt"/>
                    <a:ea typeface="DengXian" panose="02010600030101010101" pitchFamily="2" charset="-122"/>
                    <a:cs typeface="Times New Roman" panose="02020603050405020304" pitchFamily="18" charset="0"/>
                  </a:rPr>
                  <a:t>- Tính số hàng và số cột:</a:t>
                </a:r>
                <a:endParaRPr lang="en-US" kern="100" dirty="0">
                  <a:effectLst/>
                  <a:latin typeface="+mj-lt"/>
                  <a:ea typeface="Aptos" panose="020B0004020202020204" pitchFamily="34" charset="0"/>
                  <a:cs typeface="Times New Roman" panose="02020603050405020304" pitchFamily="18" charset="0"/>
                </a:endParaRPr>
              </a:p>
              <a:p>
                <a:pPr marL="742950" lvl="1" indent="-285750" algn="just">
                  <a:lnSpc>
                    <a:spcPct val="115000"/>
                  </a:lnSpc>
                  <a:spcAft>
                    <a:spcPts val="800"/>
                  </a:spcAft>
                  <a:buFont typeface="Arial" panose="020B0604020202020204" pitchFamily="34" charset="0"/>
                  <a:buChar char="•"/>
                  <a:tabLst>
                    <a:tab pos="914400" algn="l"/>
                  </a:tabLst>
                </a:pPr>
                <a:r>
                  <a:rPr lang="vi-VN" kern="100" dirty="0">
                    <a:effectLst/>
                    <a:latin typeface="+mj-lt"/>
                    <a:ea typeface="DengXian" panose="02010600030101010101" pitchFamily="2" charset="-122"/>
                    <a:cs typeface="Times New Roman" panose="02020603050405020304" pitchFamily="18" charset="0"/>
                  </a:rPr>
                  <a:t>Số cột (grid_witdth) = </a:t>
                </a:r>
                <a14:m>
                  <m:oMath xmlns:m="http://schemas.openxmlformats.org/officeDocument/2006/math">
                    <m:d>
                      <m:d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dPr>
                      <m:e>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7−1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e>
                    </m:d>
                    <m:r>
                      <a:rPr lang="en-US" i="1" kern="100">
                        <a:effectLst/>
                        <a:latin typeface="Cambria Math" panose="02040503050406030204" pitchFamily="18" charset="0"/>
                        <a:ea typeface="DengXian" panose="02010600030101010101" pitchFamily="2" charset="-122"/>
                        <a:cs typeface="Times New Roman" panose="02020603050405020304" pitchFamily="18" charset="0"/>
                      </a:rPr>
                      <m:t>+1=2</m:t>
                    </m:r>
                  </m:oMath>
                </a14:m>
                <a:r>
                  <a:rPr lang="vi-VN" kern="100" dirty="0">
                    <a:effectLst/>
                    <a:latin typeface="+mj-lt"/>
                    <a:ea typeface="DengXian" panose="02010600030101010101" pitchFamily="2" charset="-122"/>
                    <a:cs typeface="Times New Roman" panose="02020603050405020304" pitchFamily="18" charset="0"/>
                  </a:rPr>
                  <a:t> cột</a:t>
                </a:r>
                <a:endParaRPr lang="en-US" kern="100" dirty="0">
                  <a:effectLst/>
                  <a:latin typeface="+mj-lt"/>
                  <a:ea typeface="Aptos" panose="020B0004020202020204" pitchFamily="34" charset="0"/>
                  <a:cs typeface="Times New Roman" panose="02020603050405020304" pitchFamily="18" charset="0"/>
                </a:endParaRPr>
              </a:p>
              <a:p>
                <a:pPr marL="742950" lvl="1" indent="-285750" algn="just">
                  <a:lnSpc>
                    <a:spcPct val="115000"/>
                  </a:lnSpc>
                  <a:spcAft>
                    <a:spcPts val="800"/>
                  </a:spcAft>
                  <a:buFont typeface="Arial" panose="020B0604020202020204" pitchFamily="34" charset="0"/>
                  <a:buChar char="•"/>
                  <a:tabLst>
                    <a:tab pos="914400" algn="l"/>
                  </a:tabLst>
                </a:pPr>
                <a:r>
                  <a:rPr lang="vi-VN" kern="100" dirty="0">
                    <a:effectLst/>
                    <a:latin typeface="+mj-lt"/>
                    <a:ea typeface="DengXian" panose="02010600030101010101" pitchFamily="2" charset="-122"/>
                    <a:cs typeface="Times New Roman" panose="02020603050405020304" pitchFamily="18" charset="0"/>
                  </a:rPr>
                  <a:t>Số hàng (grid_height) = </a:t>
                </a:r>
                <a14:m>
                  <m:oMath xmlns:m="http://schemas.openxmlformats.org/officeDocument/2006/math">
                    <m:d>
                      <m:d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dPr>
                      <m:e>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6−1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e>
                    </m:d>
                    <m:r>
                      <a:rPr lang="en-US" i="1" kern="100">
                        <a:effectLst/>
                        <a:latin typeface="Cambria Math" panose="02040503050406030204" pitchFamily="18" charset="0"/>
                        <a:ea typeface="DengXian" panose="02010600030101010101" pitchFamily="2" charset="-122"/>
                        <a:cs typeface="Times New Roman" panose="02020603050405020304" pitchFamily="18" charset="0"/>
                      </a:rPr>
                      <m:t>+1=2</m:t>
                    </m:r>
                  </m:oMath>
                </a14:m>
                <a:r>
                  <a:rPr lang="vi-VN" kern="100" dirty="0">
                    <a:effectLst/>
                    <a:latin typeface="+mj-lt"/>
                    <a:ea typeface="DengXian" panose="02010600030101010101" pitchFamily="2" charset="-122"/>
                    <a:cs typeface="Times New Roman" panose="02020603050405020304" pitchFamily="18" charset="0"/>
                  </a:rPr>
                  <a:t> hàng</a:t>
                </a:r>
                <a:endParaRPr lang="en-US" kern="100" dirty="0">
                  <a:effectLst/>
                  <a:latin typeface="+mj-lt"/>
                  <a:ea typeface="Aptos" panose="020B0004020202020204" pitchFamily="34" charset="0"/>
                  <a:cs typeface="Times New Roman" panose="02020603050405020304" pitchFamily="18" charset="0"/>
                </a:endParaRPr>
              </a:p>
              <a:p>
                <a:pPr algn="just">
                  <a:lnSpc>
                    <a:spcPct val="115000"/>
                  </a:lnSpc>
                  <a:spcAft>
                    <a:spcPts val="800"/>
                  </a:spcAft>
                  <a:buNone/>
                </a:pPr>
                <a:r>
                  <a:rPr lang="vi-VN" kern="100" dirty="0">
                    <a:effectLst/>
                    <a:latin typeface="+mj-lt"/>
                    <a:ea typeface="DengXian" panose="02010600030101010101" pitchFamily="2" charset="-122"/>
                    <a:cs typeface="Times New Roman" panose="02020603050405020304" pitchFamily="18" charset="0"/>
                  </a:rPr>
                  <a:t>- Ma trận lưới gồm: 2 </a:t>
                </a:r>
                <a14:m>
                  <m:oMath xmlns:m="http://schemas.openxmlformats.org/officeDocument/2006/math">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vi-VN" kern="100" dirty="0">
                    <a:effectLst/>
                    <a:latin typeface="+mj-lt"/>
                    <a:ea typeface="DengXian" panose="02010600030101010101" pitchFamily="2" charset="-122"/>
                    <a:cs typeface="Times New Roman" panose="02020603050405020304" pitchFamily="18" charset="0"/>
                  </a:rPr>
                  <a:t> 2 = 4 ô vuông</a:t>
                </a:r>
                <a:endParaRPr lang="en-US" kern="100" dirty="0">
                  <a:effectLst/>
                  <a:latin typeface="+mj-lt"/>
                  <a:ea typeface="Aptos" panose="020B0004020202020204" pitchFamily="34" charset="0"/>
                  <a:cs typeface="Times New Roman" panose="02020603050405020304" pitchFamily="18" charset="0"/>
                </a:endParaRPr>
              </a:p>
            </p:txBody>
          </p:sp>
        </mc:Choice>
        <mc:Fallback xmlns="">
          <p:sp>
            <p:nvSpPr>
              <p:cNvPr id="3" name="TextBox 5">
                <a:extLst>
                  <a:ext uri="{FF2B5EF4-FFF2-40B4-BE49-F238E27FC236}">
                    <a16:creationId xmlns:a16="http://schemas.microsoft.com/office/drawing/2014/main" id="{B4FEC3C5-8177-AA6E-A155-7F6EC3E86C1D}"/>
                  </a:ext>
                </a:extLst>
              </p:cNvPr>
              <p:cNvSpPr txBox="1">
                <a:spLocks noRot="1" noChangeAspect="1" noMove="1" noResize="1" noEditPoints="1" noAdjustHandles="1" noChangeArrowheads="1" noChangeShapeType="1" noTextEdit="1"/>
              </p:cNvSpPr>
              <p:nvPr/>
            </p:nvSpPr>
            <p:spPr>
              <a:xfrm>
                <a:off x="1079999" y="2097332"/>
                <a:ext cx="4848853" cy="2604816"/>
              </a:xfrm>
              <a:prstGeom prst="rect">
                <a:avLst/>
              </a:prstGeom>
              <a:blipFill>
                <a:blip r:embed="rId2"/>
                <a:stretch>
                  <a:fillRect l="-1005" t="-703" b="-2810"/>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F1ABA33D-AF5E-E468-4F22-FA436ACBD277}"/>
              </a:ext>
            </a:extLst>
          </p:cNvPr>
          <p:cNvPicPr>
            <a:picLocks noChangeAspect="1"/>
          </p:cNvPicPr>
          <p:nvPr/>
        </p:nvPicPr>
        <p:blipFill>
          <a:blip r:embed="rId3"/>
          <a:stretch>
            <a:fillRect/>
          </a:stretch>
        </p:blipFill>
        <p:spPr>
          <a:xfrm>
            <a:off x="7122160" y="2341777"/>
            <a:ext cx="2976880" cy="2980690"/>
          </a:xfrm>
          <a:prstGeom prst="rect">
            <a:avLst/>
          </a:prstGeom>
        </p:spPr>
      </p:pic>
    </p:spTree>
    <p:extLst>
      <p:ext uri="{BB962C8B-B14F-4D97-AF65-F5344CB8AC3E}">
        <p14:creationId xmlns:p14="http://schemas.microsoft.com/office/powerpoint/2010/main" val="21534774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7970E-862C-9712-32FC-C3AD34A2A22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D8B942-F18D-C68B-82DC-0638CC44C191}"/>
              </a:ext>
            </a:extLst>
          </p:cNvPr>
          <p:cNvSpPr>
            <a:spLocks noGrp="1"/>
          </p:cNvSpPr>
          <p:nvPr>
            <p:ph type="sldNum" sz="quarter" idx="12"/>
          </p:nvPr>
        </p:nvSpPr>
        <p:spPr/>
        <p:txBody>
          <a:bodyPr/>
          <a:lstStyle/>
          <a:p>
            <a:fld id="{9B618960-8005-486C-9A75-10CB2AAC16F9}" type="slidenum">
              <a:rPr lang="en-US" smtClean="0"/>
              <a:t>54</a:t>
            </a:fld>
            <a:endParaRPr lang="en-US" dirty="0"/>
          </a:p>
        </p:txBody>
      </p:sp>
      <p:sp>
        <p:nvSpPr>
          <p:cNvPr id="5" name="TextBox 3">
            <a:extLst>
              <a:ext uri="{FF2B5EF4-FFF2-40B4-BE49-F238E27FC236}">
                <a16:creationId xmlns:a16="http://schemas.microsoft.com/office/drawing/2014/main" id="{9143ACA2-9F09-1A98-533A-D6EC87CE76B0}"/>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93549784-8EEA-1A82-845C-433EC1AF23C0}"/>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C6109341-9149-8995-5727-2517E437B44C}"/>
                  </a:ext>
                </a:extLst>
              </p:cNvPr>
              <p:cNvSpPr txBox="1"/>
              <p:nvPr/>
            </p:nvSpPr>
            <p:spPr>
              <a:xfrm>
                <a:off x="1079999" y="2097332"/>
                <a:ext cx="4848853" cy="4308680"/>
              </a:xfrm>
              <a:prstGeom prst="rect">
                <a:avLst/>
              </a:prstGeom>
              <a:noFill/>
            </p:spPr>
            <p:txBody>
              <a:bodyPr wrap="square" rtlCol="0">
                <a:spAutoFit/>
              </a:bodyPr>
              <a:lstStyle/>
              <a:p>
                <a:pPr marL="285750" indent="-285750" algn="just">
                  <a:lnSpc>
                    <a:spcPct val="114000"/>
                  </a:lnSpc>
                  <a:buFont typeface="Wingdings" panose="05000000000000000000" pitchFamily="2" charset="2"/>
                  <a:buChar char="v"/>
                </a:pPr>
                <a:r>
                  <a:rPr lang="vi-VN" dirty="0">
                    <a:latin typeface="Times New Roman" panose="02020603050405020304" pitchFamily="18" charset="0"/>
                    <a:cs typeface="Times New Roman" panose="02020603050405020304" pitchFamily="18" charset="0"/>
                  </a:rPr>
                  <a:t>Ví dụ minh họa</a:t>
                </a:r>
                <a:endParaRPr lang="en-US" dirty="0">
                  <a:latin typeface="Times New Roman" panose="02020603050405020304" pitchFamily="18" charset="0"/>
                  <a:cs typeface="Times New Roman" panose="02020603050405020304" pitchFamily="18" charset="0"/>
                </a:endParaRPr>
              </a:p>
              <a:p>
                <a:pPr>
                  <a:spcAft>
                    <a:spcPts val="800"/>
                  </a:spcAft>
                  <a:buNone/>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A(1,</a:t>
                </a:r>
                <a:r>
                  <a:rPr lang="vi-VN" kern="100" dirty="0">
                    <a:effectLst/>
                    <a:latin typeface="Times New Roman" panose="02020603050405020304" pitchFamily="18" charset="0"/>
                    <a:ea typeface="Aptos" panose="020B0004020202020204" pitchFamily="34" charset="0"/>
                    <a:cs typeface="Times New Roman" panose="02020603050405020304" pitchFamily="18" charset="0"/>
                  </a:rPr>
                  <a:t> 1</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𝑥</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1−1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=0</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𝑦</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1−1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=0</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nên</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nằm</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ô (0, 0).</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B(2,</a:t>
                </a:r>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 4</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𝑥</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2−1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=0</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𝑦</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4−1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=0</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nên</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nằm</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trong</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ô (0, 0).</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3" name="TextBox 5">
                <a:extLst>
                  <a:ext uri="{FF2B5EF4-FFF2-40B4-BE49-F238E27FC236}">
                    <a16:creationId xmlns:a16="http://schemas.microsoft.com/office/drawing/2014/main" id="{C6109341-9149-8995-5727-2517E437B44C}"/>
                  </a:ext>
                </a:extLst>
              </p:cNvPr>
              <p:cNvSpPr txBox="1">
                <a:spLocks noRot="1" noChangeAspect="1" noMove="1" noResize="1" noEditPoints="1" noAdjustHandles="1" noChangeArrowheads="1" noChangeShapeType="1" noTextEdit="1"/>
              </p:cNvSpPr>
              <p:nvPr/>
            </p:nvSpPr>
            <p:spPr>
              <a:xfrm>
                <a:off x="1079999" y="2097332"/>
                <a:ext cx="4848853" cy="4308680"/>
              </a:xfrm>
              <a:prstGeom prst="rect">
                <a:avLst/>
              </a:prstGeom>
              <a:blipFill>
                <a:blip r:embed="rId2"/>
                <a:stretch>
                  <a:fillRect l="-1005" t="-424" b="-11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181FDA8B-B294-811D-D415-E00CA8733D94}"/>
                  </a:ext>
                </a:extLst>
              </p:cNvPr>
              <p:cNvSpPr txBox="1"/>
              <p:nvPr/>
            </p:nvSpPr>
            <p:spPr>
              <a:xfrm>
                <a:off x="5928852" y="2417222"/>
                <a:ext cx="4848853" cy="3992888"/>
              </a:xfrm>
              <a:prstGeom prst="rect">
                <a:avLst/>
              </a:prstGeom>
              <a:noFill/>
            </p:spPr>
            <p:txBody>
              <a:bodyPr wrap="square" rtlCol="0">
                <a:spAutoFit/>
              </a:bodyPr>
              <a:lstStyle/>
              <a:p>
                <a:pPr>
                  <a:spcAft>
                    <a:spcPts val="800"/>
                  </a:spcAft>
                  <a:buNone/>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C(7, 2)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𝑥</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7−1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=1</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𝑦</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2−1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=0</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nên</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nằm</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trong</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ô (1, 0)</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D(2</a:t>
                </a:r>
                <a:r>
                  <a:rPr lang="vi-VN" kern="100" dirty="0">
                    <a:effectLst/>
                    <a:latin typeface="Times New Roman" panose="02020603050405020304" pitchFamily="18" charset="0"/>
                    <a:ea typeface="DengXian" panose="02010600030101010101" pitchFamily="2" charset="-122"/>
                    <a:cs typeface="Times New Roman" panose="02020603050405020304" pitchFamily="18" charset="0"/>
                  </a:rPr>
                  <a:t>, 6</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𝑥</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2−1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=0</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buNone/>
                </a:pPr>
                <a14:m>
                  <m:oMathPara xmlns:m="http://schemas.openxmlformats.org/officeDocument/2006/math">
                    <m:oMathParaPr>
                      <m:jc m:val="centerGroup"/>
                    </m:oMathParaPr>
                    <m:oMath xmlns:m="http://schemas.openxmlformats.org/officeDocument/2006/math">
                      <m:sSub>
                        <m:sSubPr>
                          <m:ctrlPr>
                            <a:rPr lang="en-US"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i="1" kern="100">
                              <a:effectLst/>
                              <a:latin typeface="Cambria Math" panose="02040503050406030204" pitchFamily="18" charset="0"/>
                              <a:ea typeface="Aptos" panose="020B0004020202020204" pitchFamily="34" charset="0"/>
                              <a:cs typeface="Times New Roman" panose="02020603050405020304" pitchFamily="18" charset="0"/>
                            </a:rPr>
                            <m:t>𝑔𝑟𝑖𝑑</m:t>
                          </m:r>
                        </m:e>
                        <m:sub>
                          <m:r>
                            <a:rPr lang="en-US" i="1" kern="100">
                              <a:effectLst/>
                              <a:latin typeface="Cambria Math" panose="02040503050406030204" pitchFamily="18" charset="0"/>
                              <a:ea typeface="Aptos" panose="020B0004020202020204" pitchFamily="34" charset="0"/>
                              <a:cs typeface="Times New Roman" panose="02020603050405020304" pitchFamily="18" charset="0"/>
                            </a:rPr>
                            <m:t>𝑦</m:t>
                          </m:r>
                        </m:sub>
                      </m:sSub>
                      <m:r>
                        <a:rPr lang="en-US" i="1" kern="1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US" i="1" kern="100">
                              <a:effectLst/>
                              <a:latin typeface="Cambria Math" panose="02040503050406030204" pitchFamily="18" charset="0"/>
                              <a:ea typeface="DengXian" panose="02010600030101010101" pitchFamily="2" charset="-122"/>
                              <a:cs typeface="Times New Roman" panose="02020603050405020304" pitchFamily="18" charset="0"/>
                            </a:rPr>
                          </m:ctrlPr>
                        </m:fPr>
                        <m:num>
                          <m:r>
                            <a:rPr lang="en-US" i="1" kern="100">
                              <a:effectLst/>
                              <a:latin typeface="Cambria Math" panose="02040503050406030204" pitchFamily="18" charset="0"/>
                              <a:ea typeface="DengXian" panose="02010600030101010101" pitchFamily="2" charset="-122"/>
                              <a:cs typeface="Times New Roman" panose="02020603050405020304" pitchFamily="18" charset="0"/>
                            </a:rPr>
                            <m:t>6−1</m:t>
                          </m:r>
                        </m:num>
                        <m:den>
                          <m:r>
                            <a:rPr lang="en-US" i="1" kern="100">
                              <a:effectLst/>
                              <a:latin typeface="Cambria Math" panose="02040503050406030204" pitchFamily="18" charset="0"/>
                              <a:ea typeface="DengXian" panose="02010600030101010101" pitchFamily="2" charset="-122"/>
                              <a:cs typeface="Times New Roman" panose="02020603050405020304" pitchFamily="18" charset="0"/>
                            </a:rPr>
                            <m:t>4</m:t>
                          </m:r>
                        </m:den>
                      </m:f>
                      <m:r>
                        <a:rPr lang="en-US" i="1" kern="100">
                          <a:effectLst/>
                          <a:latin typeface="Cambria Math" panose="02040503050406030204" pitchFamily="18" charset="0"/>
                          <a:ea typeface="DengXian" panose="02010600030101010101" pitchFamily="2" charset="-122"/>
                          <a:cs typeface="Times New Roman" panose="02020603050405020304" pitchFamily="18" charset="0"/>
                        </a:rPr>
                        <m:t>=1</m:t>
                      </m:r>
                    </m:oMath>
                  </m:oMathPara>
                </a14:m>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kern="100" dirty="0" err="1">
                    <a:effectLst/>
                    <a:latin typeface="Times New Roman" panose="02020603050405020304" pitchFamily="18" charset="0"/>
                    <a:ea typeface="DengXian" panose="02010600030101010101" pitchFamily="2" charset="-122"/>
                  </a:rPr>
                  <a:t>nên</a:t>
                </a:r>
                <a:r>
                  <a:rPr lang="en-US" kern="100" dirty="0">
                    <a:effectLst/>
                    <a:latin typeface="Times New Roman" panose="02020603050405020304" pitchFamily="18" charset="0"/>
                    <a:ea typeface="DengXian" panose="02010600030101010101" pitchFamily="2" charset="-122"/>
                  </a:rPr>
                  <a:t> </a:t>
                </a:r>
                <a:r>
                  <a:rPr lang="en-US" kern="100" dirty="0" err="1">
                    <a:effectLst/>
                    <a:latin typeface="Times New Roman" panose="02020603050405020304" pitchFamily="18" charset="0"/>
                    <a:ea typeface="DengXian" panose="02010600030101010101" pitchFamily="2" charset="-122"/>
                  </a:rPr>
                  <a:t>nằm</a:t>
                </a:r>
                <a:r>
                  <a:rPr lang="en-US" kern="100" dirty="0">
                    <a:effectLst/>
                    <a:latin typeface="Times New Roman" panose="02020603050405020304" pitchFamily="18" charset="0"/>
                    <a:ea typeface="DengXian" panose="02010600030101010101" pitchFamily="2" charset="-122"/>
                  </a:rPr>
                  <a:t> </a:t>
                </a:r>
                <a:r>
                  <a:rPr lang="en-US" kern="100" dirty="0" err="1">
                    <a:effectLst/>
                    <a:latin typeface="Times New Roman" panose="02020603050405020304" pitchFamily="18" charset="0"/>
                    <a:ea typeface="DengXian" panose="02010600030101010101" pitchFamily="2" charset="-122"/>
                  </a:rPr>
                  <a:t>trong</a:t>
                </a:r>
                <a:r>
                  <a:rPr lang="en-US" kern="100" dirty="0">
                    <a:effectLst/>
                    <a:latin typeface="Times New Roman" panose="02020603050405020304" pitchFamily="18" charset="0"/>
                    <a:ea typeface="DengXian" panose="02010600030101010101" pitchFamily="2" charset="-122"/>
                  </a:rPr>
                  <a:t> ô (0, 1)</a:t>
                </a:r>
                <a:r>
                  <a:rPr lang="vi-VN" kern="100" dirty="0">
                    <a:effectLst/>
                    <a:latin typeface="Times New Roman" panose="02020603050405020304" pitchFamily="18" charset="0"/>
                    <a:ea typeface="DengXian" panose="02010600030101010101" pitchFamily="2" charset="-122"/>
                  </a:rPr>
                  <a:t>.</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7" name="TextBox 5">
                <a:extLst>
                  <a:ext uri="{FF2B5EF4-FFF2-40B4-BE49-F238E27FC236}">
                    <a16:creationId xmlns:a16="http://schemas.microsoft.com/office/drawing/2014/main" id="{181FDA8B-B294-811D-D415-E00CA8733D94}"/>
                  </a:ext>
                </a:extLst>
              </p:cNvPr>
              <p:cNvSpPr txBox="1">
                <a:spLocks noRot="1" noChangeAspect="1" noMove="1" noResize="1" noEditPoints="1" noAdjustHandles="1" noChangeArrowheads="1" noChangeShapeType="1" noTextEdit="1"/>
              </p:cNvSpPr>
              <p:nvPr/>
            </p:nvSpPr>
            <p:spPr>
              <a:xfrm>
                <a:off x="5928852" y="2417222"/>
                <a:ext cx="4848853" cy="3992888"/>
              </a:xfrm>
              <a:prstGeom prst="rect">
                <a:avLst/>
              </a:prstGeom>
              <a:blipFill>
                <a:blip r:embed="rId3"/>
                <a:stretch>
                  <a:fillRect l="-1132" t="-1069" b="-1374"/>
                </a:stretch>
              </a:blipFill>
            </p:spPr>
            <p:txBody>
              <a:bodyPr/>
              <a:lstStyle/>
              <a:p>
                <a:r>
                  <a:rPr lang="en-US">
                    <a:noFill/>
                  </a:rPr>
                  <a:t> </a:t>
                </a:r>
              </a:p>
            </p:txBody>
          </p:sp>
        </mc:Fallback>
      </mc:AlternateContent>
    </p:spTree>
    <p:extLst>
      <p:ext uri="{BB962C8B-B14F-4D97-AF65-F5344CB8AC3E}">
        <p14:creationId xmlns:p14="http://schemas.microsoft.com/office/powerpoint/2010/main" val="32634991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A2E7C-11BF-D248-813F-0173817392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99DC77-F6CB-C1BB-81A9-67BA26240DDE}"/>
              </a:ext>
            </a:extLst>
          </p:cNvPr>
          <p:cNvSpPr>
            <a:spLocks noGrp="1"/>
          </p:cNvSpPr>
          <p:nvPr>
            <p:ph type="sldNum" sz="quarter" idx="12"/>
          </p:nvPr>
        </p:nvSpPr>
        <p:spPr/>
        <p:txBody>
          <a:bodyPr/>
          <a:lstStyle/>
          <a:p>
            <a:fld id="{9B618960-8005-486C-9A75-10CB2AAC16F9}" type="slidenum">
              <a:rPr lang="en-US" smtClean="0"/>
              <a:t>55</a:t>
            </a:fld>
            <a:endParaRPr lang="en-US" dirty="0"/>
          </a:p>
        </p:txBody>
      </p:sp>
      <p:sp>
        <p:nvSpPr>
          <p:cNvPr id="5" name="TextBox 3">
            <a:extLst>
              <a:ext uri="{FF2B5EF4-FFF2-40B4-BE49-F238E27FC236}">
                <a16:creationId xmlns:a16="http://schemas.microsoft.com/office/drawing/2014/main" id="{8E92A653-FA29-5E58-F6B2-7C447139B4F2}"/>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9A138FB5-6B53-8F49-2939-B3E2807BDED3}"/>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xmlns:a14="http://schemas.microsoft.com/office/drawing/2010/main">
        <mc:Choice Requires="a14">
          <p:sp>
            <p:nvSpPr>
              <p:cNvPr id="3" name="TextBox 5">
                <a:extLst>
                  <a:ext uri="{FF2B5EF4-FFF2-40B4-BE49-F238E27FC236}">
                    <a16:creationId xmlns:a16="http://schemas.microsoft.com/office/drawing/2014/main" id="{1B6BA396-DB2B-5299-F5D8-40CC348E2A37}"/>
                  </a:ext>
                </a:extLst>
              </p:cNvPr>
              <p:cNvSpPr txBox="1"/>
              <p:nvPr/>
            </p:nvSpPr>
            <p:spPr>
              <a:xfrm>
                <a:off x="1079999" y="2097332"/>
                <a:ext cx="4848853" cy="3662990"/>
              </a:xfrm>
              <a:prstGeom prst="rect">
                <a:avLst/>
              </a:prstGeom>
              <a:noFill/>
            </p:spPr>
            <p:txBody>
              <a:bodyPr wrap="square" rtlCol="0">
                <a:spAutoFit/>
              </a:bodyPr>
              <a:lstStyle/>
              <a:p>
                <a:pPr>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Sắp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xếp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điểm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mật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độ</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giảm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dần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 </a:t>
                </a:r>
                <a14:m>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oMath>
                </a14:m>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B </a:t>
                </a:r>
                <a14:m>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oMath>
                </a14:m>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C </a:t>
                </a:r>
                <a14:m>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oMath>
                </a14:m>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D</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Vì</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mật</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độ</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cao</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nhất</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nên</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không</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tồn</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tại</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nào</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mật</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độ</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cao</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hơn</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Do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đó</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𝛿</m:t>
                          </m:r>
                        </m:e>
                        <m:sub>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𝐴</m:t>
                          </m:r>
                        </m:sub>
                      </m:sSub>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m:t>
                      </m:r>
                      <m:r>
                        <m:rPr>
                          <m:sty m:val="p"/>
                        </m:rPr>
                        <a:rPr lang="en-US" sz="1800" kern="100">
                          <a:effectLst/>
                          <a:latin typeface="Cambria Math" panose="02040503050406030204" pitchFamily="18" charset="0"/>
                          <a:ea typeface="DengXian" panose="02010600030101010101" pitchFamily="2" charset="-122"/>
                          <a:cs typeface="Times New Roman" panose="02020603050405020304" pitchFamily="18" charset="0"/>
                        </a:rPr>
                        <m:t>max</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8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 </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𝐵</m:t>
                          </m:r>
                        </m:e>
                      </m:d>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 </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8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𝐶</m:t>
                          </m:r>
                        </m:e>
                      </m:d>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 </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8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𝐷</m:t>
                          </m:r>
                        </m:e>
                      </m:d>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8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𝐶</m:t>
                          </m:r>
                        </m:e>
                      </m:d>
                      <m:r>
                        <a:rPr lang="en-US" sz="1800" i="1" kern="100">
                          <a:effectLst/>
                          <a:latin typeface="Cambria Math" panose="02040503050406030204" pitchFamily="18" charset="0"/>
                          <a:ea typeface="DengXian" panose="02010600030101010101" pitchFamily="2" charset="-122"/>
                          <a:cs typeface="Times New Roman" panose="02020603050405020304" pitchFamily="18" charset="0"/>
                        </a:rPr>
                        <m:t>≈6.08</m:t>
                      </m:r>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Sau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khi</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tính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xong</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được</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thêm</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vào</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ô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lưới</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(0,0).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B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nằm</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trong</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ô (0,0)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chứa</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là</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mật</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độ</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cao</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hơn</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800" kern="100" dirty="0" err="1">
                    <a:effectLst/>
                    <a:latin typeface="Times New Roman" panose="02020603050405020304" pitchFamily="18" charset="0"/>
                    <a:ea typeface="DengXian" panose="02010600030101010101" pitchFamily="2" charset="-122"/>
                    <a:cs typeface="Times New Roman" panose="02020603050405020304" pitchFamily="18" charset="0"/>
                  </a:rPr>
                  <a:t>nó</a:t>
                </a:r>
                <a:r>
                  <a:rPr 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3" name="TextBox 5">
                <a:extLst>
                  <a:ext uri="{FF2B5EF4-FFF2-40B4-BE49-F238E27FC236}">
                    <a16:creationId xmlns:a16="http://schemas.microsoft.com/office/drawing/2014/main" id="{1B6BA396-DB2B-5299-F5D8-40CC348E2A37}"/>
                  </a:ext>
                </a:extLst>
              </p:cNvPr>
              <p:cNvSpPr txBox="1">
                <a:spLocks noRot="1" noChangeAspect="1" noMove="1" noResize="1" noEditPoints="1" noAdjustHandles="1" noChangeArrowheads="1" noChangeShapeType="1" noTextEdit="1"/>
              </p:cNvSpPr>
              <p:nvPr/>
            </p:nvSpPr>
            <p:spPr>
              <a:xfrm>
                <a:off x="1079999" y="2097332"/>
                <a:ext cx="4848853" cy="3662990"/>
              </a:xfrm>
              <a:prstGeom prst="rect">
                <a:avLst/>
              </a:prstGeom>
              <a:blipFill>
                <a:blip r:embed="rId2"/>
                <a:stretch>
                  <a:fillRect l="-1005" t="-333" r="-126" b="-14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B0EEDD51-0057-FED4-D641-EEF05896835E}"/>
                  </a:ext>
                </a:extLst>
              </p:cNvPr>
              <p:cNvSpPr txBox="1"/>
              <p:nvPr/>
            </p:nvSpPr>
            <p:spPr>
              <a:xfrm>
                <a:off x="6263148" y="2097332"/>
                <a:ext cx="4848853" cy="4310411"/>
              </a:xfrm>
              <a:prstGeom prst="rect">
                <a:avLst/>
              </a:prstGeom>
              <a:noFill/>
            </p:spPr>
            <p:txBody>
              <a:bodyPr wrap="square" rtlCol="0">
                <a:spAutoFit/>
              </a:bodyPr>
              <a:lstStyle/>
              <a:p>
                <a:pPr>
                  <a:lnSpc>
                    <a:spcPct val="115000"/>
                  </a:lnSpc>
                  <a:spcAft>
                    <a:spcPts val="800"/>
                  </a:spcAft>
                  <a:buNone/>
                </a:pPr>
                <a:r>
                  <a:rPr lang="en-US" kern="100" dirty="0">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latin typeface="Times New Roman" panose="02020603050405020304" pitchFamily="18" charset="0"/>
                    <a:ea typeface="DengXian" panose="02010600030101010101" pitchFamily="2" charset="-122"/>
                    <a:cs typeface="Times New Roman" panose="02020603050405020304" pitchFamily="18" charset="0"/>
                  </a:rPr>
                  <a:t>Khoảng</a:t>
                </a:r>
                <a:r>
                  <a:rPr lang="en-US" kern="100" dirty="0">
                    <a:latin typeface="Times New Roman" panose="02020603050405020304" pitchFamily="18" charset="0"/>
                    <a:ea typeface="DengXian" panose="02010600030101010101" pitchFamily="2" charset="-122"/>
                    <a:cs typeface="Times New Roman" panose="02020603050405020304" pitchFamily="18" charset="0"/>
                  </a:rPr>
                  <a:t> </a:t>
                </a:r>
                <a:r>
                  <a:rPr lang="en-US" kern="100" dirty="0" err="1">
                    <a:latin typeface="Times New Roman" panose="02020603050405020304" pitchFamily="18" charset="0"/>
                    <a:ea typeface="DengXian" panose="02010600030101010101" pitchFamily="2" charset="-122"/>
                    <a:cs typeface="Times New Roman" panose="02020603050405020304" pitchFamily="18" charset="0"/>
                  </a:rPr>
                  <a:t>cách</a:t>
                </a:r>
                <a:r>
                  <a:rPr lang="en-US" kern="100" dirty="0">
                    <a:latin typeface="Times New Roman" panose="02020603050405020304" pitchFamily="18" charset="0"/>
                    <a:ea typeface="DengXian" panose="02010600030101010101" pitchFamily="2" charset="-122"/>
                    <a:cs typeface="Times New Roman" panose="02020603050405020304" pitchFamily="18" charset="0"/>
                  </a:rPr>
                  <a:t>:</a:t>
                </a:r>
                <a:endParaRPr lang="en-US" sz="1600"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US" i="1" kern="100">
                          <a:latin typeface="Cambria Math" panose="02040503050406030204" pitchFamily="18" charset="0"/>
                          <a:ea typeface="DengXian" panose="02010600030101010101" pitchFamily="2" charset="-122"/>
                          <a:cs typeface="Times New Roman" panose="02020603050405020304" pitchFamily="18" charset="0"/>
                        </a:rPr>
                        <m:t>𝑑</m:t>
                      </m:r>
                      <m:d>
                        <m:dPr>
                          <m:ctrlPr>
                            <a:rPr lang="en-US" i="1" kern="100">
                              <a:latin typeface="Cambria Math" panose="02040503050406030204" pitchFamily="18" charset="0"/>
                              <a:ea typeface="DengXian" panose="02010600030101010101" pitchFamily="2" charset="-122"/>
                              <a:cs typeface="Times New Roman" panose="02020603050405020304" pitchFamily="18" charset="0"/>
                            </a:rPr>
                          </m:ctrlPr>
                        </m:dPr>
                        <m:e>
                          <m:r>
                            <a:rPr lang="en-US" i="1" kern="100">
                              <a:latin typeface="Cambria Math" panose="02040503050406030204" pitchFamily="18" charset="0"/>
                              <a:ea typeface="DengXian" panose="02010600030101010101" pitchFamily="2" charset="-122"/>
                              <a:cs typeface="Times New Roman" panose="02020603050405020304" pitchFamily="18" charset="0"/>
                            </a:rPr>
                            <m:t>𝐵</m:t>
                          </m:r>
                          <m:r>
                            <a:rPr lang="en-US" i="1" kern="100">
                              <a:latin typeface="Cambria Math" panose="02040503050406030204" pitchFamily="18" charset="0"/>
                              <a:ea typeface="DengXian" panose="02010600030101010101" pitchFamily="2" charset="-122"/>
                              <a:cs typeface="Times New Roman" panose="02020603050405020304" pitchFamily="18" charset="0"/>
                            </a:rPr>
                            <m:t>,</m:t>
                          </m:r>
                          <m:r>
                            <a:rPr lang="en-US" i="1" kern="100">
                              <a:latin typeface="Cambria Math" panose="02040503050406030204" pitchFamily="18" charset="0"/>
                              <a:ea typeface="DengXian" panose="02010600030101010101" pitchFamily="2" charset="-122"/>
                              <a:cs typeface="Times New Roman" panose="02020603050405020304" pitchFamily="18" charset="0"/>
                            </a:rPr>
                            <m:t>𝐴</m:t>
                          </m:r>
                        </m:e>
                      </m:d>
                      <m:r>
                        <a:rPr lang="en-US" i="1" kern="100">
                          <a:latin typeface="Cambria Math" panose="02040503050406030204" pitchFamily="18" charset="0"/>
                          <a:ea typeface="DengXian" panose="02010600030101010101" pitchFamily="2" charset="-122"/>
                          <a:cs typeface="Times New Roman" panose="02020603050405020304" pitchFamily="18" charset="0"/>
                        </a:rPr>
                        <m:t>≈3.16</m:t>
                      </m:r>
                    </m:oMath>
                  </m:oMathPara>
                </a14:m>
                <a:endParaRPr lang="en-US" sz="16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15000"/>
                  </a:lnSpc>
                  <a:spcAft>
                    <a:spcPts val="800"/>
                  </a:spcAft>
                  <a:buFontTx/>
                  <a:buChar char="-"/>
                </a:pPr>
                <a:r>
                  <a:rPr lang="en-US" kern="100" dirty="0">
                    <a:latin typeface="Times New Roman" panose="02020603050405020304" pitchFamily="18" charset="0"/>
                    <a:ea typeface="DengXian" panose="02010600030101010101" pitchFamily="2" charset="-122"/>
                    <a:cs typeface="Times New Roman" panose="02020603050405020304" pitchFamily="18" charset="0"/>
                  </a:rPr>
                  <a:t>Khi </a:t>
                </a:r>
                <a:r>
                  <a:rPr lang="en-US" kern="100" dirty="0" err="1">
                    <a:latin typeface="Times New Roman" panose="02020603050405020304" pitchFamily="18" charset="0"/>
                    <a:ea typeface="DengXian" panose="02010600030101010101" pitchFamily="2" charset="-122"/>
                    <a:cs typeface="Times New Roman" panose="02020603050405020304" pitchFamily="18" charset="0"/>
                  </a:rPr>
                  <a:t>đó</a:t>
                </a:r>
                <a:r>
                  <a:rPr lang="en-US" kern="100" dirty="0">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i="1" kern="100">
                        <a:latin typeface="Cambria Math" panose="02040503050406030204" pitchFamily="18" charset="0"/>
                        <a:ea typeface="DengXian" panose="02010600030101010101" pitchFamily="2" charset="-122"/>
                        <a:cs typeface="Times New Roman" panose="02020603050405020304" pitchFamily="18" charset="0"/>
                      </a:rPr>
                      <m:t>𝑏𝑒𝑠𝑡</m:t>
                    </m:r>
                    <m:r>
                      <a:rPr lang="en-US" i="1" kern="100">
                        <a:latin typeface="Cambria Math" panose="02040503050406030204" pitchFamily="18" charset="0"/>
                        <a:ea typeface="DengXian" panose="02010600030101010101" pitchFamily="2" charset="-122"/>
                        <a:cs typeface="Times New Roman" panose="02020603050405020304" pitchFamily="18" charset="0"/>
                      </a:rPr>
                      <m:t>=3.16</m:t>
                    </m:r>
                  </m:oMath>
                </a14:m>
                <a:endParaRPr lang="vi-VN" sz="1600" kern="100" dirty="0">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tiếp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tục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xét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các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khác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tính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khoảng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cách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tới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Bounding Box.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sẽ</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tính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khoảng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cách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lần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lượt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tới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8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xung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quanh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Các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thỏa</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điều</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kiện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𝑚𝑖𝑛</m:t>
                          </m:r>
                        </m:sub>
                      </m:sSub>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𝐵</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 ô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𝑙</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ướ</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𝑖</m:t>
                          </m:r>
                        </m:e>
                      </m: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&lt;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oMath>
                  </m:oMathPara>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sẽ</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được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truy</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cập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buNone/>
                </a:pP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Vì</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các</a:t>
                </a:r>
                <a:r>
                  <a:rPr lang="en-US" sz="1600" kern="100" dirty="0">
                    <a:effectLst/>
                    <a:latin typeface="Times New Roman" panose="02020603050405020304" pitchFamily="18" charset="0"/>
                    <a:ea typeface="DengXian" panose="02010600030101010101" pitchFamily="2" charset="-122"/>
                  </a:rPr>
                  <a:t> ô </a:t>
                </a:r>
                <a:r>
                  <a:rPr lang="en-US" sz="1600" kern="100" dirty="0" err="1">
                    <a:effectLst/>
                    <a:latin typeface="Times New Roman" panose="02020603050405020304" pitchFamily="18" charset="0"/>
                    <a:ea typeface="DengXian" panose="02010600030101010101" pitchFamily="2" charset="-122"/>
                  </a:rPr>
                  <a:t>xung</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quanh</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đều</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rỗng</a:t>
                </a:r>
                <a:r>
                  <a:rPr lang="vi-VN" sz="1600" kern="100" dirty="0">
                    <a:effectLst/>
                    <a:latin typeface="Times New Roman" panose="02020603050405020304" pitchFamily="18" charset="0"/>
                    <a:ea typeface="DengXian" panose="02010600030101010101" pitchFamily="2" charset="-122"/>
                  </a:rPr>
                  <a:t> (các ô rỗng sẽ bị loại bỏ trước mà chưa cần phải xét tới khoảng cách </a:t>
                </a:r>
                <a14:m>
                  <m:oMath xmlns:m="http://schemas.openxmlformats.org/officeDocument/2006/math">
                    <m:sSub>
                      <m:sSubPr>
                        <m:ctrlPr>
                          <a:rPr lang="en-US" sz="16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𝑚𝑖𝑛</m:t>
                        </m:r>
                      </m:sub>
                    </m:sSub>
                  </m:oMath>
                </a14:m>
                <a:r>
                  <a:rPr lang="vi-VN" sz="1600" kern="100" dirty="0">
                    <a:effectLst/>
                    <a:latin typeface="Times New Roman" panose="02020603050405020304" pitchFamily="18" charset="0"/>
                    <a:ea typeface="DengXian" panose="02010600030101010101" pitchFamily="2" charset="-122"/>
                  </a:rPr>
                  <a:t> đến ô đó, hiện tại D và C chưa được đưa vào ô lưới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vi-VN" sz="1600" kern="100" dirty="0">
                    <a:effectLst/>
                    <a:latin typeface="Times New Roman" panose="02020603050405020304" pitchFamily="18" charset="0"/>
                    <a:ea typeface="DengXian" panose="02010600030101010101" pitchFamily="2" charset="-122"/>
                  </a:rPr>
                  <a:t> các ô khác chứa D, C hiện tại đang rỗng)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rPr>
                  <a:t> </a:t>
                </a:r>
                <a14:m>
                  <m:oMath xmlns:m="http://schemas.openxmlformats.org/officeDocument/2006/math">
                    <m:sSub>
                      <m:sSubPr>
                        <m:ctrlPr>
                          <a:rPr lang="en-US" sz="16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𝛿</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𝐵</m:t>
                        </m:r>
                      </m:sub>
                    </m:s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=3.16</m:t>
                    </m:r>
                  </m:oMath>
                </a14:m>
                <a:r>
                  <a:rPr lang="vi-VN" sz="1600" kern="100" dirty="0">
                    <a:effectLst/>
                    <a:latin typeface="Times New Roman" panose="02020603050405020304" pitchFamily="18" charset="0"/>
                    <a:ea typeface="DengXian" panose="02010600030101010101" pitchFamily="2" charset="-122"/>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rPr>
                  <a:t> B </a:t>
                </a:r>
                <a:r>
                  <a:rPr lang="en-US" sz="1600" kern="100" dirty="0" err="1">
                    <a:effectLst/>
                    <a:latin typeface="Times New Roman" panose="02020603050405020304" pitchFamily="18" charset="0"/>
                    <a:ea typeface="DengXian" panose="02010600030101010101" pitchFamily="2" charset="-122"/>
                  </a:rPr>
                  <a:t>được</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đưa</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vào</a:t>
                </a:r>
                <a:r>
                  <a:rPr lang="en-US" sz="1600" kern="100" dirty="0">
                    <a:effectLst/>
                    <a:latin typeface="Times New Roman" panose="02020603050405020304" pitchFamily="18" charset="0"/>
                    <a:ea typeface="DengXian" panose="02010600030101010101" pitchFamily="2" charset="-122"/>
                  </a:rPr>
                  <a:t> ô (0,0)</a:t>
                </a:r>
                <a:r>
                  <a:rPr lang="vi-VN" sz="1600" kern="100" dirty="0">
                    <a:effectLst/>
                    <a:latin typeface="Times New Roman" panose="02020603050405020304" pitchFamily="18" charset="0"/>
                    <a:ea typeface="DengXian" panose="02010600030101010101" pitchFamily="2" charset="-122"/>
                  </a:rPr>
                  <a:t>.</a:t>
                </a:r>
                <a:endParaRPr lang="en-US" sz="1600" kern="100" dirty="0">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7" name="TextBox 5">
                <a:extLst>
                  <a:ext uri="{FF2B5EF4-FFF2-40B4-BE49-F238E27FC236}">
                    <a16:creationId xmlns:a16="http://schemas.microsoft.com/office/drawing/2014/main" id="{B0EEDD51-0057-FED4-D641-EEF05896835E}"/>
                  </a:ext>
                </a:extLst>
              </p:cNvPr>
              <p:cNvSpPr txBox="1">
                <a:spLocks noRot="1" noChangeAspect="1" noMove="1" noResize="1" noEditPoints="1" noAdjustHandles="1" noChangeArrowheads="1" noChangeShapeType="1" noTextEdit="1"/>
              </p:cNvSpPr>
              <p:nvPr/>
            </p:nvSpPr>
            <p:spPr>
              <a:xfrm>
                <a:off x="6263148" y="2097332"/>
                <a:ext cx="4848853" cy="4310411"/>
              </a:xfrm>
              <a:prstGeom prst="rect">
                <a:avLst/>
              </a:prstGeom>
              <a:blipFill>
                <a:blip r:embed="rId3"/>
                <a:stretch>
                  <a:fillRect l="-1005" t="-283" r="-628" b="-707"/>
                </a:stretch>
              </a:blipFill>
            </p:spPr>
            <p:txBody>
              <a:bodyPr/>
              <a:lstStyle/>
              <a:p>
                <a:r>
                  <a:rPr lang="en-US">
                    <a:noFill/>
                  </a:rPr>
                  <a:t> </a:t>
                </a:r>
              </a:p>
            </p:txBody>
          </p:sp>
        </mc:Fallback>
      </mc:AlternateContent>
    </p:spTree>
    <p:extLst>
      <p:ext uri="{BB962C8B-B14F-4D97-AF65-F5344CB8AC3E}">
        <p14:creationId xmlns:p14="http://schemas.microsoft.com/office/powerpoint/2010/main" val="32293803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87A8E-1CF2-5BFD-CC84-F3DFA3FEE2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F5AFCA-299C-6F0C-EB8F-B473C75A6BF1}"/>
              </a:ext>
            </a:extLst>
          </p:cNvPr>
          <p:cNvSpPr>
            <a:spLocks noGrp="1"/>
          </p:cNvSpPr>
          <p:nvPr>
            <p:ph type="sldNum" sz="quarter" idx="12"/>
          </p:nvPr>
        </p:nvSpPr>
        <p:spPr/>
        <p:txBody>
          <a:bodyPr/>
          <a:lstStyle/>
          <a:p>
            <a:fld id="{9B618960-8005-486C-9A75-10CB2AAC16F9}" type="slidenum">
              <a:rPr lang="en-US" smtClean="0"/>
              <a:t>56</a:t>
            </a:fld>
            <a:endParaRPr lang="en-US" dirty="0"/>
          </a:p>
        </p:txBody>
      </p:sp>
      <p:sp>
        <p:nvSpPr>
          <p:cNvPr id="5" name="TextBox 3">
            <a:extLst>
              <a:ext uri="{FF2B5EF4-FFF2-40B4-BE49-F238E27FC236}">
                <a16:creationId xmlns:a16="http://schemas.microsoft.com/office/drawing/2014/main" id="{252D479E-D01A-BC3A-D451-29224A2D8795}"/>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392DBEA4-AA2E-36D1-CB71-19F171C243D7}"/>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mc:Choice xmlns:a14="http://schemas.microsoft.com/office/drawing/2010/main" Requires="a14">
          <p:sp>
            <p:nvSpPr>
              <p:cNvPr id="3" name="TextBox 5">
                <a:extLst>
                  <a:ext uri="{FF2B5EF4-FFF2-40B4-BE49-F238E27FC236}">
                    <a16:creationId xmlns:a16="http://schemas.microsoft.com/office/drawing/2014/main" id="{6F4FE547-40D3-7F7B-7C5E-541F4173EC23}"/>
                  </a:ext>
                </a:extLst>
              </p:cNvPr>
              <p:cNvSpPr txBox="1"/>
              <p:nvPr/>
            </p:nvSpPr>
            <p:spPr>
              <a:xfrm>
                <a:off x="1079999" y="2097332"/>
                <a:ext cx="4848853" cy="4247830"/>
              </a:xfrm>
              <a:prstGeom prst="rect">
                <a:avLst/>
              </a:prstGeom>
              <a:noFill/>
            </p:spPr>
            <p:txBody>
              <a:bodyPr wrap="square" rtlCol="0">
                <a:spAutoFit/>
              </a:bodyPr>
              <a:lstStyle/>
              <a:p>
                <a:pPr>
                  <a:lnSpc>
                    <a:spcPct val="115000"/>
                  </a:lnSpc>
                  <a:spcAft>
                    <a:spcPts val="800"/>
                  </a:spcAft>
                  <a:buNone/>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tiếp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tục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tính </a:t>
                </a:r>
                <a14:m>
                  <m:oMath xmlns:m="http://schemas.openxmlformats.org/officeDocument/2006/math">
                    <m:sSub>
                      <m:sSub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𝛿</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𝐶</m:t>
                        </m:r>
                      </m:sub>
                    </m:sSub>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C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nằm</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trong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(1,0),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không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nào</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khác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ngoài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chính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nó</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mở</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rộng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bán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kính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C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truy</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cập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vào</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(0,0)</a:t>
                </a:r>
                <a:r>
                  <a:rPr lang="vi-VN" sz="1600" kern="100" dirty="0">
                    <a:effectLst/>
                    <a:latin typeface="Times New Roman" panose="02020603050405020304" pitchFamily="18" charset="0"/>
                    <a:ea typeface="DengXian" panose="02010600030101010101" pitchFamily="2" charset="-122"/>
                    <a:cs typeface="Times New Roman" panose="02020603050405020304" pitchFamily="18" charset="0"/>
                  </a:rPr>
                  <a:t> (có thể xem lại thứ tự duyệt ở mục 3.2.3.3, hiện tại chỉ có ô chứa A và B là có tồn tại điểm, nên C truy cập vào ô chứa 2 điểm này)</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𝐶</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𝐴</m:t>
                          </m:r>
                        </m:e>
                      </m: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≈6.08→</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=6.08</m:t>
                      </m:r>
                    </m:oMath>
                  </m:oMathPara>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𝐶</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𝐵</m:t>
                          </m:r>
                        </m:e>
                      </m: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≈5.38,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𝑣</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ì 5.38&lt;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=5.38</m:t>
                      </m:r>
                    </m:oMath>
                  </m:oMathPara>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Tương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tự</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tiếp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tục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xét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các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khác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tính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khoảng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cách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tới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Bounding Box.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sẽ</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tính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khoảng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cách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lần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lượt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tới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16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xung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quanh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𝑟</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m:t>
                    </m:r>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Vì</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các</a:t>
                </a:r>
                <a:r>
                  <a:rPr lang="en-US" sz="1600" kern="100" dirty="0">
                    <a:effectLst/>
                    <a:latin typeface="Times New Roman" panose="02020603050405020304" pitchFamily="18" charset="0"/>
                    <a:ea typeface="DengXian" panose="02010600030101010101" pitchFamily="2" charset="-122"/>
                  </a:rPr>
                  <a:t> ô </a:t>
                </a:r>
                <a:r>
                  <a:rPr lang="en-US" sz="1600" kern="100" dirty="0" err="1">
                    <a:effectLst/>
                    <a:latin typeface="Times New Roman" panose="02020603050405020304" pitchFamily="18" charset="0"/>
                    <a:ea typeface="DengXian" panose="02010600030101010101" pitchFamily="2" charset="-122"/>
                  </a:rPr>
                  <a:t>xung</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quanh</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đều</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rỗng</a:t>
                </a:r>
                <a:r>
                  <a:rPr lang="en-US" sz="1600" kern="100" dirty="0">
                    <a:effectLst/>
                    <a:latin typeface="Times New Roman" panose="02020603050405020304" pitchFamily="18" charset="0"/>
                    <a:ea typeface="DengXian" panose="02010600030101010101" pitchFamily="2" charset="-122"/>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rPr>
                  <a:t> </a:t>
                </a:r>
                <a14:m>
                  <m:oMath xmlns:m="http://schemas.openxmlformats.org/officeDocument/2006/math">
                    <m:sSub>
                      <m:sSubPr>
                        <m:ctrlPr>
                          <a:rPr lang="en-US" sz="16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𝛿</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𝐶</m:t>
                        </m:r>
                      </m:sub>
                    </m:s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=5.38</m:t>
                    </m:r>
                  </m:oMath>
                </a14:m>
                <a:r>
                  <a:rPr lang="vi-VN" sz="1600" kern="100" dirty="0">
                    <a:effectLst/>
                    <a:latin typeface="Times New Roman" panose="02020603050405020304" pitchFamily="18" charset="0"/>
                    <a:ea typeface="DengXian" panose="02010600030101010101" pitchFamily="2" charset="-122"/>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rPr>
                  <a:t> C </a:t>
                </a:r>
                <a:r>
                  <a:rPr lang="en-US" sz="1600" kern="100" dirty="0" err="1">
                    <a:effectLst/>
                    <a:latin typeface="Times New Roman" panose="02020603050405020304" pitchFamily="18" charset="0"/>
                    <a:ea typeface="DengXian" panose="02010600030101010101" pitchFamily="2" charset="-122"/>
                  </a:rPr>
                  <a:t>được</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đưa</a:t>
                </a:r>
                <a:r>
                  <a:rPr lang="en-US" sz="1600" kern="100" dirty="0">
                    <a:effectLst/>
                    <a:latin typeface="Times New Roman" panose="02020603050405020304" pitchFamily="18" charset="0"/>
                    <a:ea typeface="DengXian" panose="02010600030101010101" pitchFamily="2" charset="-122"/>
                  </a:rPr>
                  <a:t> </a:t>
                </a:r>
                <a:r>
                  <a:rPr lang="en-US" sz="1600" kern="100" dirty="0" err="1">
                    <a:effectLst/>
                    <a:latin typeface="Times New Roman" panose="02020603050405020304" pitchFamily="18" charset="0"/>
                    <a:ea typeface="DengXian" panose="02010600030101010101" pitchFamily="2" charset="-122"/>
                  </a:rPr>
                  <a:t>vào</a:t>
                </a:r>
                <a:r>
                  <a:rPr lang="en-US" sz="1600" kern="100" dirty="0">
                    <a:effectLst/>
                    <a:latin typeface="Times New Roman" panose="02020603050405020304" pitchFamily="18" charset="0"/>
                    <a:ea typeface="DengXian" panose="02010600030101010101" pitchFamily="2" charset="-122"/>
                  </a:rPr>
                  <a:t> ô (1,0)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3" name="TextBox 5">
                <a:extLst>
                  <a:ext uri="{FF2B5EF4-FFF2-40B4-BE49-F238E27FC236}">
                    <a16:creationId xmlns:a16="http://schemas.microsoft.com/office/drawing/2014/main" id="{6F4FE547-40D3-7F7B-7C5E-541F4173EC23}"/>
                  </a:ext>
                </a:extLst>
              </p:cNvPr>
              <p:cNvSpPr txBox="1">
                <a:spLocks noRot="1" noChangeAspect="1" noMove="1" noResize="1" noEditPoints="1" noAdjustHandles="1" noChangeArrowheads="1" noChangeShapeType="1" noTextEdit="1"/>
              </p:cNvSpPr>
              <p:nvPr/>
            </p:nvSpPr>
            <p:spPr>
              <a:xfrm>
                <a:off x="1079999" y="2097332"/>
                <a:ext cx="4848853" cy="4247830"/>
              </a:xfrm>
              <a:prstGeom prst="rect">
                <a:avLst/>
              </a:prstGeom>
              <a:blipFill>
                <a:blip r:embed="rId2"/>
                <a:stretch>
                  <a:fillRect l="-1005" t="-287" b="-7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5">
                <a:extLst>
                  <a:ext uri="{FF2B5EF4-FFF2-40B4-BE49-F238E27FC236}">
                    <a16:creationId xmlns:a16="http://schemas.microsoft.com/office/drawing/2014/main" id="{061DBE0C-61E7-4785-371F-A98516CDA973}"/>
                  </a:ext>
                </a:extLst>
              </p:cNvPr>
              <p:cNvSpPr txBox="1"/>
              <p:nvPr/>
            </p:nvSpPr>
            <p:spPr>
              <a:xfrm>
                <a:off x="6263148" y="2097332"/>
                <a:ext cx="4848853" cy="2856616"/>
              </a:xfrm>
              <a:prstGeom prst="rect">
                <a:avLst/>
              </a:prstGeom>
              <a:noFill/>
            </p:spPr>
            <p:txBody>
              <a:bodyPr wrap="square" rtlCol="0">
                <a:spAutoFit/>
              </a:bodyPr>
              <a:lstStyle/>
              <a:p>
                <a:pPr>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tiếp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tục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tính </a:t>
                </a:r>
                <a14:m>
                  <m:oMath xmlns:m="http://schemas.openxmlformats.org/officeDocument/2006/math">
                    <m:sSub>
                      <m:sSub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𝛿</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𝐷</m:t>
                        </m:r>
                      </m:sub>
                    </m:sSub>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D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nằm</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trong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(0,1),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không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có</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điểm</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nào</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khác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ngoài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chính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nó</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mở</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rộng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bán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kính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Theo</a:t>
                </a:r>
                <a:r>
                  <a:rPr lang="vi-VN" sz="1600" kern="100" dirty="0">
                    <a:effectLst/>
                    <a:latin typeface="Times New Roman" panose="02020603050405020304" pitchFamily="18" charset="0"/>
                    <a:ea typeface="DengXian" panose="02010600030101010101" pitchFamily="2" charset="-122"/>
                    <a:cs typeface="Times New Roman" panose="02020603050405020304" pitchFamily="18" charset="0"/>
                  </a:rPr>
                  <a:t> thứ tự duyệt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sẽ</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truy</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cập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chứa</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 B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trước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sau</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đó</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mới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đến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chứa</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C.</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truy</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cập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vào</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(0,0):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𝐷</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𝐴</m:t>
                          </m:r>
                        </m:e>
                      </m: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≈5.09→</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=5.09</m:t>
                      </m:r>
                    </m:oMath>
                  </m:oMathPara>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𝐷</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𝐵</m:t>
                          </m:r>
                        </m:e>
                      </m: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𝑣</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ì 2&lt;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m:t>
                      </m:r>
                    </m:oMath>
                  </m:oMathPara>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US" sz="1600" kern="100" dirty="0">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7" name="TextBox 5">
                <a:extLst>
                  <a:ext uri="{FF2B5EF4-FFF2-40B4-BE49-F238E27FC236}">
                    <a16:creationId xmlns:a16="http://schemas.microsoft.com/office/drawing/2014/main" id="{061DBE0C-61E7-4785-371F-A98516CDA973}"/>
                  </a:ext>
                </a:extLst>
              </p:cNvPr>
              <p:cNvSpPr txBox="1">
                <a:spLocks noRot="1" noChangeAspect="1" noMove="1" noResize="1" noEditPoints="1" noAdjustHandles="1" noChangeArrowheads="1" noChangeShapeType="1" noTextEdit="1"/>
              </p:cNvSpPr>
              <p:nvPr/>
            </p:nvSpPr>
            <p:spPr>
              <a:xfrm>
                <a:off x="6263148" y="2097332"/>
                <a:ext cx="4848853" cy="2856616"/>
              </a:xfrm>
              <a:prstGeom prst="rect">
                <a:avLst/>
              </a:prstGeom>
              <a:blipFill>
                <a:blip r:embed="rId3"/>
                <a:stretch>
                  <a:fillRect l="-628"/>
                </a:stretch>
              </a:blipFill>
            </p:spPr>
            <p:txBody>
              <a:bodyPr/>
              <a:lstStyle/>
              <a:p>
                <a:r>
                  <a:rPr lang="en-US">
                    <a:noFill/>
                  </a:rPr>
                  <a:t> </a:t>
                </a:r>
              </a:p>
            </p:txBody>
          </p:sp>
        </mc:Fallback>
      </mc:AlternateContent>
    </p:spTree>
    <p:extLst>
      <p:ext uri="{BB962C8B-B14F-4D97-AF65-F5344CB8AC3E}">
        <p14:creationId xmlns:p14="http://schemas.microsoft.com/office/powerpoint/2010/main" val="3671340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B46B0-020D-89EC-87FB-7E261318B41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53C775-61AA-2D4A-408D-9AC8F0139361}"/>
              </a:ext>
            </a:extLst>
          </p:cNvPr>
          <p:cNvSpPr>
            <a:spLocks noGrp="1"/>
          </p:cNvSpPr>
          <p:nvPr>
            <p:ph type="sldNum" sz="quarter" idx="12"/>
          </p:nvPr>
        </p:nvSpPr>
        <p:spPr/>
        <p:txBody>
          <a:bodyPr/>
          <a:lstStyle/>
          <a:p>
            <a:fld id="{9B618960-8005-486C-9A75-10CB2AAC16F9}" type="slidenum">
              <a:rPr lang="en-US" smtClean="0"/>
              <a:t>57</a:t>
            </a:fld>
            <a:endParaRPr lang="en-US" dirty="0"/>
          </a:p>
        </p:txBody>
      </p:sp>
      <p:sp>
        <p:nvSpPr>
          <p:cNvPr id="5" name="TextBox 3">
            <a:extLst>
              <a:ext uri="{FF2B5EF4-FFF2-40B4-BE49-F238E27FC236}">
                <a16:creationId xmlns:a16="http://schemas.microsoft.com/office/drawing/2014/main" id="{C9BB0090-E9FF-BD7B-CCB5-F380652A68C8}"/>
              </a:ext>
            </a:extLst>
          </p:cNvPr>
          <p:cNvSpPr txBox="1"/>
          <p:nvPr/>
        </p:nvSpPr>
        <p:spPr>
          <a:xfrm>
            <a:off x="3686932" y="1008000"/>
            <a:ext cx="4818136" cy="400110"/>
          </a:xfrm>
          <a:prstGeom prst="rect">
            <a:avLst/>
          </a:prstGeom>
          <a:noFill/>
        </p:spPr>
        <p:txBody>
          <a:bodyPr wrap="square" rtlCol="0">
            <a:spAutoFit/>
          </a:bodyPr>
          <a:lstStyle/>
          <a:p>
            <a:pPr algn="ctr"/>
            <a:r>
              <a:rPr lang="vi-VN" sz="2000" dirty="0">
                <a:latin typeface="+mj-lt"/>
              </a:rPr>
              <a:t>THUẬT TOÁN PGD-CSDPPO</a:t>
            </a:r>
            <a:endParaRPr lang="en-US" sz="2000" dirty="0">
              <a:latin typeface="+mj-lt"/>
            </a:endParaRPr>
          </a:p>
        </p:txBody>
      </p:sp>
      <p:sp>
        <p:nvSpPr>
          <p:cNvPr id="6" name="TextBox 4">
            <a:extLst>
              <a:ext uri="{FF2B5EF4-FFF2-40B4-BE49-F238E27FC236}">
                <a16:creationId xmlns:a16="http://schemas.microsoft.com/office/drawing/2014/main" id="{E6C8E48A-0BBE-6371-84E8-052EDF9DBCF1}"/>
              </a:ext>
            </a:extLst>
          </p:cNvPr>
          <p:cNvSpPr txBox="1"/>
          <p:nvPr/>
        </p:nvSpPr>
        <p:spPr>
          <a:xfrm>
            <a:off x="1079999" y="1728000"/>
            <a:ext cx="5016001" cy="369332"/>
          </a:xfrm>
          <a:prstGeom prst="rect">
            <a:avLst/>
          </a:prstGeom>
          <a:noFill/>
        </p:spPr>
        <p:txBody>
          <a:bodyPr wrap="square" rtlCol="0">
            <a:spAutoFit/>
          </a:bodyPr>
          <a:lstStyle/>
          <a:p>
            <a:r>
              <a:rPr lang="vi-VN">
                <a:latin typeface="+mj-lt"/>
              </a:rPr>
              <a:t>KỊCH BẢN VÍ DỤ MINH HỌA TOÀN DIỆN</a:t>
            </a:r>
            <a:endParaRPr lang="en-US" dirty="0">
              <a:latin typeface="+mj-lt"/>
            </a:endParaRPr>
          </a:p>
        </p:txBody>
      </p:sp>
      <mc:AlternateContent xmlns:mc="http://schemas.openxmlformats.org/markup-compatibility/2006">
        <mc:Choice xmlns:a14="http://schemas.microsoft.com/office/drawing/2010/main" Requires="a14">
          <p:sp>
            <p:nvSpPr>
              <p:cNvPr id="3" name="TextBox 5">
                <a:extLst>
                  <a:ext uri="{FF2B5EF4-FFF2-40B4-BE49-F238E27FC236}">
                    <a16:creationId xmlns:a16="http://schemas.microsoft.com/office/drawing/2014/main" id="{BFDAF929-0138-C264-A932-FCFB2F2A8319}"/>
                  </a:ext>
                </a:extLst>
              </p:cNvPr>
              <p:cNvSpPr txBox="1"/>
              <p:nvPr/>
            </p:nvSpPr>
            <p:spPr>
              <a:xfrm>
                <a:off x="1079999" y="2097332"/>
                <a:ext cx="4848853" cy="3835730"/>
              </a:xfrm>
              <a:prstGeom prst="rect">
                <a:avLst/>
              </a:prstGeom>
              <a:noFill/>
            </p:spPr>
            <p:txBody>
              <a:bodyPr wrap="square" rtlCol="0">
                <a:spAutoFit/>
              </a:bodyPr>
              <a:lstStyle/>
              <a:p>
                <a:pPr>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Vì</a:t>
                </a:r>
                <a:r>
                  <a:rPr lang="vi-VN" sz="1600" kern="100" dirty="0">
                    <a:effectLst/>
                    <a:latin typeface="Times New Roman" panose="02020603050405020304" pitchFamily="18" charset="0"/>
                    <a:ea typeface="DengXian" panose="02010600030101010101" pitchFamily="2" charset="-122"/>
                    <a:cs typeface="Times New Roman" panose="02020603050405020304" pitchFamily="18" charset="0"/>
                  </a:rPr>
                  <a:t> ngoài ô (0,0) chứa A và B, còn một khác là (1,0) chứa điểm C. Trước khi quyết định nên truy cập ô này hoặc loại bỏ, thuật toán sẽ xét </a:t>
                </a:r>
                <a14:m>
                  <m:oMath xmlns:m="http://schemas.openxmlformats.org/officeDocument/2006/math">
                    <m:sSub>
                      <m:sSub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𝑚𝑖𝑛</m:t>
                        </m:r>
                      </m:sub>
                    </m:sSub>
                  </m:oMath>
                </a14:m>
                <a:r>
                  <a:rPr lang="vi-VN" sz="1600" kern="100" dirty="0">
                    <a:effectLst/>
                    <a:latin typeface="Times New Roman" panose="02020603050405020304" pitchFamily="18" charset="0"/>
                    <a:ea typeface="DengXian" panose="02010600030101010101" pitchFamily="2" charset="-122"/>
                    <a:cs typeface="Times New Roman" panose="02020603050405020304" pitchFamily="18" charset="0"/>
                  </a:rPr>
                  <a:t> tới ô (1,0):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𝑚𝑖𝑛</m:t>
                          </m:r>
                        </m:sub>
                      </m:s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𝐷</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 ô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𝑙</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ướ</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𝑖</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𝑐h</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ứ</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𝑎</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𝐶</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(1,0))=</m:t>
                      </m:r>
                      <m:rad>
                        <m:radPr>
                          <m:degHide m:val="on"/>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radPr>
                        <m:deg/>
                        <m:e>
                          <m:sSup>
                            <m:sSup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5−2</m:t>
                                  </m:r>
                                </m:e>
                              </m:d>
                            </m:e>
                            <m:sup>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m:t>
                              </m:r>
                            </m:sup>
                          </m:sSup>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6−5</m:t>
                                  </m:r>
                                </m:e>
                              </m:d>
                            </m:e>
                            <m:sup>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m:t>
                              </m:r>
                            </m:sup>
                          </m:sSup>
                        </m:e>
                      </m:ra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ad>
                        <m:radPr>
                          <m:degHide m:val="on"/>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radPr>
                        <m:deg/>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10</m:t>
                          </m:r>
                        </m:e>
                      </m:ra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≈3.16</m:t>
                      </m:r>
                    </m:oMath>
                  </m:oMathPara>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vi-VN" sz="1600" kern="100" dirty="0">
                    <a:effectLst/>
                    <a:latin typeface="Times New Roman" panose="02020603050405020304" pitchFamily="18" charset="0"/>
                    <a:ea typeface="DengXian" panose="02010600030101010101" pitchFamily="2" charset="-122"/>
                    <a:cs typeface="Times New Roman" panose="02020603050405020304" pitchFamily="18" charset="0"/>
                  </a:rPr>
                  <a:t>Vì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m:t>
                    </m:r>
                    <m:sSub>
                      <m:sSub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𝑑</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𝑚𝑖𝑛</m:t>
                        </m:r>
                      </m:sub>
                    </m:sSub>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𝐷</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 ô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𝑙</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ướ</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𝑖</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𝑐h</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ứ</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𝑎</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 </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𝐶</m:t>
                        </m:r>
                        <m:d>
                          <m:d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d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1,0</m:t>
                            </m:r>
                          </m:e>
                        </m:d>
                      </m:e>
                    </m:d>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=3.16</m:t>
                    </m:r>
                  </m:oMath>
                </a14:m>
                <a:r>
                  <a:rPr lang="vi-VN"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oMath>
                </a14:m>
                <a:r>
                  <a:rPr lang="vi-VN" sz="1600" kern="100" dirty="0">
                    <a:effectLst/>
                    <a:latin typeface="Times New Roman" panose="02020603050405020304" pitchFamily="18" charset="0"/>
                    <a:ea typeface="DengXian" panose="02010600030101010101" pitchFamily="2" charset="-122"/>
                    <a:cs typeface="Times New Roman" panose="02020603050405020304" pitchFamily="18" charset="0"/>
                  </a:rPr>
                  <a:t> Ô (1,0) bị cắt tỉa mà không cần phải truy cập vào ô này.</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Thuật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toán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tiếp</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tục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mở</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rộng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bán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kính</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𝑟</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m:t>
                    </m:r>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vì</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các</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ô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đều</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rỗng</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giá</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trị</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14:m>
                  <m:oMath xmlns:m="http://schemas.openxmlformats.org/officeDocument/2006/math">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oMath>
                </a14:m>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là</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nghiệm</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tốt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nhất</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hiện</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sz="1600" kern="100" dirty="0" err="1">
                    <a:effectLst/>
                    <a:latin typeface="Times New Roman" panose="02020603050405020304" pitchFamily="18" charset="0"/>
                    <a:ea typeface="DengXian" panose="02010600030101010101" pitchFamily="2" charset="-122"/>
                    <a:cs typeface="Times New Roman" panose="02020603050405020304" pitchFamily="18" charset="0"/>
                  </a:rPr>
                  <a:t>tại</a:t>
                </a:r>
                <a:r>
                  <a:rPr 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n-US" sz="1600" i="1" kern="100">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𝛿</m:t>
                          </m:r>
                        </m:e>
                        <m: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𝐷</m:t>
                          </m:r>
                        </m:sub>
                      </m:sSub>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𝑏𝑒𝑠𝑡</m:t>
                      </m:r>
                      <m:r>
                        <a:rPr lang="en-US" sz="1600" i="1" kern="100">
                          <a:effectLst/>
                          <a:latin typeface="Cambria Math" panose="02040503050406030204" pitchFamily="18" charset="0"/>
                          <a:ea typeface="DengXian" panose="02010600030101010101" pitchFamily="2" charset="-122"/>
                          <a:cs typeface="Times New Roman" panose="02020603050405020304" pitchFamily="18" charset="0"/>
                        </a:rPr>
                        <m:t>=2</m:t>
                      </m:r>
                    </m:oMath>
                  </m:oMathPara>
                </a14:m>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latin typeface="Aptos" panose="020B0004020202020204" pitchFamily="34" charset="0"/>
                    <a:ea typeface="Aptos" panose="020B0004020202020204" pitchFamily="34" charset="0"/>
                    <a:cs typeface="Times New Roman" panose="02020603050405020304" pitchFamily="18" charset="0"/>
                  </a:rPr>
                  <a:t>- D</a:t>
                </a:r>
                <a:r>
                  <a:rPr lang="vi-VN" sz="1600" kern="100" dirty="0">
                    <a:latin typeface="Aptos" panose="020B0004020202020204" pitchFamily="34" charset="0"/>
                    <a:ea typeface="Aptos" panose="020B0004020202020204" pitchFamily="34" charset="0"/>
                    <a:cs typeface="Times New Roman" panose="02020603050405020304" pitchFamily="18" charset="0"/>
                  </a:rPr>
                  <a:t> được đưa vào ô lưới (0, 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p:sp>
            <p:nvSpPr>
              <p:cNvPr id="3" name="TextBox 5">
                <a:extLst>
                  <a:ext uri="{FF2B5EF4-FFF2-40B4-BE49-F238E27FC236}">
                    <a16:creationId xmlns:a16="http://schemas.microsoft.com/office/drawing/2014/main" id="{BFDAF929-0138-C264-A932-FCFB2F2A8319}"/>
                  </a:ext>
                </a:extLst>
              </p:cNvPr>
              <p:cNvSpPr txBox="1">
                <a:spLocks noRot="1" noChangeAspect="1" noMove="1" noResize="1" noEditPoints="1" noAdjustHandles="1" noChangeArrowheads="1" noChangeShapeType="1" noTextEdit="1"/>
              </p:cNvSpPr>
              <p:nvPr/>
            </p:nvSpPr>
            <p:spPr>
              <a:xfrm>
                <a:off x="1079999" y="2097332"/>
                <a:ext cx="4848853" cy="3835730"/>
              </a:xfrm>
              <a:prstGeom prst="rect">
                <a:avLst/>
              </a:prstGeom>
              <a:blipFill>
                <a:blip r:embed="rId2"/>
                <a:stretch>
                  <a:fillRect l="-628" b="-1113"/>
                </a:stretch>
              </a:blipFill>
            </p:spPr>
            <p:txBody>
              <a:bodyPr/>
              <a:lstStyle/>
              <a:p>
                <a:r>
                  <a:rPr lang="en-US">
                    <a:noFill/>
                  </a:rPr>
                  <a:t> </a:t>
                </a:r>
              </a:p>
            </p:txBody>
          </p:sp>
        </mc:Fallback>
      </mc:AlternateContent>
    </p:spTree>
    <p:extLst>
      <p:ext uri="{BB962C8B-B14F-4D97-AF65-F5344CB8AC3E}">
        <p14:creationId xmlns:p14="http://schemas.microsoft.com/office/powerpoint/2010/main" val="2369012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4623</TotalTime>
  <Words>7325</Words>
  <Application>Microsoft Office PowerPoint</Application>
  <PresentationFormat>Widescreen</PresentationFormat>
  <Paragraphs>899</Paragraphs>
  <Slides>57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Aptos</vt:lpstr>
      <vt:lpstr>Arial</vt:lpstr>
      <vt:lpstr>Calibri</vt:lpstr>
      <vt:lpstr>Calibri Light</vt:lpstr>
      <vt:lpstr>Cambria Math</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Ngu Quyen</dc:creator>
  <cp:lastModifiedBy>Trương Ngự Quyền</cp:lastModifiedBy>
  <cp:revision>28</cp:revision>
  <dcterms:created xsi:type="dcterms:W3CDTF">2025-07-23T00:59:00Z</dcterms:created>
  <dcterms:modified xsi:type="dcterms:W3CDTF">2026-06-18T01:03:09Z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D55AA0D41AAE4FB1B77142F92C9CD6A5_11</vt:lpwstr>
  </property>
  <property fmtid="{D5CDD505-2E9C-101B-9397-08002B2CF9AE}" pid="3" name="KSOProductBuildVer">
    <vt:lpwstr>1033-12.1.0.26372</vt:lpwstr>
  </property>
</Properties>
</file>