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Cambria Math" panose="02040503050406030204" pitchFamily="18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9" d="100"/>
          <a:sy n="99" d="100"/>
        </p:scale>
        <p:origin x="-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9F69-908F-B881-5A5E-A1CC07D55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23B2E-81FB-3EEA-55E2-BEBF313EF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CA52-A00F-E0E4-F2FB-9FB1BB6D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D9B2-A879-8AB1-1118-74ED5600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008FA-6E2A-BFB1-05CB-57DA5BEE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8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17A1-CEAD-069C-459F-6AFCF69C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C3EF-7101-BDD6-885A-9980EFA65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86080-B63C-EFA0-72FE-D91CD5B7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57397-0235-153E-223B-D437F88E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2893F-C117-C295-B105-832E194B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2786-C116-CE14-4F8D-EB6E4330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67202-AEB2-0971-4285-F539E946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FAEFA-BAC3-DBB1-6ACF-88368480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3314F-E542-7554-7AB5-3BF962C0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7E071-4DF3-3204-F603-0568E852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00D0-9B4F-9BAE-6A8F-12BB7CEA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40CC-4FED-068B-DA6F-45A64B535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1BBF5-823E-B97C-42A5-7DE56833B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68D9-7250-3A03-FFAF-3FC7B3A1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3DF3D-A9B8-2692-0968-8D582F55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5ED02-0633-8187-8B81-A79447E6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5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604E-5F43-731A-06EB-A4A6E10D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6C36C-6D0B-822D-8E4E-C0D78F88B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DF1EC-6089-4FDF-AFA3-0E12CAFF4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1E0FE-6969-78BF-8610-AC939C0D2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96917-3B7A-4C1E-2A70-7C5B35EDF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D397C-3271-3E6A-3312-E686A4EF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EF898-D21B-6EB9-3C90-D7144AFE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D40D9-E214-3DD6-355C-16E11BF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5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7E37-A718-CF1A-A3DE-1F50725B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23E4C-40B6-78CF-C817-B9058DAB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6A92C-2DED-A788-FD5C-BB37FC9A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042E2-F5B7-7680-E282-BFF2BD3C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2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6032C-5E83-8B53-EF3E-FF145F86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09F37-6DC0-BD53-87EA-B2061F00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0EE30-6C88-08B8-656F-11C729A6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4AB8-559A-11C8-2E09-20F9D663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CE31-8285-0FB0-69CD-762B4C247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5F094-15F3-292C-E05D-40863D93D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7A594-E08A-7853-9C89-95288924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4B365-72E4-933D-96F4-1AEC7C44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4C888-91AF-515E-85E7-3A70E5FE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F8BF-9813-A797-C782-42A17640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B01F2-B35A-E42C-B5F9-3F73A7B6D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6DBB3-9877-6AF5-1305-7CCE29685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12EFD-5260-D34B-F42B-BBCEEF8B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B4621-3A7E-5451-CD7B-A74CBB0D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87613-9732-612C-488B-696F4EAC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1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3416-7917-A702-C8B8-1C533394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5CA28-D02C-11F4-AD61-486C74FE0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EDE18-1B7F-A37D-9521-595B78DA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F8CD3-71D3-E588-D4F1-28572D56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2E14C-691C-0EE5-B7DD-0F2C2A2A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7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1B1BD-224E-09FC-873B-FA857257C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93D25-9601-A276-EB49-768145130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543A3-6491-3E6B-EDCB-EA4618F3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D57CB-B7D3-1618-8B28-F5BBDFB4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F81AE-B952-FCB2-5575-12FA5F2F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6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5CFE4-6790-2109-59AC-32984D02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C5258-A491-52A0-5306-26BF1B2A8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893C5-32AE-70CA-A0EE-8F5E04840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D2098-EBA6-4B35-96D8-A7E378F1A9D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ED004-ABC7-5DE6-A1F5-6BD0B8BA6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0D83-E66B-30EB-84A5-2A0DE2976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7BA8A-824D-4E2A-893D-6BC4370F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3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025DEAB-7E56-5B87-4F2F-FC3AE1BAE474}"/>
              </a:ext>
            </a:extLst>
          </p:cNvPr>
          <p:cNvGrpSpPr/>
          <p:nvPr/>
        </p:nvGrpSpPr>
        <p:grpSpPr>
          <a:xfrm>
            <a:off x="3899729" y="206082"/>
            <a:ext cx="5114138" cy="6445835"/>
            <a:chOff x="3707428" y="359499"/>
            <a:chExt cx="5114138" cy="6445835"/>
          </a:xfrm>
        </p:grpSpPr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CA970F7F-5AB4-1F75-EA89-B85FAF17A0E8}"/>
                </a:ext>
              </a:extLst>
            </p:cNvPr>
            <p:cNvSpPr/>
            <p:nvPr/>
          </p:nvSpPr>
          <p:spPr>
            <a:xfrm>
              <a:off x="4376262" y="432179"/>
              <a:ext cx="395271" cy="126009"/>
            </a:xfrm>
            <a:prstGeom prst="flowChartTerminator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Start</a:t>
              </a:r>
              <a:endParaRPr lang="en-US" sz="5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7F2C053D-E2D9-886B-2AD6-B55DD03E580C}"/>
                    </a:ext>
                  </a:extLst>
                </p:cNvPr>
                <p:cNvSpPr/>
                <p:nvPr/>
              </p:nvSpPr>
              <p:spPr>
                <a:xfrm>
                  <a:off x="5044608" y="359499"/>
                  <a:ext cx="847651" cy="271369"/>
                </a:xfrm>
                <a:prstGeom prst="round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Initialize the order array sorted by density </a:t>
                  </a:r>
                  <a14:m>
                    <m:oMath xmlns:m="http://schemas.openxmlformats.org/officeDocument/2006/math">
                      <m:r>
                        <a:rPr lang="vi-VN" sz="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in descending order </a:t>
                  </a:r>
                  <a:endParaRPr lang="en-US" sz="5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7F2C053D-E2D9-886B-2AD6-B55DD03E58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4608" y="359499"/>
                  <a:ext cx="847651" cy="271369"/>
                </a:xfrm>
                <a:prstGeom prst="roundRect">
                  <a:avLst/>
                </a:prstGeom>
                <a:blipFill>
                  <a:blip r:embed="rId2"/>
                  <a:stretch>
                    <a:fillRect b="-4444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764FD744-CA53-FE9A-A089-31AD69649F77}"/>
                    </a:ext>
                  </a:extLst>
                </p:cNvPr>
                <p:cNvSpPr/>
                <p:nvPr/>
              </p:nvSpPr>
              <p:spPr>
                <a:xfrm>
                  <a:off x="5044608" y="720546"/>
                  <a:ext cx="847650" cy="271369"/>
                </a:xfrm>
                <a:prstGeom prst="round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Compute </a:t>
                  </a:r>
                  <a14:m>
                    <m:oMath xmlns:m="http://schemas.openxmlformats.org/officeDocument/2006/math">
                      <m:r>
                        <a:rPr lang="vi-VN" sz="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for the highest density point: order[0]</a:t>
                  </a:r>
                </a:p>
              </p:txBody>
            </p:sp>
          </mc:Choice>
          <mc:Fallback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764FD744-CA53-FE9A-A089-31AD69649F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4608" y="720546"/>
                  <a:ext cx="847650" cy="271369"/>
                </a:xfrm>
                <a:prstGeom prst="roundRect">
                  <a:avLst/>
                </a:prstGeom>
                <a:blipFill>
                  <a:blip r:embed="rId3"/>
                  <a:stretch>
                    <a:fillRect b="-2174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87E13C9-0305-090C-2111-25880CFD0C11}"/>
                </a:ext>
              </a:extLst>
            </p:cNvPr>
            <p:cNvSpPr/>
            <p:nvPr/>
          </p:nvSpPr>
          <p:spPr>
            <a:xfrm>
              <a:off x="5044608" y="1081593"/>
              <a:ext cx="847650" cy="135561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For i = 1 to n - 1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09180AB-5EB2-8494-E3E0-AB492D381F1B}"/>
                </a:ext>
              </a:extLst>
            </p:cNvPr>
            <p:cNvSpPr/>
            <p:nvPr/>
          </p:nvSpPr>
          <p:spPr>
            <a:xfrm>
              <a:off x="5044348" y="1297864"/>
              <a:ext cx="847650" cy="134719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Let current = order[i]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317E36F-1610-3635-40B7-0A1F0B2A1A87}"/>
                </a:ext>
              </a:extLst>
            </p:cNvPr>
            <p:cNvSpPr/>
            <p:nvPr/>
          </p:nvSpPr>
          <p:spPr>
            <a:xfrm>
              <a:off x="5044608" y="1520912"/>
              <a:ext cx="847650" cy="271369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Determine the grid cell containing current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6A0BF8D-68C9-6A82-B82B-62014DACC12B}"/>
                </a:ext>
              </a:extLst>
            </p:cNvPr>
            <p:cNvSpPr/>
            <p:nvPr/>
          </p:nvSpPr>
          <p:spPr>
            <a:xfrm>
              <a:off x="5038218" y="1866909"/>
              <a:ext cx="860435" cy="271369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For r = 0, 1, 2, ...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(expand grid radius)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28AAE5C-85A5-E7B7-6688-BC2DF0D351DE}"/>
                </a:ext>
              </a:extLst>
            </p:cNvPr>
            <p:cNvSpPr/>
            <p:nvPr/>
          </p:nvSpPr>
          <p:spPr>
            <a:xfrm>
              <a:off x="5030997" y="2227956"/>
              <a:ext cx="874351" cy="271369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Visit grid cells on the border of radius r only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96258FF-F06D-5893-1101-A5883A6A1590}"/>
                    </a:ext>
                  </a:extLst>
                </p:cNvPr>
                <p:cNvSpPr/>
                <p:nvPr/>
              </p:nvSpPr>
              <p:spPr>
                <a:xfrm>
                  <a:off x="5030997" y="2581378"/>
                  <a:ext cx="874351" cy="302543"/>
                </a:xfrm>
                <a:prstGeom prst="round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Compute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vi-VN" sz="50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vi-VN" sz="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vi-VN" sz="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from current to the grid cell</a:t>
                  </a:r>
                </a:p>
              </p:txBody>
            </p:sp>
          </mc:Choice>
          <mc:Fallback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96258FF-F06D-5893-1101-A5883A6A15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997" y="2581378"/>
                  <a:ext cx="874351" cy="302543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lowchart: Decision 13">
                  <a:extLst>
                    <a:ext uri="{FF2B5EF4-FFF2-40B4-BE49-F238E27FC236}">
                      <a16:creationId xmlns:a16="http://schemas.microsoft.com/office/drawing/2014/main" id="{3DC3DE88-58EF-E55F-65A3-42C7C717D405}"/>
                    </a:ext>
                  </a:extLst>
                </p:cNvPr>
                <p:cNvSpPr/>
                <p:nvPr/>
              </p:nvSpPr>
              <p:spPr>
                <a:xfrm>
                  <a:off x="4573898" y="2979463"/>
                  <a:ext cx="1789073" cy="556462"/>
                </a:xfrm>
                <a:prstGeom prst="flowChartDecision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vi-VN" sz="5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j-lt"/>
                            </a:rPr>
                          </m:ctrlPr>
                        </m:sSubPr>
                        <m:e>
                          <m:r>
                            <a:rPr kumimoji="0" lang="vi-VN" sz="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0" lang="vi-VN" sz="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𝑏𝑒𝑠𝑡</m:t>
                      </m:r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vi-VN" sz="500" i="1" dirty="0">
                    <a:solidFill>
                      <a:schemeClr val="tx1"/>
                    </a:solidFill>
                    <a:latin typeface="+mj-lt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𝑐𝑢𝑟𝑟𝑒𝑛𝑡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)?</a:t>
                  </a:r>
                  <a:endParaRPr lang="en-US" sz="5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14" name="Flowchart: Decision 13">
                  <a:extLst>
                    <a:ext uri="{FF2B5EF4-FFF2-40B4-BE49-F238E27FC236}">
                      <a16:creationId xmlns:a16="http://schemas.microsoft.com/office/drawing/2014/main" id="{3DC3DE88-58EF-E55F-65A3-42C7C717D4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898" y="2979463"/>
                  <a:ext cx="1789073" cy="556462"/>
                </a:xfrm>
                <a:prstGeom prst="flowChartDecision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lowchart: Decision 14">
                  <a:extLst>
                    <a:ext uri="{FF2B5EF4-FFF2-40B4-BE49-F238E27FC236}">
                      <a16:creationId xmlns:a16="http://schemas.microsoft.com/office/drawing/2014/main" id="{BF3B9DB3-BE69-DAFF-0DB7-7FEE926E6340}"/>
                    </a:ext>
                  </a:extLst>
                </p:cNvPr>
                <p:cNvSpPr/>
                <p:nvPr/>
              </p:nvSpPr>
              <p:spPr>
                <a:xfrm>
                  <a:off x="5991230" y="3936983"/>
                  <a:ext cx="1665620" cy="503584"/>
                </a:xfrm>
                <a:prstGeom prst="flowChartDecision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0" lang="vi-VN" sz="5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𝐷𝑖𝑠𝑡𝑎𝑛𝑐𝑒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d &lt; </a:t>
                  </a:r>
                  <a14:m>
                    <m:oMath xmlns:m="http://schemas.openxmlformats.org/officeDocument/2006/math">
                      <m:r>
                        <a:rPr lang="vi-VN" sz="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𝑏𝑒𝑠𝑡</m:t>
                      </m:r>
                    </m:oMath>
                  </a14:m>
                  <a:endParaRPr lang="vi-VN" sz="500" dirty="0">
                    <a:solidFill>
                      <a:schemeClr val="tx1"/>
                    </a:solidFill>
                    <a:latin typeface="+mj-lt"/>
                  </a:endParaRPr>
                </a:p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(current)?</a:t>
                  </a:r>
                  <a:endParaRPr lang="en-US" sz="5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15" name="Flowchart: Decision 14">
                  <a:extLst>
                    <a:ext uri="{FF2B5EF4-FFF2-40B4-BE49-F238E27FC236}">
                      <a16:creationId xmlns:a16="http://schemas.microsoft.com/office/drawing/2014/main" id="{BF3B9DB3-BE69-DAFF-0DB7-7FEE926E6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230" y="3936983"/>
                  <a:ext cx="1665620" cy="503584"/>
                </a:xfrm>
                <a:prstGeom prst="flowChartDecision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lowchart: Decision 15">
                  <a:extLst>
                    <a:ext uri="{FF2B5EF4-FFF2-40B4-BE49-F238E27FC236}">
                      <a16:creationId xmlns:a16="http://schemas.microsoft.com/office/drawing/2014/main" id="{E4B85859-8DDF-B7E3-A2D1-77DCAD9AA890}"/>
                    </a:ext>
                  </a:extLst>
                </p:cNvPr>
                <p:cNvSpPr/>
                <p:nvPr/>
              </p:nvSpPr>
              <p:spPr>
                <a:xfrm>
                  <a:off x="5991229" y="4942911"/>
                  <a:ext cx="1747915" cy="556462"/>
                </a:xfrm>
                <a:prstGeom prst="flowChartDecision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Stopping condition:</a:t>
                  </a:r>
                </a:p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Is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vi-VN" sz="500" i="1">
                              <a:solidFill>
                                <a:prstClr val="black"/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vi-VN" sz="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vi-VN" sz="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of all cells in the next ring </a:t>
                  </a:r>
                  <a14:m>
                    <m:oMath xmlns:m="http://schemas.openxmlformats.org/officeDocument/2006/math">
                      <m:r>
                        <a:rPr lang="vi-VN" sz="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vi-VN" sz="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𝑏𝑒𝑠𝑡</m:t>
                      </m:r>
                    </m:oMath>
                  </a14:m>
                  <a:endParaRPr lang="vi-VN" sz="500" dirty="0">
                    <a:solidFill>
                      <a:schemeClr val="tx1"/>
                    </a:solidFill>
                    <a:latin typeface="+mj-lt"/>
                  </a:endParaRPr>
                </a:p>
                <a:p>
                  <a:pPr algn="ctr"/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(current)?</a:t>
                  </a:r>
                </a:p>
              </p:txBody>
            </p:sp>
          </mc:Choice>
          <mc:Fallback>
            <p:sp>
              <p:nvSpPr>
                <p:cNvPr id="16" name="Flowchart: Decision 15">
                  <a:extLst>
                    <a:ext uri="{FF2B5EF4-FFF2-40B4-BE49-F238E27FC236}">
                      <a16:creationId xmlns:a16="http://schemas.microsoft.com/office/drawing/2014/main" id="{E4B85859-8DDF-B7E3-A2D1-77DCAD9AA8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229" y="4942911"/>
                  <a:ext cx="1747915" cy="556462"/>
                </a:xfrm>
                <a:prstGeom prst="flowChartDecision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113762-CA04-0B1D-1A09-C1BA1668BB1E}"/>
                </a:ext>
              </a:extLst>
            </p:cNvPr>
            <p:cNvSpPr/>
            <p:nvPr/>
          </p:nvSpPr>
          <p:spPr>
            <a:xfrm>
              <a:off x="3707428" y="3629740"/>
              <a:ext cx="619245" cy="247436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Prune the cell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(Prune cell)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6B7CDF5-8F9D-250A-02B5-AB93761BE7D4}"/>
                </a:ext>
              </a:extLst>
            </p:cNvPr>
            <p:cNvSpPr/>
            <p:nvPr/>
          </p:nvSpPr>
          <p:spPr>
            <a:xfrm>
              <a:off x="6477911" y="3540759"/>
              <a:ext cx="692258" cy="276610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Visit points in 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the grid cell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A443140-1EF3-8CBE-4920-FA4478AADCB7}"/>
                </a:ext>
              </a:extLst>
            </p:cNvPr>
            <p:cNvSpPr/>
            <p:nvPr/>
          </p:nvSpPr>
          <p:spPr>
            <a:xfrm>
              <a:off x="5204262" y="4420801"/>
              <a:ext cx="716748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Update best = d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Update best_parent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F84A352-869C-E03F-876E-379B98B8973E}"/>
                </a:ext>
              </a:extLst>
            </p:cNvPr>
            <p:cNvSpPr/>
            <p:nvPr/>
          </p:nvSpPr>
          <p:spPr>
            <a:xfrm>
              <a:off x="7843915" y="4420800"/>
              <a:ext cx="648172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Keep as is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(no update)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54BE244-65D1-103C-C45D-FF6E06DCD343}"/>
                </a:ext>
              </a:extLst>
            </p:cNvPr>
            <p:cNvSpPr/>
            <p:nvPr/>
          </p:nvSpPr>
          <p:spPr>
            <a:xfrm>
              <a:off x="4940125" y="5496298"/>
              <a:ext cx="716748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Stop expand r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(exit r-loop)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A8734B3-8B86-4A76-02D6-1F007813E6FD}"/>
                </a:ext>
              </a:extLst>
            </p:cNvPr>
            <p:cNvSpPr/>
            <p:nvPr/>
          </p:nvSpPr>
          <p:spPr>
            <a:xfrm>
              <a:off x="8104818" y="5496297"/>
              <a:ext cx="716748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Increase r by 1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(r = r + 1)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41FD003-A1E8-90DD-483A-0718C3CC4CC7}"/>
                </a:ext>
              </a:extLst>
            </p:cNvPr>
            <p:cNvSpPr/>
            <p:nvPr/>
          </p:nvSpPr>
          <p:spPr>
            <a:xfrm>
              <a:off x="4871097" y="5866085"/>
              <a:ext cx="854805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Add current to its corresponding grid cell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2D9AC2D-1582-D8CC-FD23-5F4E2A7D034E}"/>
                </a:ext>
              </a:extLst>
            </p:cNvPr>
            <p:cNvSpPr/>
            <p:nvPr/>
          </p:nvSpPr>
          <p:spPr>
            <a:xfrm>
              <a:off x="4871099" y="6235871"/>
              <a:ext cx="854805" cy="258995"/>
            </a:xfrm>
            <a:prstGeom prst="round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Move to next element</a:t>
              </a:r>
            </a:p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i = i + 1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4AB5CF4-B46D-A402-3C45-CC3810C218AB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4771533" y="495184"/>
              <a:ext cx="273075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BD47716-FCF4-4091-FA21-6C6BF86BFFF2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5468433" y="630868"/>
              <a:ext cx="1" cy="896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6B8488F-2F59-68B0-B721-8E1443F368A6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5468433" y="991915"/>
              <a:ext cx="0" cy="896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F1EA7E3-7958-5453-B207-53700630A257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5468173" y="1217154"/>
              <a:ext cx="260" cy="807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2A2AA78-9183-415F-3818-C04DF73A4F3B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5468173" y="1432583"/>
              <a:ext cx="260" cy="8832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F01A1A2-281A-457B-BE87-578FC7C774E4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5468433" y="1792281"/>
              <a:ext cx="3" cy="7462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34014E6-F465-733A-5478-73841B50067D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5468173" y="2138278"/>
              <a:ext cx="263" cy="896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D9203CD-95F3-4E0D-2004-DAB039EA1FDB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5468173" y="2499325"/>
              <a:ext cx="0" cy="8205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8A28B0A-A467-F95C-F639-BDD7DBBD00D8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5468173" y="2883921"/>
              <a:ext cx="262" cy="95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68C1B26A-D1B4-E76E-A699-FEDE93A0FB55}"/>
                </a:ext>
              </a:extLst>
            </p:cNvPr>
            <p:cNvCxnSpPr>
              <a:stCxn id="14" idx="1"/>
              <a:endCxn id="17" idx="0"/>
            </p:cNvCxnSpPr>
            <p:nvPr/>
          </p:nvCxnSpPr>
          <p:spPr>
            <a:xfrm rot="10800000" flipV="1">
              <a:off x="4017052" y="3257694"/>
              <a:ext cx="556847" cy="372046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6E70437-C826-EF8A-7C0B-11DDA0DA1767}"/>
                </a:ext>
              </a:extLst>
            </p:cNvPr>
            <p:cNvSpPr txBox="1"/>
            <p:nvPr/>
          </p:nvSpPr>
          <p:spPr>
            <a:xfrm>
              <a:off x="4126143" y="3104434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Yes</a:t>
              </a:r>
              <a:endParaRPr lang="en-US" sz="500" dirty="0">
                <a:latin typeface="+mj-lt"/>
              </a:endParaRPr>
            </a:p>
          </p:txBody>
        </p: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6F36CB13-7534-47DB-BB31-F9D525DA35D0}"/>
                </a:ext>
              </a:extLst>
            </p:cNvPr>
            <p:cNvCxnSpPr>
              <a:cxnSpLocks/>
              <a:stCxn id="14" idx="3"/>
              <a:endCxn id="18" idx="0"/>
            </p:cNvCxnSpPr>
            <p:nvPr/>
          </p:nvCxnSpPr>
          <p:spPr>
            <a:xfrm>
              <a:off x="6362971" y="3257694"/>
              <a:ext cx="461069" cy="283065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4B48BC0-7466-2EEB-3A61-9C75171F07AE}"/>
                </a:ext>
              </a:extLst>
            </p:cNvPr>
            <p:cNvSpPr txBox="1"/>
            <p:nvPr/>
          </p:nvSpPr>
          <p:spPr>
            <a:xfrm>
              <a:off x="6427097" y="3108431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No</a:t>
              </a:r>
              <a:endParaRPr lang="en-US" sz="500" dirty="0">
                <a:latin typeface="+mj-lt"/>
              </a:endParaRP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ED02494-4CAB-FEE0-4EB0-96C38A1865B6}"/>
                </a:ext>
              </a:extLst>
            </p:cNvPr>
            <p:cNvCxnSpPr>
              <a:cxnSpLocks/>
              <a:stCxn id="18" idx="2"/>
              <a:endCxn id="15" idx="0"/>
            </p:cNvCxnSpPr>
            <p:nvPr/>
          </p:nvCxnSpPr>
          <p:spPr>
            <a:xfrm>
              <a:off x="6824040" y="3817369"/>
              <a:ext cx="0" cy="11961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912FCCD6-6A4D-FF6B-705A-A9D55E44554A}"/>
                </a:ext>
              </a:extLst>
            </p:cNvPr>
            <p:cNvCxnSpPr>
              <a:cxnSpLocks/>
              <a:stCxn id="15" idx="1"/>
              <a:endCxn id="19" idx="0"/>
            </p:cNvCxnSpPr>
            <p:nvPr/>
          </p:nvCxnSpPr>
          <p:spPr>
            <a:xfrm rot="10800000" flipV="1">
              <a:off x="5562636" y="4188775"/>
              <a:ext cx="428594" cy="232026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B6CFF88-B225-18E3-E131-3519FB0008C9}"/>
                </a:ext>
              </a:extLst>
            </p:cNvPr>
            <p:cNvSpPr txBox="1"/>
            <p:nvPr/>
          </p:nvSpPr>
          <p:spPr>
            <a:xfrm>
              <a:off x="5614705" y="4038267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Yes</a:t>
              </a:r>
              <a:endParaRPr lang="en-US" sz="500" dirty="0">
                <a:latin typeface="+mj-lt"/>
              </a:endParaRPr>
            </a:p>
          </p:txBody>
        </p: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2E5C7C45-B8A0-0136-7146-BCD0AF4103F6}"/>
                </a:ext>
              </a:extLst>
            </p:cNvPr>
            <p:cNvCxnSpPr>
              <a:cxnSpLocks/>
              <a:stCxn id="15" idx="3"/>
              <a:endCxn id="20" idx="0"/>
            </p:cNvCxnSpPr>
            <p:nvPr/>
          </p:nvCxnSpPr>
          <p:spPr>
            <a:xfrm>
              <a:off x="7656850" y="4188775"/>
              <a:ext cx="511151" cy="232025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3A50297-03D9-88A3-2FC3-CA27D06B504B}"/>
                </a:ext>
              </a:extLst>
            </p:cNvPr>
            <p:cNvSpPr txBox="1"/>
            <p:nvPr/>
          </p:nvSpPr>
          <p:spPr>
            <a:xfrm>
              <a:off x="7748883" y="4038268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No</a:t>
              </a:r>
              <a:endParaRPr lang="en-US" sz="500" dirty="0">
                <a:latin typeface="+mj-lt"/>
              </a:endParaRPr>
            </a:p>
          </p:txBody>
        </p: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ABE768DC-E38B-2379-65A6-5FAF6F8BCBED}"/>
                </a:ext>
              </a:extLst>
            </p:cNvPr>
            <p:cNvCxnSpPr>
              <a:cxnSpLocks/>
              <a:stCxn id="19" idx="2"/>
              <a:endCxn id="16" idx="0"/>
            </p:cNvCxnSpPr>
            <p:nvPr/>
          </p:nvCxnSpPr>
          <p:spPr>
            <a:xfrm rot="16200000" flipH="1">
              <a:off x="6082354" y="4160077"/>
              <a:ext cx="263115" cy="1302551"/>
            </a:xfrm>
            <a:prstGeom prst="bentConnector3">
              <a:avLst>
                <a:gd name="adj1" fmla="val 30835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A32F1BB2-4E73-C381-E185-F58CBE7CC61A}"/>
                </a:ext>
              </a:extLst>
            </p:cNvPr>
            <p:cNvCxnSpPr>
              <a:cxnSpLocks/>
              <a:stCxn id="20" idx="2"/>
              <a:endCxn id="16" idx="0"/>
            </p:cNvCxnSpPr>
            <p:nvPr/>
          </p:nvCxnSpPr>
          <p:spPr>
            <a:xfrm rot="5400000">
              <a:off x="7385036" y="4159946"/>
              <a:ext cx="263116" cy="1302814"/>
            </a:xfrm>
            <a:prstGeom prst="bentConnector3">
              <a:avLst>
                <a:gd name="adj1" fmla="val 30834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: Elbow 107">
              <a:extLst>
                <a:ext uri="{FF2B5EF4-FFF2-40B4-BE49-F238E27FC236}">
                  <a16:creationId xmlns:a16="http://schemas.microsoft.com/office/drawing/2014/main" id="{4A8C181F-AE2B-D25F-F053-EC6005168F1E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rot="16200000" flipH="1">
              <a:off x="4908252" y="2985975"/>
              <a:ext cx="1065735" cy="2848136"/>
            </a:xfrm>
            <a:prstGeom prst="bentConnector3">
              <a:avLst>
                <a:gd name="adj1" fmla="val 89563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A80DE25F-8593-1F70-D534-A8CEA4D0F1E0}"/>
                </a:ext>
              </a:extLst>
            </p:cNvPr>
            <p:cNvCxnSpPr>
              <a:cxnSpLocks/>
              <a:stCxn id="16" idx="1"/>
              <a:endCxn id="22" idx="0"/>
            </p:cNvCxnSpPr>
            <p:nvPr/>
          </p:nvCxnSpPr>
          <p:spPr>
            <a:xfrm rot="10800000" flipV="1">
              <a:off x="5298499" y="5221142"/>
              <a:ext cx="692730" cy="275156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D1238E4C-1BEE-0D73-6C33-CFC31C1A2C71}"/>
                </a:ext>
              </a:extLst>
            </p:cNvPr>
            <p:cNvCxnSpPr>
              <a:cxnSpLocks/>
              <a:stCxn id="16" idx="3"/>
              <a:endCxn id="23" idx="0"/>
            </p:cNvCxnSpPr>
            <p:nvPr/>
          </p:nvCxnSpPr>
          <p:spPr>
            <a:xfrm>
              <a:off x="7739144" y="5221142"/>
              <a:ext cx="724048" cy="275155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A3BAD3DF-A341-14EE-AD4E-EDED444B31B8}"/>
                </a:ext>
              </a:extLst>
            </p:cNvPr>
            <p:cNvCxnSpPr>
              <a:cxnSpLocks/>
              <a:stCxn id="23" idx="3"/>
              <a:endCxn id="11" idx="3"/>
            </p:cNvCxnSpPr>
            <p:nvPr/>
          </p:nvCxnSpPr>
          <p:spPr>
            <a:xfrm flipH="1" flipV="1">
              <a:off x="5905348" y="2363641"/>
              <a:ext cx="2916218" cy="3262154"/>
            </a:xfrm>
            <a:prstGeom prst="bentConnector3">
              <a:avLst>
                <a:gd name="adj1" fmla="val -7839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409C7234-5DDD-A80C-346C-E9DE777C15E6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5298499" y="5755293"/>
              <a:ext cx="1" cy="11079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76C2863-0882-9381-D6F0-06768B5F7954}"/>
                </a:ext>
              </a:extLst>
            </p:cNvPr>
            <p:cNvCxnSpPr>
              <a:cxnSpLocks/>
              <a:stCxn id="24" idx="2"/>
              <a:endCxn id="25" idx="0"/>
            </p:cNvCxnSpPr>
            <p:nvPr/>
          </p:nvCxnSpPr>
          <p:spPr>
            <a:xfrm>
              <a:off x="5298500" y="6125080"/>
              <a:ext cx="2" cy="1107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: Elbow 135">
              <a:extLst>
                <a:ext uri="{FF2B5EF4-FFF2-40B4-BE49-F238E27FC236}">
                  <a16:creationId xmlns:a16="http://schemas.microsoft.com/office/drawing/2014/main" id="{D5737502-799D-CAE7-63BC-7A2C0A6FFED0}"/>
                </a:ext>
              </a:extLst>
            </p:cNvPr>
            <p:cNvCxnSpPr>
              <a:cxnSpLocks/>
              <a:stCxn id="182" idx="2"/>
              <a:endCxn id="7" idx="1"/>
            </p:cNvCxnSpPr>
            <p:nvPr/>
          </p:nvCxnSpPr>
          <p:spPr>
            <a:xfrm rot="5400000" flipH="1">
              <a:off x="3229043" y="2964939"/>
              <a:ext cx="5451707" cy="1820578"/>
            </a:xfrm>
            <a:prstGeom prst="bentConnector4">
              <a:avLst>
                <a:gd name="adj1" fmla="val -4193"/>
                <a:gd name="adj2" fmla="val 177515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B959681-65C6-D63B-D743-E0ADF74B581A}"/>
                </a:ext>
              </a:extLst>
            </p:cNvPr>
            <p:cNvSpPr txBox="1"/>
            <p:nvPr/>
          </p:nvSpPr>
          <p:spPr>
            <a:xfrm>
              <a:off x="5468172" y="5068026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Yes</a:t>
              </a:r>
              <a:endParaRPr lang="en-US" sz="500" dirty="0">
                <a:latin typeface="+mj-lt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030562D-9B96-F7ED-AC9A-B12E37651653}"/>
                </a:ext>
              </a:extLst>
            </p:cNvPr>
            <p:cNvSpPr txBox="1"/>
            <p:nvPr/>
          </p:nvSpPr>
          <p:spPr>
            <a:xfrm>
              <a:off x="7934760" y="5077105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No</a:t>
              </a:r>
              <a:endParaRPr lang="en-US" sz="500" dirty="0">
                <a:latin typeface="+mj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Flowchart: Decision 181">
                  <a:extLst>
                    <a:ext uri="{FF2B5EF4-FFF2-40B4-BE49-F238E27FC236}">
                      <a16:creationId xmlns:a16="http://schemas.microsoft.com/office/drawing/2014/main" id="{173CCD0B-1D97-D3EA-AF6E-184B876C7DB7}"/>
                    </a:ext>
                  </a:extLst>
                </p:cNvPr>
                <p:cNvSpPr/>
                <p:nvPr/>
              </p:nvSpPr>
              <p:spPr>
                <a:xfrm>
                  <a:off x="6124782" y="6129655"/>
                  <a:ext cx="1480808" cy="471426"/>
                </a:xfrm>
                <a:prstGeom prst="flowChartDecision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a14:m>
                  <a:r>
                    <a:rPr lang="vi-VN" sz="500" dirty="0">
                      <a:solidFill>
                        <a:schemeClr val="tx1"/>
                      </a:solidFill>
                      <a:latin typeface="+mj-lt"/>
                    </a:rPr>
                    <a:t> &lt; n ?</a:t>
                  </a:r>
                </a:p>
              </p:txBody>
            </p:sp>
          </mc:Choice>
          <mc:Fallback>
            <p:sp>
              <p:nvSpPr>
                <p:cNvPr id="182" name="Flowchart: Decision 181">
                  <a:extLst>
                    <a:ext uri="{FF2B5EF4-FFF2-40B4-BE49-F238E27FC236}">
                      <a16:creationId xmlns:a16="http://schemas.microsoft.com/office/drawing/2014/main" id="{173CCD0B-1D97-D3EA-AF6E-184B876C7D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4782" y="6129655"/>
                  <a:ext cx="1480808" cy="471426"/>
                </a:xfrm>
                <a:prstGeom prst="flowChartDecision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8D26A852-61FC-545F-7193-E45D85606431}"/>
                </a:ext>
              </a:extLst>
            </p:cNvPr>
            <p:cNvCxnSpPr>
              <a:cxnSpLocks/>
              <a:stCxn id="25" idx="3"/>
              <a:endCxn id="182" idx="1"/>
            </p:cNvCxnSpPr>
            <p:nvPr/>
          </p:nvCxnSpPr>
          <p:spPr>
            <a:xfrm flipV="1">
              <a:off x="5725904" y="6365368"/>
              <a:ext cx="398878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Flowchart: Terminator 186">
              <a:extLst>
                <a:ext uri="{FF2B5EF4-FFF2-40B4-BE49-F238E27FC236}">
                  <a16:creationId xmlns:a16="http://schemas.microsoft.com/office/drawing/2014/main" id="{E13822CA-7291-5471-8ABC-F3A4C7DE125B}"/>
                </a:ext>
              </a:extLst>
            </p:cNvPr>
            <p:cNvSpPr/>
            <p:nvPr/>
          </p:nvSpPr>
          <p:spPr>
            <a:xfrm>
              <a:off x="7934760" y="6302363"/>
              <a:ext cx="395271" cy="126009"/>
            </a:xfrm>
            <a:prstGeom prst="flowChartTerminator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500" dirty="0">
                  <a:solidFill>
                    <a:schemeClr val="tx1"/>
                  </a:solidFill>
                  <a:latin typeface="+mj-lt"/>
                </a:rPr>
                <a:t>End</a:t>
              </a:r>
              <a:endParaRPr lang="en-US" sz="5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A9F1ECE0-68D7-BEAC-0BFC-0E2C8C0D2154}"/>
                </a:ext>
              </a:extLst>
            </p:cNvPr>
            <p:cNvCxnSpPr>
              <a:cxnSpLocks/>
              <a:stCxn id="182" idx="3"/>
              <a:endCxn id="187" idx="1"/>
            </p:cNvCxnSpPr>
            <p:nvPr/>
          </p:nvCxnSpPr>
          <p:spPr>
            <a:xfrm>
              <a:off x="7605590" y="6365368"/>
              <a:ext cx="32917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03BACF9F-F1D6-0D7C-ACF8-B26F67632285}"/>
                </a:ext>
              </a:extLst>
            </p:cNvPr>
            <p:cNvSpPr txBox="1"/>
            <p:nvPr/>
          </p:nvSpPr>
          <p:spPr>
            <a:xfrm>
              <a:off x="6491225" y="6636057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Yes</a:t>
              </a:r>
              <a:endParaRPr lang="en-US" sz="500" dirty="0">
                <a:latin typeface="+mj-lt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0F3C60B-F2AB-F205-F5A8-7A15DB945632}"/>
                </a:ext>
              </a:extLst>
            </p:cNvPr>
            <p:cNvSpPr txBox="1"/>
            <p:nvPr/>
          </p:nvSpPr>
          <p:spPr>
            <a:xfrm>
              <a:off x="7556035" y="6178114"/>
              <a:ext cx="33281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500" dirty="0">
                  <a:latin typeface="+mj-lt"/>
                </a:rPr>
                <a:t>No</a:t>
              </a:r>
              <a:endParaRPr lang="en-US" sz="5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58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Cambria Math</vt:lpstr>
      <vt:lpstr>Aptos Display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Trương Ngự Quyền</dc:creator>
  <cp:lastModifiedBy>Trương Ngự Quyền</cp:lastModifiedBy>
  <cp:revision>1</cp:revision>
  <dcterms:created xsi:type="dcterms:W3CDTF">2026-06-07T06:27:53Z</dcterms:created>
  <dcterms:modified xsi:type="dcterms:W3CDTF">2026-06-07T06:50:41Z</dcterms:modified>
</cp:coreProperties>
</file>